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54"/>
  </p:notesMasterIdLst>
  <p:sldIdLst>
    <p:sldId id="262" r:id="rId2"/>
    <p:sldId id="270" r:id="rId3"/>
    <p:sldId id="313" r:id="rId4"/>
    <p:sldId id="280" r:id="rId5"/>
    <p:sldId id="271" r:id="rId6"/>
    <p:sldId id="263" r:id="rId7"/>
    <p:sldId id="310" r:id="rId8"/>
    <p:sldId id="308" r:id="rId9"/>
    <p:sldId id="311" r:id="rId10"/>
    <p:sldId id="258" r:id="rId11"/>
    <p:sldId id="264" r:id="rId12"/>
    <p:sldId id="294" r:id="rId13"/>
    <p:sldId id="336" r:id="rId14"/>
    <p:sldId id="315" r:id="rId15"/>
    <p:sldId id="284" r:id="rId16"/>
    <p:sldId id="316" r:id="rId17"/>
    <p:sldId id="320" r:id="rId18"/>
    <p:sldId id="290" r:id="rId19"/>
    <p:sldId id="322" r:id="rId20"/>
    <p:sldId id="265" r:id="rId21"/>
    <p:sldId id="317" r:id="rId22"/>
    <p:sldId id="324" r:id="rId23"/>
    <p:sldId id="283" r:id="rId24"/>
    <p:sldId id="274" r:id="rId25"/>
    <p:sldId id="282" r:id="rId26"/>
    <p:sldId id="328" r:id="rId27"/>
    <p:sldId id="291" r:id="rId28"/>
    <p:sldId id="285" r:id="rId29"/>
    <p:sldId id="260" r:id="rId30"/>
    <p:sldId id="312" r:id="rId31"/>
    <p:sldId id="286" r:id="rId32"/>
    <p:sldId id="296" r:id="rId33"/>
    <p:sldId id="325" r:id="rId34"/>
    <p:sldId id="326" r:id="rId35"/>
    <p:sldId id="288" r:id="rId36"/>
    <p:sldId id="330" r:id="rId37"/>
    <p:sldId id="327" r:id="rId38"/>
    <p:sldId id="266" r:id="rId39"/>
    <p:sldId id="300" r:id="rId40"/>
    <p:sldId id="275" r:id="rId41"/>
    <p:sldId id="281" r:id="rId42"/>
    <p:sldId id="303" r:id="rId43"/>
    <p:sldId id="304" r:id="rId44"/>
    <p:sldId id="267" r:id="rId45"/>
    <p:sldId id="276" r:id="rId46"/>
    <p:sldId id="331" r:id="rId47"/>
    <p:sldId id="332" r:id="rId48"/>
    <p:sldId id="268" r:id="rId49"/>
    <p:sldId id="269" r:id="rId50"/>
    <p:sldId id="306" r:id="rId51"/>
    <p:sldId id="305" r:id="rId52"/>
    <p:sldId id="334" r:id="rId5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ndardabschnitt" id="{DF765012-B238-4D14-9B1F-D9BD6DC107DA}">
          <p14:sldIdLst>
            <p14:sldId id="262"/>
          </p14:sldIdLst>
        </p14:section>
        <p14:section name="Zusammenfassungsabschnitt" id="{3C121203-5F49-4E35-8790-BB01483E2AAC}">
          <p14:sldIdLst>
            <p14:sldId id="270"/>
          </p14:sldIdLst>
        </p14:section>
        <p14:section name="Der Rezeptshop - Alex" id="{E6F0C555-57E8-44E0-93EC-376A5BE5FB6E}">
          <p14:sldIdLst>
            <p14:sldId id="313"/>
            <p14:sldId id="280"/>
            <p14:sldId id="271"/>
          </p14:sldIdLst>
        </p14:section>
        <p14:section name="Vorgehen &amp; Qualität - Lara" id="{6092CE70-EE3C-4B52-8BC7-7162BE237C63}">
          <p14:sldIdLst>
            <p14:sldId id="263"/>
            <p14:sldId id="310"/>
            <p14:sldId id="308"/>
            <p14:sldId id="311"/>
            <p14:sldId id="258"/>
          </p14:sldIdLst>
        </p14:section>
        <p14:section name="Architektur - Sheila" id="{BD7FAD50-A104-4B3D-A7BB-F06014DF5479}">
          <p14:sldIdLst>
            <p14:sldId id="264"/>
            <p14:sldId id="294"/>
            <p14:sldId id="336"/>
            <p14:sldId id="315"/>
          </p14:sldIdLst>
        </p14:section>
        <p14:section name="Auth-Service - Darian" id="{6DF95968-558F-45F6-AF9D-752194D55B0E}">
          <p14:sldIdLst>
            <p14:sldId id="284"/>
            <p14:sldId id="316"/>
            <p14:sldId id="320"/>
            <p14:sldId id="290"/>
            <p14:sldId id="322"/>
          </p14:sldIdLst>
        </p14:section>
        <p14:section name="Autorisierung - Darian" id="{CF81B9B1-2D0D-4C92-BC07-7B2386E4E89C}">
          <p14:sldIdLst>
            <p14:sldId id="265"/>
            <p14:sldId id="317"/>
            <p14:sldId id="324"/>
            <p14:sldId id="283"/>
            <p14:sldId id="274"/>
            <p14:sldId id="282"/>
            <p14:sldId id="328"/>
            <p14:sldId id="291"/>
          </p14:sldIdLst>
        </p14:section>
        <p14:section name="User-Management - Lara" id="{7F5D5DC9-BBA4-4130-B8EA-2E9AA50C9A48}">
          <p14:sldIdLst>
            <p14:sldId id="285"/>
            <p14:sldId id="260"/>
            <p14:sldId id="312"/>
          </p14:sldIdLst>
        </p14:section>
        <p14:section name="Inventar - Alex" id="{400DC43E-3034-4C30-9FDC-9A2AF8A7E3C7}">
          <p14:sldIdLst>
            <p14:sldId id="286"/>
            <p14:sldId id="296"/>
            <p14:sldId id="325"/>
            <p14:sldId id="326"/>
          </p14:sldIdLst>
        </p14:section>
        <p14:section name="Wishlist - Alex" id="{AE04414F-7F5C-452D-BE9B-4CCF7D6500D2}">
          <p14:sldIdLst>
            <p14:sldId id="288"/>
            <p14:sldId id="330"/>
            <p14:sldId id="327"/>
          </p14:sldIdLst>
        </p14:section>
        <p14:section name="Datenbank - Avid" id="{BDB0B5C4-ED3F-4C31-9171-1709F6F7C326}">
          <p14:sldIdLst>
            <p14:sldId id="266"/>
            <p14:sldId id="300"/>
            <p14:sldId id="275"/>
            <p14:sldId id="281"/>
            <p14:sldId id="303"/>
            <p14:sldId id="304"/>
          </p14:sldIdLst>
        </p14:section>
        <p14:section name="Docker - Avid" id="{9AEFCFB5-9246-4AF3-99C9-CA8CE5EE0AA8}">
          <p14:sldIdLst>
            <p14:sldId id="267"/>
            <p14:sldId id="276"/>
            <p14:sldId id="331"/>
            <p14:sldId id="332"/>
          </p14:sldIdLst>
        </p14:section>
        <p14:section name="Live-Demo" id="{50E0BAD4-734E-47DA-A013-8D495CCE55D7}">
          <p14:sldIdLst>
            <p14:sldId id="268"/>
          </p14:sldIdLst>
        </p14:section>
        <p14:section name="Learned Lessons - Bekir" id="{69516DFF-5B80-4FA3-937E-D6B3EE55D59B}">
          <p14:sldIdLst>
            <p14:sldId id="269"/>
            <p14:sldId id="306"/>
            <p14:sldId id="305"/>
            <p14:sldId id="33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96E4E"/>
    <a:srgbClr val="1B381F"/>
    <a:srgbClr val="FEFFE8"/>
    <a:srgbClr val="FDFFC7"/>
    <a:srgbClr val="FAF7A5"/>
    <a:srgbClr val="FDFFF2"/>
    <a:srgbClr val="F4FFF2"/>
    <a:srgbClr val="E6FFE3"/>
    <a:srgbClr val="FFE8E8"/>
    <a:srgbClr val="2E4A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BFBFF88-E4C2-056C-BB26-83E6CF4A782C}" v="11" dt="2026-07-14T07:02:27.031"/>
    <p1510:client id="{DB65890B-0C98-4EAE-A219-E8FCBA86A69A}" v="2" dt="2026-07-14T11:29:58.18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5" d="100"/>
          <a:sy n="85" d="100"/>
        </p:scale>
        <p:origin x="49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microsoft.com/office/2015/10/relationships/revisionInfo" Target="revisionInfo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011079-21CF-4572-9116-E8F64EDE164E}" type="datetimeFigureOut">
              <a:rPr lang="de-DE" smtClean="0"/>
              <a:t>15.07.2026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FC3F312-12FF-4D67-BA28-10138B6FA59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036353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3D787B-9679-A3C3-BBE2-4EA89C0FA2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1D02E0EA-10F6-0E00-43D9-AFD9CAA6BD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2A3940F4-B2AD-A918-CC55-1E36B663AB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latin typeface="Calibri"/>
                <a:ea typeface="Calibri"/>
                <a:cs typeface="Calibri"/>
              </a:rPr>
              <a:t>Bekir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0DB9C96-2F47-B3CD-8B34-395A7EE705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3F312-12FF-4D67-BA28-10138B6FA598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032051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latin typeface="Calibri"/>
                <a:ea typeface="Calibri"/>
                <a:cs typeface="Calibri"/>
              </a:rPr>
              <a:t>Bekir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3F312-12FF-4D67-BA28-10138B6FA598}" type="slidenum">
              <a:rPr lang="de-DE" smtClean="0"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359328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F70DD5-C21B-0F63-87D3-39D364CC29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F6AAF3-6526-129C-5A39-5B2003B8D0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828592-065A-337F-CE22-F3B820BDBF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D98212-080B-201D-0581-054DE870857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1173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BC912B-ED94-6E61-1E07-FE8FEAA1FC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C70F74F-8367-6006-70AE-D89BE0AE4A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C2428F-5B75-650B-88F8-50DC3E3B3B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D94827-8197-051C-D9C2-46F46EFC956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73706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C34E40-BFB3-7FD8-72A0-31A1276E9E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CE70F8-F556-1290-4288-78951AF279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F0BD3E-FD03-F722-CABB-E70EC9B437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8EBEEF-88CB-A32C-867E-07D354C268C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78331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DCCA9C-D979-36F6-D813-E43A65AFBC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B0ECC1-A91B-6131-E1EB-3E58B2E626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7A5DD56-8BE5-E2FC-6441-4A39B23F39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CA10E7-D78D-969D-6B39-38FD1964A14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136239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108CA0-A0E6-2C02-0D19-7053B50743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51B6FE-CBC6-3FDF-0F83-80B6642EB3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4A2C41-98BF-4A33-1DFA-FF6781CC0D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6DB46F-EDC8-F431-52F5-A780A9E150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9344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3DC31B-7FC7-067B-2ECF-39E9EDB1D9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54194F-356A-61F5-A776-DCD1F691CD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8CF503-A876-7816-3DC7-A0EBF5ED6B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445CD6-84AE-4119-1684-5EC205F0AF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15273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3F312-12FF-4D67-BA28-10138B6FA598}" type="slidenum">
              <a:rPr lang="de-DE" smtClean="0"/>
              <a:t>49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91850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DE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9980" y="882376"/>
            <a:ext cx="9966960" cy="292608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7200" b="1" cap="all" baseline="0">
                <a:solidFill>
                  <a:srgbClr val="FFFFFF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09530" y="3869634"/>
            <a:ext cx="8767860" cy="1388165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rgbClr val="FFFFFF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de-DE"/>
              <a:t>Master-Untertitelformat bearbeiten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D87821AC-F72E-4370-ABB0-80B12D76BA0A}" type="datetime1">
              <a:rPr lang="de-DE" smtClean="0"/>
              <a:t>15.07.2026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sv-SE"/>
              <a:t>Bekir, Avid, Alex, Darian, Lara P., Sheila</a:t>
            </a:r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D817EE8E-3513-4D7C-BF7B-7494C67953C0}" type="slidenum">
              <a:rPr lang="de-DE" smtClean="0"/>
              <a:t>‹Nr.›</a:t>
            </a:fld>
            <a:endParaRPr lang="de-DE"/>
          </a:p>
        </p:txBody>
      </p:sp>
      <p:cxnSp>
        <p:nvCxnSpPr>
          <p:cNvPr id="8" name="Straight Connector 7"/>
          <p:cNvCxnSpPr/>
          <p:nvPr/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158897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F43B3-7EC6-48DE-9B33-B7F46E6528D9}" type="datetime1">
              <a:rPr lang="de-DE" smtClean="0"/>
              <a:t>15.07.2026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Bekir, Avid, Alex, Darian, Lara P., Sheila</a:t>
            </a:r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7EE8E-3513-4D7C-BF7B-7494C67953C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325477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6424" y="1173575"/>
            <a:ext cx="9966960" cy="2926080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7200" b="0" cap="all" baseline="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09928" y="4154520"/>
            <a:ext cx="8769096" cy="1363806"/>
          </a:xfrm>
        </p:spPr>
        <p:txBody>
          <a:bodyPr anchor="t">
            <a:normAutofit/>
          </a:bodyPr>
          <a:lstStyle>
            <a:lvl1pPr marL="0" indent="0" algn="ctr">
              <a:buNone/>
              <a:defRPr sz="2200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7640F-40CA-4F2F-86D8-DFA32A45E479}" type="datetime1">
              <a:rPr lang="de-DE" smtClean="0"/>
              <a:t>15.07.2026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Bekir, Avid, Alex, Darian, Lara P., Sheila</a:t>
            </a:r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7EE8E-3513-4D7C-BF7B-7494C67953C0}" type="slidenum">
              <a:rPr lang="de-DE" smtClean="0"/>
              <a:t>‹Nr.›</a:t>
            </a:fld>
            <a:endParaRPr lang="de-DE"/>
          </a:p>
        </p:txBody>
      </p:sp>
      <p:cxnSp>
        <p:nvCxnSpPr>
          <p:cNvPr id="7" name="Straight Connector 6"/>
          <p:cNvCxnSpPr/>
          <p:nvPr/>
        </p:nvCxnSpPr>
        <p:spPr>
          <a:xfrm>
            <a:off x="1981200" y="4020408"/>
            <a:ext cx="822960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29655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3000" y="2057399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67612" y="2057400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3020E-F60B-4F1A-9D28-528835815446}" type="datetime1">
              <a:rPr lang="de-DE" smtClean="0"/>
              <a:t>15.07.2026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Bekir, Avid, Alex, Darian, Lara P., Sheila</a:t>
            </a:r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7EE8E-3513-4D7C-BF7B-7494C67953C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499892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01511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3000" y="2721483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69173" y="1999032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69173" y="2719322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164A7-592D-4BD4-9D4E-71F5E42D06C3}" type="datetime1">
              <a:rPr lang="de-DE" smtClean="0"/>
              <a:t>15.07.2026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Bekir, Avid, Alex, Darian, Lara P., Sheila</a:t>
            </a:r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7EE8E-3513-4D7C-BF7B-7494C67953C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098724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3DA46-2E12-402E-B3E7-8AEBE7164A0E}" type="datetime1">
              <a:rPr lang="de-DE" smtClean="0"/>
              <a:t>15.07.2026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Bekir, Avid, Alex, Darian, Lara P., Sheila</a:t>
            </a:r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7EE8E-3513-4D7C-BF7B-7494C67953C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623899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038F41-0D5F-464A-B558-2500322119CA}" type="datetime1">
              <a:rPr lang="de-DE" smtClean="0"/>
              <a:t>15.07.2026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Bekir, Avid, Alex, Darian, Lara P., Sheila</a:t>
            </a:r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7EE8E-3513-4D7C-BF7B-7494C67953C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021115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2159" y="1097280"/>
            <a:ext cx="5212080" cy="46634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301752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D8900C-4561-4754-9929-8A572F2114B5}" type="datetime1">
              <a:rPr lang="de-DE" smtClean="0"/>
              <a:t>15.07.2026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Bekir, Avid, Alex, Darian, Lara P., Sheila</a:t>
            </a:r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7EE8E-3513-4D7C-BF7B-7494C67953C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56661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13248" y="1069847"/>
            <a:ext cx="6099048" cy="4800600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288036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EBCCE-28A6-41EA-9E25-E0DEC1B205E2}" type="datetime1">
              <a:rPr lang="de-DE" smtClean="0"/>
              <a:t>15.07.2026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Bekir, Avid, Alex, Darian, Lara P., Sheila</a:t>
            </a:r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7EE8E-3513-4D7C-BF7B-7494C67953C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797552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F1A48-EC07-490B-8B5E-9C81E2ED1629}" type="datetime1">
              <a:rPr lang="de-DE" smtClean="0"/>
              <a:t>15.07.2026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Bekir, Avid, Alex, Darian, Lara P., Sheila</a:t>
            </a:r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7EE8E-3513-4D7C-BF7B-7494C67953C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354420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324100" cy="5410200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762000"/>
            <a:ext cx="7429500" cy="5410200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7F09A-9688-4071-AD4B-B0BCC9D4F6CE}" type="datetime1">
              <a:rPr lang="de-DE" smtClean="0"/>
              <a:t>15.07.2026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Bekir, Avid, Alex, Darian, Lara P., Sheila</a:t>
            </a:r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7EE8E-3513-4D7C-BF7B-7494C67953C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848034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267666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DE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57400"/>
            <a:ext cx="9872871" cy="4038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42996" y="6223828"/>
            <a:ext cx="23290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5AD690A4-6184-4C61-95EF-39BD8E062338}" type="datetime1">
              <a:rPr lang="de-DE" smtClean="0"/>
              <a:t>15.07.2026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49148" y="6223828"/>
            <a:ext cx="47177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1"/>
                </a:solidFill>
              </a:defRPr>
            </a:lvl1pPr>
          </a:lstStyle>
          <a:p>
            <a:r>
              <a:rPr lang="sv-SE"/>
              <a:t>Bekir, Avid, Alex, Darian, Lara P., Sheila</a:t>
            </a:r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29530" y="6223828"/>
            <a:ext cx="17062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fld id="{D817EE8E-3513-4D7C-BF7B-7494C67953C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258963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182880" algn="l" defTabSz="914400" rtl="0" eaLnBrk="1" latinLnBrk="0" hangingPunct="1">
        <a:lnSpc>
          <a:spcPct val="90000"/>
        </a:lnSpc>
        <a:spcBef>
          <a:spcPts val="1400"/>
        </a:spcBef>
        <a:buClr>
          <a:schemeClr val="accent1"/>
        </a:buClr>
        <a:buSzPct val="80000"/>
        <a:buFont typeface="Corbel" pitchFamily="34" charset="0"/>
        <a:buChar char="•"/>
        <a:defRPr sz="22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20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slide" Target="slide20.xml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slide" Target="slide11.xml"/><Relationship Id="rId17" Type="http://schemas.openxmlformats.org/officeDocument/2006/relationships/slide" Target="slide49.xml"/><Relationship Id="rId2" Type="http://schemas.openxmlformats.org/officeDocument/2006/relationships/image" Target="../media/image1.png"/><Relationship Id="rId16" Type="http://schemas.openxmlformats.org/officeDocument/2006/relationships/slide" Target="slide4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slide" Target="slide6.xml"/><Relationship Id="rId5" Type="http://schemas.openxmlformats.org/officeDocument/2006/relationships/image" Target="../media/image4.png"/><Relationship Id="rId15" Type="http://schemas.openxmlformats.org/officeDocument/2006/relationships/slide" Target="slide44.xml"/><Relationship Id="rId10" Type="http://schemas.openxmlformats.org/officeDocument/2006/relationships/slide" Target="slide3.xml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slide" Target="slide3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0.sv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svg"/><Relationship Id="rId5" Type="http://schemas.openxmlformats.org/officeDocument/2006/relationships/image" Target="../media/image14.svg"/><Relationship Id="rId4" Type="http://schemas.openxmlformats.org/officeDocument/2006/relationships/image" Target="../media/image13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0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8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Relationship Id="rId9" Type="http://schemas.openxmlformats.org/officeDocument/2006/relationships/image" Target="../media/image2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svg"/><Relationship Id="rId2" Type="http://schemas.openxmlformats.org/officeDocument/2006/relationships/image" Target="../media/image30.sv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4.svg"/><Relationship Id="rId5" Type="http://schemas.openxmlformats.org/officeDocument/2006/relationships/image" Target="../media/image33.svg"/><Relationship Id="rId4" Type="http://schemas.openxmlformats.org/officeDocument/2006/relationships/image" Target="../media/image32.sv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sv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svg"/><Relationship Id="rId2" Type="http://schemas.openxmlformats.org/officeDocument/2006/relationships/image" Target="../media/image36.sv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svg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8.png"/><Relationship Id="rId4" Type="http://schemas.openxmlformats.org/officeDocument/2006/relationships/image" Target="../media/image42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svg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6.svg"/><Relationship Id="rId5" Type="http://schemas.openxmlformats.org/officeDocument/2006/relationships/image" Target="../media/image45.svg"/><Relationship Id="rId4" Type="http://schemas.openxmlformats.org/officeDocument/2006/relationships/image" Target="../media/image44.sv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3.svg"/><Relationship Id="rId5" Type="http://schemas.openxmlformats.org/officeDocument/2006/relationships/image" Target="../media/image49.svg"/><Relationship Id="rId4" Type="http://schemas.openxmlformats.org/officeDocument/2006/relationships/image" Target="../media/image48.sv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svg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3.svg"/><Relationship Id="rId5" Type="http://schemas.openxmlformats.org/officeDocument/2006/relationships/image" Target="../media/image52.svg"/><Relationship Id="rId4" Type="http://schemas.openxmlformats.org/officeDocument/2006/relationships/image" Target="../media/image51.sv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svg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hyperlink" Target="http://localhost:8080/" TargetMode="External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8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3F1D03D-5624-C277-0083-6A061BBC674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/>
              <a:t>Web-Engineering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2D893C00-3803-10C6-F446-821BCE0CA14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de-DE" sz="3600"/>
              <a:t>Rezeptshop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2FA3B05-89D2-217F-FB34-A21A66D139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5BAB0-D272-4C8E-8215-4ED483EC82C8}" type="datetime1">
              <a:rPr lang="de-DE" smtClean="0"/>
              <a:t>15.07.2026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898DC6E-FD91-4C4C-2A64-9A2AA0A34F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Bekir, Avid, Alex, Darian, Lara P., Sheila</a:t>
            </a:r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61A1CE0-8718-7BC6-8D28-F97A3785B4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7EE8E-3513-4D7C-BF7B-7494C67953C0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247689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145E1CB-3B3F-E1FD-A1F5-ACED631343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/>
              <a:t>Agenda</a:t>
            </a:r>
          </a:p>
        </p:txBody>
      </p:sp>
      <mc:AlternateContent xmlns:mc="http://schemas.openxmlformats.org/markup-compatibility/2006">
        <mc:Choice xmlns:psuz="http://schemas.microsoft.com/office/powerpoint/2016/summaryzoom" Requires="psuz">
          <p:graphicFrame>
            <p:nvGraphicFramePr>
              <p:cNvPr id="5" name="Zusammenfassungszoom 4">
                <a:extLst>
                  <a:ext uri="{FF2B5EF4-FFF2-40B4-BE49-F238E27FC236}">
                    <a16:creationId xmlns:a16="http://schemas.microsoft.com/office/drawing/2014/main" id="{AC70D919-3727-7430-9A35-2B8D354204C2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356490460"/>
                  </p:ext>
                </p:extLst>
              </p:nvPr>
            </p:nvGraphicFramePr>
            <p:xfrm>
              <a:off x="522602" y="1688592"/>
              <a:ext cx="11146795" cy="4559808"/>
            </p:xfrm>
            <a:graphic>
              <a:graphicData uri="http://schemas.microsoft.com/office/powerpoint/2016/summaryzoom">
                <psuz:summaryZm>
                  <psuz:summaryZmObj sectionId="{E6F0C555-57E8-44E0-93EC-376A5BE5FB6E}">
                    <psuz:zmPr id="{B81FA140-5A46-4324-8E30-5F03F2D35676}" transitionDur="1000">
                      <p166:blipFill xmlns:p166="http://schemas.microsoft.com/office/powerpoint/2016/6/main">
                        <a:blip r:embed="rId2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416265" y="822113"/>
                          <a:ext cx="2508028" cy="1410765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uz:zmPr>
                  </psuz:summaryZmObj>
                  <psuz:summaryZmObj sectionId="{6092CE70-EE3C-4B52-8BC7-7162BE237C63}">
                    <psuz:zmPr id="{25714419-3045-4F7E-B4B8-0A5E9C765BDF}" transitionDur="1000">
                      <p166:blipFill xmlns:p166="http://schemas.microsoft.com/office/powerpoint/2016/6/main">
                        <a:blip r:embed="rId3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3018344" y="822113"/>
                          <a:ext cx="2508028" cy="1410765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uz:zmPr>
                  </psuz:summaryZmObj>
                  <psuz:summaryZmObj sectionId="{BD7FAD50-A104-4B3D-A7BB-F06014DF5479}">
                    <psuz:zmPr id="{B4CBDF5E-06CE-4CF5-957F-5238D3E1C185}" transitionDur="1000">
                      <p166:blipFill xmlns:p166="http://schemas.microsoft.com/office/powerpoint/2016/6/main">
                        <a:blip r:embed="rId4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5620423" y="822113"/>
                          <a:ext cx="2508028" cy="1410765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uz:zmPr>
                  </psuz:summaryZmObj>
                  <psuz:summaryZmObj sectionId="{CF81B9B1-2D0D-4C92-BC07-7B2386E4E89C}">
                    <psuz:zmPr id="{96745464-9395-4916-BD91-B51715AFB8E8}" transitionDur="1000">
                      <p166:blipFill xmlns:p166="http://schemas.microsoft.com/office/powerpoint/2016/6/main">
                        <a:blip r:embed="rId5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8222502" y="822113"/>
                          <a:ext cx="2508028" cy="1410765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uz:zmPr>
                  </psuz:summaryZmObj>
                  <psuz:summaryZmObj sectionId="{BDB0B5C4-ED3F-4C31-9171-1709F6F7C326}">
                    <psuz:zmPr id="{00C2DCFD-DFD0-4908-956B-2C8FDE82A2C3}" transitionDur="1000">
                      <p166:blipFill xmlns:p166="http://schemas.microsoft.com/office/powerpoint/2016/6/main">
                        <a:blip r:embed="rId6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416265" y="2326929"/>
                          <a:ext cx="2508028" cy="1410765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uz:zmPr>
                  </psuz:summaryZmObj>
                  <psuz:summaryZmObj sectionId="{9AEFCFB5-9246-4AF3-99C9-CA8CE5EE0AA8}">
                    <psuz:zmPr id="{7220B503-086D-4B0D-86ED-7B29EDB08F9A}" transitionDur="1000">
                      <p166:blipFill xmlns:p166="http://schemas.microsoft.com/office/powerpoint/2016/6/main">
                        <a:blip r:embed="rId7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3018344" y="2326929"/>
                          <a:ext cx="2508028" cy="1410765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uz:zmPr>
                  </psuz:summaryZmObj>
                  <psuz:summaryZmObj sectionId="{50E0BAD4-734E-47DA-A013-8D495CCE55D7}">
                    <psuz:zmPr id="{F4F31527-E733-4609-BB8F-DDB1C3E3DDE1}" transitionDur="1000">
                      <p166:blipFill xmlns:p166="http://schemas.microsoft.com/office/powerpoint/2016/6/main">
                        <a:blip r:embed="rId8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5620423" y="2326929"/>
                          <a:ext cx="2508028" cy="1410765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uz:zmPr>
                  </psuz:summaryZmObj>
                  <psuz:summaryZmObj sectionId="{69516DFF-5B80-4FA3-937E-D6B3EE55D59B}">
                    <psuz:zmPr id="{11BC9D3E-54A4-43F0-B9CB-F2372D7CA6B2}" transitionDur="1000">
                      <p166:blipFill xmlns:p166="http://schemas.microsoft.com/office/powerpoint/2016/6/main">
                        <a:blip r:embed="rId9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8222502" y="2326929"/>
                          <a:ext cx="2508028" cy="1410765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uz:zmPr>
                  </psuz:summaryZmObj>
                  <psuz:gridLayout/>
                </psuz:summaryZm>
              </a:graphicData>
            </a:graphic>
          </p:graphicFrame>
        </mc:Choice>
        <mc:Fallback>
          <p:grpSp>
            <p:nvGrpSpPr>
              <p:cNvPr id="5" name="Zusammenfassungszoom 4">
                <a:extLst>
                  <a:ext uri="{FF2B5EF4-FFF2-40B4-BE49-F238E27FC236}">
                    <a16:creationId xmlns:a16="http://schemas.microsoft.com/office/drawing/2014/main" id="{AC70D919-3727-7430-9A35-2B8D354204C2}"/>
                  </a:ext>
                </a:extLst>
              </p:cNvPr>
              <p:cNvGrpSpPr>
                <a:grpSpLocks noGrp="1" noUngrp="1" noRot="1" noChangeAspect="1" noMove="1" noResize="1"/>
              </p:cNvGrpSpPr>
              <p:nvPr/>
            </p:nvGrpSpPr>
            <p:grpSpPr>
              <a:xfrm>
                <a:off x="522602" y="1688592"/>
                <a:ext cx="11146795" cy="4559808"/>
                <a:chOff x="522602" y="1688592"/>
                <a:chExt cx="11146795" cy="4559808"/>
              </a:xfrm>
            </p:grpSpPr>
            <p:pic>
              <p:nvPicPr>
                <p:cNvPr id="3" name="Grafik 3">
                  <a:hlinkClick r:id="rId10" action="ppaction://hlinksldjump"/>
                </p:cNvPr>
                <p:cNvPicPr>
                  <a:picLocks noSelect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938867" y="2510705"/>
                  <a:ext cx="2508028" cy="1410765"/>
                </a:xfrm>
                <a:prstGeom prst="rect">
                  <a:avLst/>
                </a:prstGeom>
                <a:ln w="3175">
                  <a:solidFill>
                    <a:prstClr val="ltGray"/>
                  </a:solidFill>
                </a:ln>
              </p:spPr>
            </p:pic>
            <p:pic>
              <p:nvPicPr>
                <p:cNvPr id="4" name="Grafik 4">
                  <a:hlinkClick r:id="rId11" action="ppaction://hlinksldjump"/>
                </p:cNvPr>
                <p:cNvPicPr>
                  <a:picLocks noSelect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3540946" y="2510705"/>
                  <a:ext cx="2508028" cy="1410765"/>
                </a:xfrm>
                <a:prstGeom prst="rect">
                  <a:avLst/>
                </a:prstGeom>
                <a:ln w="3175">
                  <a:solidFill>
                    <a:prstClr val="ltGray"/>
                  </a:solidFill>
                </a:ln>
              </p:spPr>
            </p:pic>
            <p:pic>
              <p:nvPicPr>
                <p:cNvPr id="9" name="Grafik 9">
                  <a:hlinkClick r:id="rId12" action="ppaction://hlinksldjump"/>
                </p:cNvPr>
                <p:cNvPicPr>
                  <a:picLocks noSelect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6143025" y="2510705"/>
                  <a:ext cx="2508028" cy="1410765"/>
                </a:xfrm>
                <a:prstGeom prst="rect">
                  <a:avLst/>
                </a:prstGeom>
                <a:ln w="3175">
                  <a:solidFill>
                    <a:prstClr val="ltGray"/>
                  </a:solidFill>
                </a:ln>
              </p:spPr>
            </p:pic>
            <p:pic>
              <p:nvPicPr>
                <p:cNvPr id="10" name="Grafik 10">
                  <a:hlinkClick r:id="rId13" action="ppaction://hlinksldjump"/>
                </p:cNvPr>
                <p:cNvPicPr>
                  <a:picLocks noSelect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8745104" y="2510705"/>
                  <a:ext cx="2508028" cy="1410765"/>
                </a:xfrm>
                <a:prstGeom prst="rect">
                  <a:avLst/>
                </a:prstGeom>
                <a:ln w="3175">
                  <a:solidFill>
                    <a:prstClr val="ltGray"/>
                  </a:solidFill>
                </a:ln>
              </p:spPr>
            </p:pic>
            <p:pic>
              <p:nvPicPr>
                <p:cNvPr id="11" name="Grafik 11">
                  <a:hlinkClick r:id="rId14" action="ppaction://hlinksldjump"/>
                </p:cNvPr>
                <p:cNvPicPr>
                  <a:picLocks noSelect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938867" y="4015521"/>
                  <a:ext cx="2508028" cy="1410765"/>
                </a:xfrm>
                <a:prstGeom prst="rect">
                  <a:avLst/>
                </a:prstGeom>
                <a:ln w="3175">
                  <a:solidFill>
                    <a:prstClr val="ltGray"/>
                  </a:solidFill>
                </a:ln>
              </p:spPr>
            </p:pic>
            <p:pic>
              <p:nvPicPr>
                <p:cNvPr id="12" name="Grafik 12">
                  <a:hlinkClick r:id="rId15" action="ppaction://hlinksldjump"/>
                </p:cNvPr>
                <p:cNvPicPr>
                  <a:picLocks noSelect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3540946" y="4015521"/>
                  <a:ext cx="2508028" cy="1410765"/>
                </a:xfrm>
                <a:prstGeom prst="rect">
                  <a:avLst/>
                </a:prstGeom>
                <a:ln w="3175">
                  <a:solidFill>
                    <a:prstClr val="ltGray"/>
                  </a:solidFill>
                </a:ln>
              </p:spPr>
            </p:pic>
            <p:pic>
              <p:nvPicPr>
                <p:cNvPr id="13" name="Grafik 13">
                  <a:hlinkClick r:id="rId16" action="ppaction://hlinksldjump"/>
                </p:cNvPr>
                <p:cNvPicPr>
                  <a:picLocks noSelect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6143025" y="4015521"/>
                  <a:ext cx="2508028" cy="1410765"/>
                </a:xfrm>
                <a:prstGeom prst="rect">
                  <a:avLst/>
                </a:prstGeom>
                <a:ln w="3175">
                  <a:solidFill>
                    <a:prstClr val="ltGray"/>
                  </a:solidFill>
                </a:ln>
              </p:spPr>
            </p:pic>
            <p:pic>
              <p:nvPicPr>
                <p:cNvPr id="14" name="Grafik 14">
                  <a:hlinkClick r:id="rId17" action="ppaction://hlinksldjump"/>
                </p:cNvPr>
                <p:cNvPicPr>
                  <a:picLocks noSelect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8745104" y="4015521"/>
                  <a:ext cx="2508028" cy="1410765"/>
                </a:xfrm>
                <a:prstGeom prst="rect">
                  <a:avLst/>
                </a:prstGeom>
                <a:ln w="3175">
                  <a:solidFill>
                    <a:prstClr val="ltGray"/>
                  </a:solidFill>
                </a:ln>
              </p:spPr>
            </p:pic>
          </p:grpSp>
        </mc:Fallback>
      </mc:AlternateContent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A6705BDC-1E6A-B1A6-1A47-4CBD888438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DA0CA-2463-4E80-AA95-060BE8F7B521}" type="datetime1">
              <a:rPr lang="de-DE" smtClean="0"/>
              <a:t>15.07.2026</a:t>
            </a:fld>
            <a:endParaRPr lang="de-DE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9B2E1AC9-2D96-73D6-3662-F545C5A0FF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Bekir, Avid, Alex, Darian, Lara P., Sheila</a:t>
            </a:r>
            <a:endParaRPr lang="de-DE"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0F13CB4B-450B-4F73-FC85-C4725D1580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7EE8E-3513-4D7C-BF7B-7494C67953C0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047566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FA90BF-C648-1327-EEAF-16FB2114D6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9814B4FB-41C5-0AAA-54D5-6B265DAD42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DE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61D11A2-9ADA-2BE2-BBB3-96959741D2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DE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D20033B-B60A-D047-BBF4-7CF27647BE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33057085-FD39-0BDD-0E65-09278F7906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978660" y="5462458"/>
            <a:ext cx="82296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A9E174E6-F0F5-AD0E-0A15-D1B536838F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140" y="243841"/>
            <a:ext cx="11722100" cy="3964584"/>
          </a:xfrm>
          <a:prstGeom prst="rect">
            <a:avLst/>
          </a:prstGeom>
          <a:solidFill>
            <a:schemeClr val="bg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DE"/>
          </a:p>
        </p:txBody>
      </p:sp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36DCFDB7-E667-8115-785D-A691B0B1D6CD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1978660" y="5462458"/>
            <a:ext cx="836320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el 1">
            <a:extLst>
              <a:ext uri="{FF2B5EF4-FFF2-40B4-BE49-F238E27FC236}">
                <a16:creationId xmlns:a16="http://schemas.microsoft.com/office/drawing/2014/main" id="{484AAE17-E1AA-FEE5-D402-3C6CB7F33F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8709" y="4752162"/>
            <a:ext cx="9966960" cy="132588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85000"/>
              </a:lnSpc>
            </a:pPr>
            <a:r>
              <a:rPr lang="en-US" sz="6600" b="1" u="sng" cap="all" err="1">
                <a:solidFill>
                  <a:srgbClr val="FFFFFF"/>
                </a:solidFill>
              </a:rPr>
              <a:t>WebShop</a:t>
            </a:r>
            <a:endParaRPr lang="en-US" sz="6600" b="1" u="sng" cap="all">
              <a:solidFill>
                <a:srgbClr val="FFFFFF"/>
              </a:solidFill>
            </a:endParaRP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968CDE1-2C38-6BF4-C784-C66699F7CA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3E1E5-50FF-46D8-9FAC-A37DF79609E1}" type="datetime1">
              <a:rPr lang="de-DE" smtClean="0"/>
              <a:t>15.07.2026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474A8E9-333D-D444-ACCB-8687877E99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Bekir, Avid, Alex, Darian, Lara P., Sheila</a:t>
            </a:r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96B5DCB4-4CBF-2650-DAA3-7DF8BDD48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7EE8E-3513-4D7C-BF7B-7494C67953C0}" type="slidenum">
              <a:rPr lang="de-DE" smtClean="0"/>
              <a:t>3</a:t>
            </a:fld>
            <a:endParaRPr lang="de-DE"/>
          </a:p>
        </p:txBody>
      </p:sp>
      <p:pic>
        <p:nvPicPr>
          <p:cNvPr id="15" name="Grafik 14" descr="Geschichten erzählen Silhouette">
            <a:extLst>
              <a:ext uri="{FF2B5EF4-FFF2-40B4-BE49-F238E27FC236}">
                <a16:creationId xmlns:a16="http://schemas.microsoft.com/office/drawing/2014/main" id="{FAC18F9B-4E64-F937-772C-710FFBDCEA7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278074">
            <a:off x="5588123" y="1564296"/>
            <a:ext cx="1144278" cy="1144278"/>
          </a:xfrm>
          <a:prstGeom prst="rect">
            <a:avLst/>
          </a:prstGeom>
        </p:spPr>
      </p:pic>
      <p:pic>
        <p:nvPicPr>
          <p:cNvPr id="11" name="Grafik 10" descr="Warenkorb Silhouette">
            <a:extLst>
              <a:ext uri="{FF2B5EF4-FFF2-40B4-BE49-F238E27FC236}">
                <a16:creationId xmlns:a16="http://schemas.microsoft.com/office/drawing/2014/main" id="{84E6D09A-CE19-8295-C2E1-F4472668CB0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58657" y="1466736"/>
            <a:ext cx="2267064" cy="2267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23624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39E64D-B883-5A71-5833-21EC836250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23DCD4-1391-5B87-7B60-81795B6031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619" y="258629"/>
            <a:ext cx="9061704" cy="883097"/>
          </a:xfrm>
        </p:spPr>
        <p:txBody>
          <a:bodyPr>
            <a:normAutofit/>
          </a:bodyPr>
          <a:lstStyle/>
          <a:p>
            <a:r>
              <a:rPr lang="de-DE" sz="3600"/>
              <a:t>Aufgabenstellung - Frontend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0F95B73-8EEA-9EC9-47F7-699798A0CE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E0034-9EED-4405-8806-69D92836F571}" type="datetime1">
              <a:rPr lang="de-DE" smtClean="0"/>
              <a:t>15.07.2026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F6F2CD4-564B-7F77-43FB-78B43FAECE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Bekir, Avid, Alex, Darian, Lara P., Sheila</a:t>
            </a:r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D9F9CA2-CAB7-CCBA-3FDC-396FFC65D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7EE8E-3513-4D7C-BF7B-7494C67953C0}" type="slidenum">
              <a:rPr lang="de-DE" smtClean="0"/>
              <a:t>4</a:t>
            </a:fld>
            <a:endParaRPr lang="de-DE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27BB2F7E-C0A7-44A8-E7E6-AD50A6DEED52}"/>
              </a:ext>
            </a:extLst>
          </p:cNvPr>
          <p:cNvSpPr>
            <a:spLocks/>
          </p:cNvSpPr>
          <p:nvPr/>
        </p:nvSpPr>
        <p:spPr>
          <a:xfrm>
            <a:off x="694944" y="1066801"/>
            <a:ext cx="10771632" cy="515702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F6A56BE6-218C-F5D8-9F03-D063F88F40D7}"/>
              </a:ext>
            </a:extLst>
          </p:cNvPr>
          <p:cNvSpPr/>
          <p:nvPr/>
        </p:nvSpPr>
        <p:spPr>
          <a:xfrm>
            <a:off x="1113183" y="1352550"/>
            <a:ext cx="4717774" cy="4506154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B86DB877-592B-F512-BD1A-C1948D612E16}"/>
              </a:ext>
            </a:extLst>
          </p:cNvPr>
          <p:cNvSpPr/>
          <p:nvPr/>
        </p:nvSpPr>
        <p:spPr>
          <a:xfrm>
            <a:off x="6361045" y="1352550"/>
            <a:ext cx="4717774" cy="4506154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A301B72B-F0B0-C0FA-A10D-59789BC5E6EF}"/>
              </a:ext>
            </a:extLst>
          </p:cNvPr>
          <p:cNvSpPr txBox="1"/>
          <p:nvPr/>
        </p:nvSpPr>
        <p:spPr>
          <a:xfrm>
            <a:off x="1224168" y="1485899"/>
            <a:ext cx="4495804" cy="5309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b="1" u="sng">
                <a:solidFill>
                  <a:schemeClr val="bg1"/>
                </a:solidFill>
              </a:rPr>
              <a:t>User – Frontend</a:t>
            </a:r>
          </a:p>
          <a:p>
            <a:pPr algn="ctr"/>
            <a:endParaRPr lang="de-DE" b="1"/>
          </a:p>
          <a:p>
            <a:pPr>
              <a:lnSpc>
                <a:spcPct val="150000"/>
              </a:lnSpc>
            </a:pPr>
            <a:r>
              <a:rPr lang="de-DE" b="1">
                <a:solidFill>
                  <a:schemeClr val="bg1"/>
                </a:solidFill>
              </a:rPr>
              <a:t>Design Fokussiert sich auf: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b="1">
                <a:solidFill>
                  <a:schemeClr val="bg1"/>
                </a:solidFill>
              </a:rPr>
              <a:t>Shopping Erlebnis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b="1">
                <a:solidFill>
                  <a:schemeClr val="bg1"/>
                </a:solidFill>
              </a:rPr>
              <a:t>Suche, Kauf und Inventarsystem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b="1">
                <a:solidFill>
                  <a:schemeClr val="bg1"/>
                </a:solidFill>
              </a:rPr>
              <a:t>Wunschlisten erstellen und teilen können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b="1">
                <a:solidFill>
                  <a:schemeClr val="bg1"/>
                </a:solidFill>
              </a:rPr>
              <a:t>Userfreundlicher Login und Authentifizierung</a:t>
            </a:r>
          </a:p>
          <a:p>
            <a:pPr algn="ctr"/>
            <a:endParaRPr lang="de-DE" b="1"/>
          </a:p>
          <a:p>
            <a:pPr algn="ctr"/>
            <a:endParaRPr lang="de-DE" b="1"/>
          </a:p>
          <a:p>
            <a:pPr algn="ctr"/>
            <a:endParaRPr lang="de-DE" b="1"/>
          </a:p>
          <a:p>
            <a:pPr algn="ctr"/>
            <a:endParaRPr lang="de-DE" b="1"/>
          </a:p>
          <a:p>
            <a:pPr algn="ctr"/>
            <a:endParaRPr lang="de-DE" b="1"/>
          </a:p>
          <a:p>
            <a:pPr algn="ctr"/>
            <a:endParaRPr lang="de-DE" b="1"/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7AC0D847-1A0E-2B9D-8C9A-DDBA6D9EAF52}"/>
              </a:ext>
            </a:extLst>
          </p:cNvPr>
          <p:cNvSpPr txBox="1"/>
          <p:nvPr/>
        </p:nvSpPr>
        <p:spPr>
          <a:xfrm>
            <a:off x="6419020" y="1485899"/>
            <a:ext cx="4495804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b="1" u="sng">
                <a:solidFill>
                  <a:schemeClr val="bg1"/>
                </a:solidFill>
              </a:rPr>
              <a:t>Admin – Frontend</a:t>
            </a:r>
          </a:p>
          <a:p>
            <a:pPr algn="ctr"/>
            <a:endParaRPr lang="de-DE" b="1"/>
          </a:p>
          <a:p>
            <a:pPr>
              <a:lnSpc>
                <a:spcPct val="200000"/>
              </a:lnSpc>
            </a:pPr>
            <a:r>
              <a:rPr lang="de-DE" b="1">
                <a:solidFill>
                  <a:schemeClr val="bg1"/>
                </a:solidFill>
              </a:rPr>
              <a:t>Design Fokussiert auf: 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de-DE" b="1">
                <a:solidFill>
                  <a:schemeClr val="bg1"/>
                </a:solidFill>
              </a:rPr>
              <a:t>Produktmanagement 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de-DE" b="1">
                <a:solidFill>
                  <a:schemeClr val="bg1"/>
                </a:solidFill>
              </a:rPr>
              <a:t>Verwalten von Usern (Sperren, löschen)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de-DE" b="1">
                <a:solidFill>
                  <a:schemeClr val="bg1"/>
                </a:solidFill>
              </a:rPr>
              <a:t>Verwalten von Admin-Accounts </a:t>
            </a:r>
          </a:p>
          <a:p>
            <a:pPr algn="ctr"/>
            <a:endParaRPr lang="de-DE" b="1"/>
          </a:p>
          <a:p>
            <a:pPr algn="ctr"/>
            <a:endParaRPr lang="de-DE" b="1"/>
          </a:p>
          <a:p>
            <a:pPr algn="ctr"/>
            <a:endParaRPr lang="de-DE" b="1"/>
          </a:p>
          <a:p>
            <a:pPr algn="ctr"/>
            <a:endParaRPr lang="de-DE" b="1"/>
          </a:p>
          <a:p>
            <a:pPr algn="ctr"/>
            <a:endParaRPr lang="de-DE" b="1"/>
          </a:p>
          <a:p>
            <a:pPr algn="ctr"/>
            <a:endParaRPr lang="de-DE" b="1"/>
          </a:p>
          <a:p>
            <a:pPr algn="ctr"/>
            <a:endParaRPr lang="de-DE" b="1"/>
          </a:p>
        </p:txBody>
      </p:sp>
    </p:spTree>
    <p:extLst>
      <p:ext uri="{BB962C8B-B14F-4D97-AF65-F5344CB8AC3E}">
        <p14:creationId xmlns:p14="http://schemas.microsoft.com/office/powerpoint/2010/main" val="25970269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77793EF-C174-9BC7-4E25-1E5E4B0B9E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619" y="258629"/>
            <a:ext cx="9061704" cy="883097"/>
          </a:xfrm>
        </p:spPr>
        <p:txBody>
          <a:bodyPr>
            <a:normAutofit/>
          </a:bodyPr>
          <a:lstStyle/>
          <a:p>
            <a:r>
              <a:rPr lang="de-DE" sz="3600"/>
              <a:t>Aufgabenstellung - Services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6052A24-46B7-1BB2-F116-C90BF4DE1C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5A9C4-B396-45AE-8331-3CE04808C67B}" type="datetime1">
              <a:rPr lang="de-DE" smtClean="0"/>
              <a:t>15.07.2026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15648A8-FDD3-BE8D-6161-E5BF00479D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Bekir, Avid, Alex, Darian, Lara P., Sheila</a:t>
            </a:r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F3CE350-BC69-17FC-E4CD-83292B83F4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7EE8E-3513-4D7C-BF7B-7494C67953C0}" type="slidenum">
              <a:rPr lang="de-DE" smtClean="0"/>
              <a:t>5</a:t>
            </a:fld>
            <a:endParaRPr lang="de-DE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C8860339-A75C-42FA-784C-658206173D50}"/>
              </a:ext>
            </a:extLst>
          </p:cNvPr>
          <p:cNvSpPr>
            <a:spLocks/>
          </p:cNvSpPr>
          <p:nvPr/>
        </p:nvSpPr>
        <p:spPr>
          <a:xfrm>
            <a:off x="694944" y="1066801"/>
            <a:ext cx="10771632" cy="515702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D1C1DE73-E6A1-4EAE-B1B2-452AEAD4CC8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142997" y="1425674"/>
            <a:ext cx="2703653" cy="221599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endParaRPr lang="de-DE" b="1" u="sng">
              <a:solidFill>
                <a:schemeClr val="bg1"/>
              </a:solidFill>
            </a:endParaRPr>
          </a:p>
          <a:p>
            <a:pPr algn="ctr"/>
            <a:endParaRPr lang="de-DE" b="1" u="sng">
              <a:solidFill>
                <a:schemeClr val="bg1"/>
              </a:solidFill>
            </a:endParaRPr>
          </a:p>
          <a:p>
            <a:pPr algn="ctr">
              <a:lnSpc>
                <a:spcPct val="200000"/>
              </a:lnSpc>
            </a:pPr>
            <a:r>
              <a:rPr lang="de-DE" b="1" u="sng">
                <a:solidFill>
                  <a:schemeClr val="bg1"/>
                </a:solidFill>
              </a:rPr>
              <a:t>Inventarsystem:</a:t>
            </a:r>
          </a:p>
          <a:p>
            <a:pPr algn="ctr"/>
            <a:r>
              <a:rPr lang="de-DE" sz="1600">
                <a:solidFill>
                  <a:schemeClr val="bg1"/>
                </a:solidFill>
              </a:rPr>
              <a:t> Verwaltung von Artikeln, Produktsuche und Kaufprozess</a:t>
            </a:r>
          </a:p>
          <a:p>
            <a:pPr algn="ctr"/>
            <a:endParaRPr lang="de-DE">
              <a:solidFill>
                <a:schemeClr val="bg1"/>
              </a:solidFill>
            </a:endParaRPr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19F10ADF-08FD-C712-1D5B-1D0060194D26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728933" y="1424064"/>
            <a:ext cx="2703653" cy="2217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endParaRPr lang="de-DE" b="1" u="sng">
              <a:solidFill>
                <a:schemeClr val="bg1"/>
              </a:solidFill>
            </a:endParaRPr>
          </a:p>
          <a:p>
            <a:pPr algn="ctr"/>
            <a:endParaRPr lang="de-DE" b="1" u="sng">
              <a:solidFill>
                <a:schemeClr val="bg1"/>
              </a:solidFill>
            </a:endParaRPr>
          </a:p>
          <a:p>
            <a:pPr algn="ctr">
              <a:lnSpc>
                <a:spcPct val="200000"/>
              </a:lnSpc>
            </a:pPr>
            <a:r>
              <a:rPr lang="de-DE" b="1" u="sng">
                <a:solidFill>
                  <a:schemeClr val="bg1"/>
                </a:solidFill>
              </a:rPr>
              <a:t>Wunschliste</a:t>
            </a:r>
          </a:p>
          <a:p>
            <a:pPr algn="ctr"/>
            <a:r>
              <a:rPr lang="de-DE" sz="1600">
                <a:solidFill>
                  <a:schemeClr val="bg1"/>
                </a:solidFill>
              </a:rPr>
              <a:t> Erstellung, Bearbeitung und Teilen von Listen mit anderen</a:t>
            </a:r>
            <a:br>
              <a:rPr lang="de-DE" sz="1600">
                <a:solidFill>
                  <a:schemeClr val="bg1"/>
                </a:solidFill>
              </a:rPr>
            </a:br>
            <a:endParaRPr lang="de-DE">
              <a:solidFill>
                <a:schemeClr val="bg1"/>
              </a:solidFill>
            </a:endParaRPr>
          </a:p>
        </p:txBody>
      </p:sp>
      <p:sp>
        <p:nvSpPr>
          <p:cNvPr id="25" name="Textfeld 24">
            <a:extLst>
              <a:ext uri="{FF2B5EF4-FFF2-40B4-BE49-F238E27FC236}">
                <a16:creationId xmlns:a16="http://schemas.microsoft.com/office/drawing/2014/main" id="{E7B14511-A04F-8C05-D86F-3667E935CB32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097754" y="1417764"/>
            <a:ext cx="2703653" cy="2217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endParaRPr lang="de-DE" b="1" u="sng">
              <a:solidFill>
                <a:schemeClr val="bg1"/>
              </a:solidFill>
            </a:endParaRPr>
          </a:p>
          <a:p>
            <a:pPr algn="ctr"/>
            <a:endParaRPr lang="de-DE" b="1" u="sng">
              <a:solidFill>
                <a:schemeClr val="bg1"/>
              </a:solidFill>
            </a:endParaRPr>
          </a:p>
          <a:p>
            <a:pPr algn="ctr">
              <a:lnSpc>
                <a:spcPct val="200000"/>
              </a:lnSpc>
            </a:pPr>
            <a:r>
              <a:rPr lang="de-DE" b="1" u="sng"/>
              <a:t>Authentifizierung</a:t>
            </a:r>
          </a:p>
          <a:p>
            <a:pPr algn="ctr"/>
            <a:r>
              <a:rPr lang="de-DE" sz="1600"/>
              <a:t>Registrierung, Mail-Verifizierung und Anmeldung von User und Admin </a:t>
            </a:r>
          </a:p>
          <a:p>
            <a:pPr algn="ctr"/>
            <a:br>
              <a:rPr lang="de-DE" sz="1600">
                <a:solidFill>
                  <a:schemeClr val="bg1"/>
                </a:solidFill>
              </a:rPr>
            </a:br>
            <a:endParaRPr lang="de-DE">
              <a:solidFill>
                <a:schemeClr val="bg1"/>
              </a:solidFill>
            </a:endParaRPr>
          </a:p>
        </p:txBody>
      </p:sp>
      <p:grpSp>
        <p:nvGrpSpPr>
          <p:cNvPr id="43" name="Gruppieren 42">
            <a:extLst>
              <a:ext uri="{FF2B5EF4-FFF2-40B4-BE49-F238E27FC236}">
                <a16:creationId xmlns:a16="http://schemas.microsoft.com/office/drawing/2014/main" id="{A68351F1-F804-4191-621A-CE7C966B8735}"/>
              </a:ext>
            </a:extLst>
          </p:cNvPr>
          <p:cNvGrpSpPr/>
          <p:nvPr/>
        </p:nvGrpSpPr>
        <p:grpSpPr>
          <a:xfrm>
            <a:off x="6745927" y="3817646"/>
            <a:ext cx="2703654" cy="2217600"/>
            <a:chOff x="6625876" y="3824750"/>
            <a:chExt cx="2703654" cy="2217600"/>
          </a:xfrm>
        </p:grpSpPr>
        <p:sp>
          <p:nvSpPr>
            <p:cNvPr id="31" name="Textfeld 30">
              <a:extLst>
                <a:ext uri="{FF2B5EF4-FFF2-40B4-BE49-F238E27FC236}">
                  <a16:creationId xmlns:a16="http://schemas.microsoft.com/office/drawing/2014/main" id="{8142346E-8F49-F457-ACA5-0F5C7960628C}"/>
                </a:ext>
              </a:extLst>
            </p:cNvPr>
            <p:cNvSpPr txBox="1">
              <a:spLocks/>
            </p:cNvSpPr>
            <p:nvPr/>
          </p:nvSpPr>
          <p:spPr>
            <a:xfrm>
              <a:off x="6625876" y="3824750"/>
              <a:ext cx="2703654" cy="22176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endParaRPr lang="de-DE" b="1" u="sng">
                <a:solidFill>
                  <a:schemeClr val="bg1"/>
                </a:solidFill>
              </a:endParaRPr>
            </a:p>
            <a:p>
              <a:pPr algn="ctr"/>
              <a:endParaRPr lang="de-DE" b="1" u="sng">
                <a:solidFill>
                  <a:schemeClr val="bg1"/>
                </a:solidFill>
              </a:endParaRPr>
            </a:p>
            <a:p>
              <a:pPr algn="ctr">
                <a:lnSpc>
                  <a:spcPct val="200000"/>
                </a:lnSpc>
              </a:pPr>
              <a:r>
                <a:rPr lang="de-DE" b="1" u="sng">
                  <a:solidFill>
                    <a:schemeClr val="bg1"/>
                  </a:solidFill>
                </a:rPr>
                <a:t>User-Verwaltung:</a:t>
              </a:r>
            </a:p>
            <a:p>
              <a:pPr algn="ctr"/>
              <a:r>
                <a:rPr lang="de-DE" sz="1600">
                  <a:solidFill>
                    <a:schemeClr val="bg1"/>
                  </a:solidFill>
                </a:rPr>
                <a:t> </a:t>
              </a:r>
              <a:r>
                <a:rPr lang="de-DE" sz="1600"/>
                <a:t>Admin-Panel für Account-Management und Sperrungen.</a:t>
              </a:r>
              <a:endParaRPr lang="de-DE">
                <a:solidFill>
                  <a:schemeClr val="bg1"/>
                </a:solidFill>
              </a:endParaRPr>
            </a:p>
          </p:txBody>
        </p:sp>
        <p:pic>
          <p:nvPicPr>
            <p:cNvPr id="33" name="Grafik 32" descr="Zielgruppe Silhouette">
              <a:extLst>
                <a:ext uri="{FF2B5EF4-FFF2-40B4-BE49-F238E27FC236}">
                  <a16:creationId xmlns:a16="http://schemas.microsoft.com/office/drawing/2014/main" id="{04BF5C40-785D-1A7B-37D8-B2DE4D6D06A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7603303" y="3911402"/>
              <a:ext cx="748800" cy="748800"/>
            </a:xfrm>
            <a:prstGeom prst="rect">
              <a:avLst/>
            </a:prstGeom>
          </p:spPr>
        </p:pic>
      </p:grpSp>
      <p:grpSp>
        <p:nvGrpSpPr>
          <p:cNvPr id="42" name="Gruppieren 41">
            <a:extLst>
              <a:ext uri="{FF2B5EF4-FFF2-40B4-BE49-F238E27FC236}">
                <a16:creationId xmlns:a16="http://schemas.microsoft.com/office/drawing/2014/main" id="{B8C7F816-3440-3C5F-9520-2631C54099E9}"/>
              </a:ext>
            </a:extLst>
          </p:cNvPr>
          <p:cNvGrpSpPr/>
          <p:nvPr/>
        </p:nvGrpSpPr>
        <p:grpSpPr>
          <a:xfrm>
            <a:off x="2869223" y="3817646"/>
            <a:ext cx="2703654" cy="2217600"/>
            <a:chOff x="2862470" y="3819645"/>
            <a:chExt cx="2703654" cy="2217600"/>
          </a:xfrm>
        </p:grpSpPr>
        <p:sp>
          <p:nvSpPr>
            <p:cNvPr id="19" name="Textfeld 18">
              <a:extLst>
                <a:ext uri="{FF2B5EF4-FFF2-40B4-BE49-F238E27FC236}">
                  <a16:creationId xmlns:a16="http://schemas.microsoft.com/office/drawing/2014/main" id="{58E9F37C-9F0B-5884-B696-633489FED537}"/>
                </a:ext>
              </a:extLst>
            </p:cNvPr>
            <p:cNvSpPr txBox="1">
              <a:spLocks/>
            </p:cNvSpPr>
            <p:nvPr/>
          </p:nvSpPr>
          <p:spPr>
            <a:xfrm>
              <a:off x="2862470" y="3819645"/>
              <a:ext cx="2703654" cy="22176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endParaRPr lang="de-DE" b="1" u="sng">
                <a:solidFill>
                  <a:schemeClr val="bg1"/>
                </a:solidFill>
              </a:endParaRPr>
            </a:p>
            <a:p>
              <a:pPr algn="ctr"/>
              <a:endParaRPr lang="de-DE" b="1" u="sng">
                <a:solidFill>
                  <a:schemeClr val="bg1"/>
                </a:solidFill>
              </a:endParaRPr>
            </a:p>
            <a:p>
              <a:pPr algn="ctr">
                <a:lnSpc>
                  <a:spcPct val="200000"/>
                </a:lnSpc>
              </a:pPr>
              <a:r>
                <a:rPr lang="de-DE" b="1" u="sng">
                  <a:solidFill>
                    <a:schemeClr val="bg1"/>
                  </a:solidFill>
                </a:rPr>
                <a:t>Autorisierung:</a:t>
              </a:r>
            </a:p>
            <a:p>
              <a:pPr algn="ctr"/>
              <a:r>
                <a:rPr lang="de-DE" sz="1600">
                  <a:solidFill>
                    <a:schemeClr val="bg1"/>
                  </a:solidFill>
                </a:rPr>
                <a:t> Zentrale Entscheidungen für Zugriff des Users</a:t>
              </a:r>
            </a:p>
            <a:p>
              <a:pPr algn="ctr"/>
              <a:endParaRPr lang="de-DE">
                <a:solidFill>
                  <a:schemeClr val="bg1"/>
                </a:solidFill>
              </a:endParaRPr>
            </a:p>
          </p:txBody>
        </p:sp>
        <p:pic>
          <p:nvPicPr>
            <p:cNvPr id="35" name="Grafik 34" descr="Sperren Silhouette">
              <a:extLst>
                <a:ext uri="{FF2B5EF4-FFF2-40B4-BE49-F238E27FC236}">
                  <a16:creationId xmlns:a16="http://schemas.microsoft.com/office/drawing/2014/main" id="{4BA742B9-E1B6-93A3-D581-094FBD4BCC8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846650" y="3911402"/>
              <a:ext cx="748800" cy="748800"/>
            </a:xfrm>
            <a:prstGeom prst="rect">
              <a:avLst/>
            </a:prstGeom>
          </p:spPr>
        </p:pic>
      </p:grpSp>
      <p:pic>
        <p:nvPicPr>
          <p:cNvPr id="37" name="Grafik 36" descr="Augenscan Silhouette">
            <a:extLst>
              <a:ext uri="{FF2B5EF4-FFF2-40B4-BE49-F238E27FC236}">
                <a16:creationId xmlns:a16="http://schemas.microsoft.com/office/drawing/2014/main" id="{EAA573E1-845F-EBDE-DE40-DB2080F47FB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074523" y="1459954"/>
            <a:ext cx="748800" cy="748800"/>
          </a:xfrm>
          <a:prstGeom prst="rect">
            <a:avLst/>
          </a:prstGeom>
        </p:spPr>
      </p:pic>
      <p:pic>
        <p:nvPicPr>
          <p:cNvPr id="39" name="Grafik 38" descr="Prüfliste Silhouette">
            <a:extLst>
              <a:ext uri="{FF2B5EF4-FFF2-40B4-BE49-F238E27FC236}">
                <a16:creationId xmlns:a16="http://schemas.microsoft.com/office/drawing/2014/main" id="{87075528-BF48-FB6C-F432-CF9DD492FFA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721138" y="1459954"/>
            <a:ext cx="749724" cy="749724"/>
          </a:xfrm>
          <a:prstGeom prst="rect">
            <a:avLst/>
          </a:prstGeom>
        </p:spPr>
      </p:pic>
      <p:pic>
        <p:nvPicPr>
          <p:cNvPr id="41" name="Grafik 40" descr="Inventar Silhouette">
            <a:extLst>
              <a:ext uri="{FF2B5EF4-FFF2-40B4-BE49-F238E27FC236}">
                <a16:creationId xmlns:a16="http://schemas.microsoft.com/office/drawing/2014/main" id="{6E44DE61-2027-D2C6-0F51-A5936F6C4D2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120423" y="1459954"/>
            <a:ext cx="748800" cy="74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12491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5C0EEA-15FC-BF43-EF21-D5FFDEA2EB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79CBD3C9-4E66-426D-948E-7CF4778107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DE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DB95FCF-AD96-482F-9FB8-CD95725E6E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DE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64EEEC00-AD80-4734-BEE6-04CBDEC830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C6896D1-BFB1-4C84-82DD-31073BED3F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978660" y="5462458"/>
            <a:ext cx="82296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8A2FDFB1-2B6D-49EB-B6C0-FA923806E0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140" y="243841"/>
            <a:ext cx="11722100" cy="3964584"/>
          </a:xfrm>
          <a:prstGeom prst="rect">
            <a:avLst/>
          </a:prstGeom>
          <a:solidFill>
            <a:schemeClr val="bg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DE"/>
          </a:p>
        </p:txBody>
      </p:sp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83C5710C-A0DF-D22B-D9B5-2AEDEFD915E1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1978660" y="5462458"/>
            <a:ext cx="836320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el 1">
            <a:extLst>
              <a:ext uri="{FF2B5EF4-FFF2-40B4-BE49-F238E27FC236}">
                <a16:creationId xmlns:a16="http://schemas.microsoft.com/office/drawing/2014/main" id="{30964F6A-0B7E-A5DD-F399-898AE24D35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8709" y="4752162"/>
            <a:ext cx="9966960" cy="132588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85000"/>
              </a:lnSpc>
            </a:pPr>
            <a:r>
              <a:rPr lang="en-US" sz="6600" b="1" u="sng" cap="all" err="1">
                <a:solidFill>
                  <a:srgbClr val="FFFFFF"/>
                </a:solidFill>
              </a:rPr>
              <a:t>Vorgehen</a:t>
            </a:r>
            <a:endParaRPr lang="en-US" sz="6600" b="1" u="sng" cap="all">
              <a:solidFill>
                <a:srgbClr val="FFFFFF"/>
              </a:solidFill>
            </a:endParaRPr>
          </a:p>
        </p:txBody>
      </p:sp>
      <p:pic>
        <p:nvPicPr>
          <p:cNvPr id="4" name="Grafik 3" descr="Klemmbrett abgehakt Silhouette">
            <a:extLst>
              <a:ext uri="{FF2B5EF4-FFF2-40B4-BE49-F238E27FC236}">
                <a16:creationId xmlns:a16="http://schemas.microsoft.com/office/drawing/2014/main" id="{1E98E487-D7ED-1B80-AA6A-53DD9671B3D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74108" y="890016"/>
            <a:ext cx="2843784" cy="2843784"/>
          </a:xfrm>
          <a:prstGeom prst="rect">
            <a:avLst/>
          </a:prstGeom>
        </p:spPr>
      </p:pic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8506F08-8DA3-830A-1350-DEB98F3A2D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3E1E5-50FF-46D8-9FAC-A37DF79609E1}" type="datetime1">
              <a:rPr lang="de-DE" smtClean="0"/>
              <a:t>15.07.2026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7CEDD04-2D0A-AC2B-D3FB-A4BE3EFA82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Bekir, Avid, Alex, Darian, Lara P., Sheila</a:t>
            </a:r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E0FB8A92-4417-41E5-2A48-39617C46E8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7EE8E-3513-4D7C-BF7B-7494C67953C0}" type="slidenum">
              <a:rPr lang="de-DE" smtClean="0"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974061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E02ECB5-BF84-971F-0C31-4A0CE9F85B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42ABBB0-E50E-D9AD-6A1D-519327760DCF}"/>
              </a:ext>
            </a:extLst>
          </p:cNvPr>
          <p:cNvSpPr/>
          <p:nvPr/>
        </p:nvSpPr>
        <p:spPr>
          <a:xfrm>
            <a:off x="609600" y="41452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3467" b="1">
                <a:solidFill>
                  <a:srgbClr val="355E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Vorgehen</a:t>
            </a:r>
            <a:endParaRPr lang="en-US" sz="3467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2C39C502-1ED1-2A9F-7E85-70F329667629}"/>
              </a:ext>
            </a:extLst>
          </p:cNvPr>
          <p:cNvSpPr/>
          <p:nvPr/>
        </p:nvSpPr>
        <p:spPr>
          <a:xfrm>
            <a:off x="609600" y="1402080"/>
            <a:ext cx="10972800" cy="792480"/>
          </a:xfrm>
          <a:prstGeom prst="roundRect">
            <a:avLst>
              <a:gd name="adj" fmla="val 9231"/>
            </a:avLst>
          </a:prstGeom>
          <a:solidFill>
            <a:srgbClr val="355E3B"/>
          </a:solidFill>
          <a:ln/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e-DE" sz="320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BDFCEE5B-DF20-6716-FDE8-D68CC5904F09}"/>
              </a:ext>
            </a:extLst>
          </p:cNvPr>
          <p:cNvSpPr/>
          <p:nvPr/>
        </p:nvSpPr>
        <p:spPr>
          <a:xfrm>
            <a:off x="780288" y="1524000"/>
            <a:ext cx="536448" cy="536448"/>
          </a:xfrm>
          <a:prstGeom prst="ellipse">
            <a:avLst/>
          </a:prstGeom>
          <a:solidFill>
            <a:srgbClr val="E8985E"/>
          </a:solidFill>
          <a:ln/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e-DE" sz="3200"/>
          </a:p>
        </p:txBody>
      </p:sp>
      <p:pic>
        <p:nvPicPr>
          <p:cNvPr id="5" name="Image 0" descr="preencoded.png">
            <a:extLst>
              <a:ext uri="{FF2B5EF4-FFF2-40B4-BE49-F238E27FC236}">
                <a16:creationId xmlns:a16="http://schemas.microsoft.com/office/drawing/2014/main" id="{1D91B2BE-8B96-CBCD-83A0-E7A897854B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9765" y="1663477"/>
            <a:ext cx="257495" cy="257495"/>
          </a:xfrm>
          <a:prstGeom prst="rect">
            <a:avLst/>
          </a:prstGeom>
        </p:spPr>
      </p:pic>
      <p:sp>
        <p:nvSpPr>
          <p:cNvPr id="6" name="Text 3">
            <a:extLst>
              <a:ext uri="{FF2B5EF4-FFF2-40B4-BE49-F238E27FC236}">
                <a16:creationId xmlns:a16="http://schemas.microsoft.com/office/drawing/2014/main" id="{B18D2829-CD2E-2126-C3AD-940B013BB219}"/>
              </a:ext>
            </a:extLst>
          </p:cNvPr>
          <p:cNvSpPr/>
          <p:nvPr/>
        </p:nvSpPr>
        <p:spPr>
          <a:xfrm>
            <a:off x="1487424" y="1402080"/>
            <a:ext cx="996950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467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Zuerst geplant: </a:t>
            </a:r>
            <a:r>
              <a:rPr lang="en-US" sz="1467">
                <a:solidFill>
                  <a:srgbClr val="DCE7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API-Endpunkte, Datenbankschema und Struktur – </a:t>
            </a:r>
            <a:r>
              <a:rPr lang="en-US" sz="1467" b="1" i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bevor</a:t>
            </a:r>
            <a:r>
              <a:rPr lang="en-US" sz="1467">
                <a:solidFill>
                  <a:srgbClr val="DCE7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wir angefangen haben zu coden.</a:t>
            </a:r>
            <a:endParaRPr lang="en-US" sz="1467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AA053062-CCA3-4997-8562-45CCCF895288}"/>
              </a:ext>
            </a:extLst>
          </p:cNvPr>
          <p:cNvSpPr/>
          <p:nvPr/>
        </p:nvSpPr>
        <p:spPr>
          <a:xfrm>
            <a:off x="609600" y="2377440"/>
            <a:ext cx="615696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400" i="1">
                <a:solidFill>
                  <a:srgbClr val="5D5D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 Feature ein wiederholter Loop:</a:t>
            </a:r>
            <a:endParaRPr lang="en-US" sz="1400"/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EBC169C5-7A64-B1A1-04AB-FE564E5C3347}"/>
              </a:ext>
            </a:extLst>
          </p:cNvPr>
          <p:cNvSpPr/>
          <p:nvPr/>
        </p:nvSpPr>
        <p:spPr>
          <a:xfrm>
            <a:off x="609600" y="2779776"/>
            <a:ext cx="6485302" cy="463296"/>
          </a:xfrm>
          <a:prstGeom prst="roundRect">
            <a:avLst>
              <a:gd name="adj" fmla="val 13158"/>
            </a:avLst>
          </a:prstGeom>
          <a:solidFill>
            <a:srgbClr val="F3F6F3"/>
          </a:solidFill>
          <a:ln w="12700">
            <a:solidFill>
              <a:srgbClr val="CED2CE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e-DE" sz="3200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4E0FFC76-0434-73D6-B5E8-EB463BD7CA88}"/>
              </a:ext>
            </a:extLst>
          </p:cNvPr>
          <p:cNvSpPr/>
          <p:nvPr/>
        </p:nvSpPr>
        <p:spPr>
          <a:xfrm>
            <a:off x="731520" y="2840736"/>
            <a:ext cx="341376" cy="341376"/>
          </a:xfrm>
          <a:prstGeom prst="ellipse">
            <a:avLst/>
          </a:prstGeom>
          <a:solidFill>
            <a:srgbClr val="E8985E"/>
          </a:solidFill>
          <a:ln/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e-DE" sz="3200"/>
          </a:p>
        </p:txBody>
      </p:sp>
      <p:pic>
        <p:nvPicPr>
          <p:cNvPr id="10" name="Image 1" descr="preencoded.png">
            <a:extLst>
              <a:ext uri="{FF2B5EF4-FFF2-40B4-BE49-F238E27FC236}">
                <a16:creationId xmlns:a16="http://schemas.microsoft.com/office/drawing/2014/main" id="{795C5F39-D898-D4E4-4E00-6830E666F0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0278" y="2929494"/>
            <a:ext cx="163860" cy="163860"/>
          </a:xfrm>
          <a:prstGeom prst="rect">
            <a:avLst/>
          </a:prstGeom>
        </p:spPr>
      </p:pic>
      <p:sp>
        <p:nvSpPr>
          <p:cNvPr id="11" name="Text 7">
            <a:extLst>
              <a:ext uri="{FF2B5EF4-FFF2-40B4-BE49-F238E27FC236}">
                <a16:creationId xmlns:a16="http://schemas.microsoft.com/office/drawing/2014/main" id="{9AC5D42A-7079-0EC6-535E-60510F935983}"/>
              </a:ext>
            </a:extLst>
          </p:cNvPr>
          <p:cNvSpPr/>
          <p:nvPr/>
        </p:nvSpPr>
        <p:spPr>
          <a:xfrm>
            <a:off x="1341120" y="2779776"/>
            <a:ext cx="530352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533" b="1">
                <a:solidFill>
                  <a:srgbClr val="355E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Aufgabe vom Kanban-Board</a:t>
            </a:r>
            <a:endParaRPr lang="en-US" sz="1533"/>
          </a:p>
        </p:txBody>
      </p:sp>
      <p:sp>
        <p:nvSpPr>
          <p:cNvPr id="13" name="Shape 9">
            <a:extLst>
              <a:ext uri="{FF2B5EF4-FFF2-40B4-BE49-F238E27FC236}">
                <a16:creationId xmlns:a16="http://schemas.microsoft.com/office/drawing/2014/main" id="{2E28EC20-E300-434A-0E00-C14504DAD67D}"/>
              </a:ext>
            </a:extLst>
          </p:cNvPr>
          <p:cNvSpPr/>
          <p:nvPr/>
        </p:nvSpPr>
        <p:spPr>
          <a:xfrm>
            <a:off x="609600" y="3316224"/>
            <a:ext cx="6485302" cy="463296"/>
          </a:xfrm>
          <a:prstGeom prst="roundRect">
            <a:avLst>
              <a:gd name="adj" fmla="val 13158"/>
            </a:avLst>
          </a:prstGeom>
          <a:solidFill>
            <a:srgbClr val="F3F6F3"/>
          </a:solidFill>
          <a:ln w="12700">
            <a:solidFill>
              <a:srgbClr val="CED2CE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e-DE" sz="3200"/>
          </a:p>
        </p:txBody>
      </p:sp>
      <p:sp>
        <p:nvSpPr>
          <p:cNvPr id="14" name="Shape 10">
            <a:extLst>
              <a:ext uri="{FF2B5EF4-FFF2-40B4-BE49-F238E27FC236}">
                <a16:creationId xmlns:a16="http://schemas.microsoft.com/office/drawing/2014/main" id="{CD9207F6-8A90-5617-BDD9-AE904FE3B0F0}"/>
              </a:ext>
            </a:extLst>
          </p:cNvPr>
          <p:cNvSpPr/>
          <p:nvPr/>
        </p:nvSpPr>
        <p:spPr>
          <a:xfrm>
            <a:off x="731520" y="3377184"/>
            <a:ext cx="341376" cy="341376"/>
          </a:xfrm>
          <a:prstGeom prst="ellipse">
            <a:avLst/>
          </a:prstGeom>
          <a:solidFill>
            <a:srgbClr val="E8985E"/>
          </a:solidFill>
          <a:ln/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e-DE" sz="3200"/>
          </a:p>
        </p:txBody>
      </p:sp>
      <p:pic>
        <p:nvPicPr>
          <p:cNvPr id="15" name="Image 2" descr="preencoded.png">
            <a:extLst>
              <a:ext uri="{FF2B5EF4-FFF2-40B4-BE49-F238E27FC236}">
                <a16:creationId xmlns:a16="http://schemas.microsoft.com/office/drawing/2014/main" id="{38C92410-D6E0-78D2-6089-3ADAFC14014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0278" y="3465942"/>
            <a:ext cx="163860" cy="163860"/>
          </a:xfrm>
          <a:prstGeom prst="rect">
            <a:avLst/>
          </a:prstGeom>
        </p:spPr>
      </p:pic>
      <p:sp>
        <p:nvSpPr>
          <p:cNvPr id="16" name="Text 11">
            <a:extLst>
              <a:ext uri="{FF2B5EF4-FFF2-40B4-BE49-F238E27FC236}">
                <a16:creationId xmlns:a16="http://schemas.microsoft.com/office/drawing/2014/main" id="{D98A1F23-93A3-8271-9353-C55B7EBA9E34}"/>
              </a:ext>
            </a:extLst>
          </p:cNvPr>
          <p:cNvSpPr/>
          <p:nvPr/>
        </p:nvSpPr>
        <p:spPr>
          <a:xfrm>
            <a:off x="1341120" y="3316224"/>
            <a:ext cx="530352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533" b="1">
                <a:solidFill>
                  <a:srgbClr val="355E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Endpoint bauen</a:t>
            </a:r>
            <a:endParaRPr lang="en-US" sz="1533"/>
          </a:p>
        </p:txBody>
      </p:sp>
      <p:sp>
        <p:nvSpPr>
          <p:cNvPr id="18" name="Shape 13">
            <a:extLst>
              <a:ext uri="{FF2B5EF4-FFF2-40B4-BE49-F238E27FC236}">
                <a16:creationId xmlns:a16="http://schemas.microsoft.com/office/drawing/2014/main" id="{5C0596A8-5F57-28A7-48AB-4F20C72C5739}"/>
              </a:ext>
            </a:extLst>
          </p:cNvPr>
          <p:cNvSpPr/>
          <p:nvPr/>
        </p:nvSpPr>
        <p:spPr>
          <a:xfrm>
            <a:off x="609600" y="3852672"/>
            <a:ext cx="6485302" cy="463296"/>
          </a:xfrm>
          <a:prstGeom prst="roundRect">
            <a:avLst>
              <a:gd name="adj" fmla="val 13158"/>
            </a:avLst>
          </a:prstGeom>
          <a:solidFill>
            <a:srgbClr val="F3F6F3"/>
          </a:solidFill>
          <a:ln w="12700">
            <a:solidFill>
              <a:srgbClr val="CED2CE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e-DE" sz="3200"/>
          </a:p>
        </p:txBody>
      </p:sp>
      <p:sp>
        <p:nvSpPr>
          <p:cNvPr id="19" name="Shape 14">
            <a:extLst>
              <a:ext uri="{FF2B5EF4-FFF2-40B4-BE49-F238E27FC236}">
                <a16:creationId xmlns:a16="http://schemas.microsoft.com/office/drawing/2014/main" id="{79BCE23A-FF79-A753-5685-1C11B13C9CD4}"/>
              </a:ext>
            </a:extLst>
          </p:cNvPr>
          <p:cNvSpPr/>
          <p:nvPr/>
        </p:nvSpPr>
        <p:spPr>
          <a:xfrm>
            <a:off x="731520" y="3913632"/>
            <a:ext cx="341376" cy="341376"/>
          </a:xfrm>
          <a:prstGeom prst="ellipse">
            <a:avLst/>
          </a:prstGeom>
          <a:solidFill>
            <a:srgbClr val="E8985E"/>
          </a:solidFill>
          <a:ln/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e-DE" sz="3200"/>
          </a:p>
        </p:txBody>
      </p:sp>
      <p:pic>
        <p:nvPicPr>
          <p:cNvPr id="20" name="Image 3" descr="preencoded.png">
            <a:extLst>
              <a:ext uri="{FF2B5EF4-FFF2-40B4-BE49-F238E27FC236}">
                <a16:creationId xmlns:a16="http://schemas.microsoft.com/office/drawing/2014/main" id="{1406F9DF-C84A-D8C0-0D2D-EDB6D503B3D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0278" y="4002390"/>
            <a:ext cx="163860" cy="163860"/>
          </a:xfrm>
          <a:prstGeom prst="rect">
            <a:avLst/>
          </a:prstGeom>
        </p:spPr>
      </p:pic>
      <p:sp>
        <p:nvSpPr>
          <p:cNvPr id="21" name="Text 15">
            <a:extLst>
              <a:ext uri="{FF2B5EF4-FFF2-40B4-BE49-F238E27FC236}">
                <a16:creationId xmlns:a16="http://schemas.microsoft.com/office/drawing/2014/main" id="{6F9FE98C-1C7A-D186-A437-D1218FFAA4E3}"/>
              </a:ext>
            </a:extLst>
          </p:cNvPr>
          <p:cNvSpPr/>
          <p:nvPr/>
        </p:nvSpPr>
        <p:spPr>
          <a:xfrm>
            <a:off x="1341120" y="3852672"/>
            <a:ext cx="530352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533" b="1">
                <a:solidFill>
                  <a:srgbClr val="355E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Sofort in Bruno testen</a:t>
            </a:r>
            <a:endParaRPr lang="en-US" sz="1533"/>
          </a:p>
        </p:txBody>
      </p:sp>
      <p:sp>
        <p:nvSpPr>
          <p:cNvPr id="23" name="Shape 17">
            <a:extLst>
              <a:ext uri="{FF2B5EF4-FFF2-40B4-BE49-F238E27FC236}">
                <a16:creationId xmlns:a16="http://schemas.microsoft.com/office/drawing/2014/main" id="{F4D2E694-CAC0-536F-BE17-1F43046E0160}"/>
              </a:ext>
            </a:extLst>
          </p:cNvPr>
          <p:cNvSpPr/>
          <p:nvPr/>
        </p:nvSpPr>
        <p:spPr>
          <a:xfrm>
            <a:off x="609600" y="4389120"/>
            <a:ext cx="6485302" cy="463296"/>
          </a:xfrm>
          <a:prstGeom prst="roundRect">
            <a:avLst>
              <a:gd name="adj" fmla="val 13158"/>
            </a:avLst>
          </a:prstGeom>
          <a:solidFill>
            <a:srgbClr val="F3F6F3"/>
          </a:solidFill>
          <a:ln w="12700">
            <a:solidFill>
              <a:srgbClr val="CED2CE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e-DE" sz="3200"/>
          </a:p>
        </p:txBody>
      </p:sp>
      <p:sp>
        <p:nvSpPr>
          <p:cNvPr id="24" name="Shape 18">
            <a:extLst>
              <a:ext uri="{FF2B5EF4-FFF2-40B4-BE49-F238E27FC236}">
                <a16:creationId xmlns:a16="http://schemas.microsoft.com/office/drawing/2014/main" id="{BB84CB69-87F4-0569-ED8D-15E2057C25C2}"/>
              </a:ext>
            </a:extLst>
          </p:cNvPr>
          <p:cNvSpPr/>
          <p:nvPr/>
        </p:nvSpPr>
        <p:spPr>
          <a:xfrm>
            <a:off x="731520" y="4450080"/>
            <a:ext cx="341376" cy="341376"/>
          </a:xfrm>
          <a:prstGeom prst="ellipse">
            <a:avLst/>
          </a:prstGeom>
          <a:solidFill>
            <a:srgbClr val="E8985E"/>
          </a:solidFill>
          <a:ln/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e-DE" sz="3200"/>
          </a:p>
        </p:txBody>
      </p:sp>
      <p:pic>
        <p:nvPicPr>
          <p:cNvPr id="25" name="Image 4" descr="preencoded.png">
            <a:extLst>
              <a:ext uri="{FF2B5EF4-FFF2-40B4-BE49-F238E27FC236}">
                <a16:creationId xmlns:a16="http://schemas.microsoft.com/office/drawing/2014/main" id="{7D063446-92F8-03E1-13F5-7BCFD7E8E1D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0278" y="4538838"/>
            <a:ext cx="163860" cy="163860"/>
          </a:xfrm>
          <a:prstGeom prst="rect">
            <a:avLst/>
          </a:prstGeom>
        </p:spPr>
      </p:pic>
      <p:sp>
        <p:nvSpPr>
          <p:cNvPr id="26" name="Text 19">
            <a:extLst>
              <a:ext uri="{FF2B5EF4-FFF2-40B4-BE49-F238E27FC236}">
                <a16:creationId xmlns:a16="http://schemas.microsoft.com/office/drawing/2014/main" id="{AD008803-7278-E9B7-AB5C-672F240DFC3F}"/>
              </a:ext>
            </a:extLst>
          </p:cNvPr>
          <p:cNvSpPr/>
          <p:nvPr/>
        </p:nvSpPr>
        <p:spPr>
          <a:xfrm>
            <a:off x="1341120" y="4389120"/>
            <a:ext cx="530352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533" b="1">
                <a:solidFill>
                  <a:srgbClr val="355E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Konzept.md aktualisieren</a:t>
            </a:r>
            <a:endParaRPr lang="en-US" sz="1533"/>
          </a:p>
        </p:txBody>
      </p:sp>
      <p:sp>
        <p:nvSpPr>
          <p:cNvPr id="28" name="Shape 21">
            <a:extLst>
              <a:ext uri="{FF2B5EF4-FFF2-40B4-BE49-F238E27FC236}">
                <a16:creationId xmlns:a16="http://schemas.microsoft.com/office/drawing/2014/main" id="{CC4FA99B-E7EE-1A35-F287-CFFA0955D5B4}"/>
              </a:ext>
            </a:extLst>
          </p:cNvPr>
          <p:cNvSpPr/>
          <p:nvPr/>
        </p:nvSpPr>
        <p:spPr>
          <a:xfrm>
            <a:off x="609600" y="4925568"/>
            <a:ext cx="6485302" cy="463296"/>
          </a:xfrm>
          <a:prstGeom prst="roundRect">
            <a:avLst>
              <a:gd name="adj" fmla="val 13158"/>
            </a:avLst>
          </a:prstGeom>
          <a:solidFill>
            <a:srgbClr val="F3F6F3"/>
          </a:solidFill>
          <a:ln w="12700">
            <a:solidFill>
              <a:srgbClr val="CED2CE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e-DE" sz="3200"/>
          </a:p>
        </p:txBody>
      </p:sp>
      <p:sp>
        <p:nvSpPr>
          <p:cNvPr id="29" name="Shape 22">
            <a:extLst>
              <a:ext uri="{FF2B5EF4-FFF2-40B4-BE49-F238E27FC236}">
                <a16:creationId xmlns:a16="http://schemas.microsoft.com/office/drawing/2014/main" id="{C00AFE5D-D642-B36A-077A-5661C2E4B70C}"/>
              </a:ext>
            </a:extLst>
          </p:cNvPr>
          <p:cNvSpPr/>
          <p:nvPr/>
        </p:nvSpPr>
        <p:spPr>
          <a:xfrm>
            <a:off x="731520" y="4986528"/>
            <a:ext cx="341376" cy="341376"/>
          </a:xfrm>
          <a:prstGeom prst="ellipse">
            <a:avLst/>
          </a:prstGeom>
          <a:solidFill>
            <a:srgbClr val="E8985E"/>
          </a:solidFill>
          <a:ln/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e-DE" sz="3200"/>
          </a:p>
        </p:txBody>
      </p:sp>
      <p:pic>
        <p:nvPicPr>
          <p:cNvPr id="30" name="Image 5" descr="preencoded.png">
            <a:extLst>
              <a:ext uri="{FF2B5EF4-FFF2-40B4-BE49-F238E27FC236}">
                <a16:creationId xmlns:a16="http://schemas.microsoft.com/office/drawing/2014/main" id="{DCB0D089-E705-55C5-EA14-E14F5BEF6CB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0278" y="5075286"/>
            <a:ext cx="163860" cy="163860"/>
          </a:xfrm>
          <a:prstGeom prst="rect">
            <a:avLst/>
          </a:prstGeom>
        </p:spPr>
      </p:pic>
      <p:sp>
        <p:nvSpPr>
          <p:cNvPr id="31" name="Text 23">
            <a:extLst>
              <a:ext uri="{FF2B5EF4-FFF2-40B4-BE49-F238E27FC236}">
                <a16:creationId xmlns:a16="http://schemas.microsoft.com/office/drawing/2014/main" id="{AA094184-1769-3086-A405-C30CD6202B53}"/>
              </a:ext>
            </a:extLst>
          </p:cNvPr>
          <p:cNvSpPr/>
          <p:nvPr/>
        </p:nvSpPr>
        <p:spPr>
          <a:xfrm>
            <a:off x="1341120" y="4925568"/>
            <a:ext cx="530352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533" b="1">
                <a:solidFill>
                  <a:srgbClr val="355E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Zusammenführen</a:t>
            </a:r>
            <a:endParaRPr lang="en-US" sz="1533"/>
          </a:p>
        </p:txBody>
      </p:sp>
      <p:sp>
        <p:nvSpPr>
          <p:cNvPr id="38" name="Text 29">
            <a:extLst>
              <a:ext uri="{FF2B5EF4-FFF2-40B4-BE49-F238E27FC236}">
                <a16:creationId xmlns:a16="http://schemas.microsoft.com/office/drawing/2014/main" id="{9035F0A9-C942-99ED-2A80-8BF40AC89B64}"/>
              </a:ext>
            </a:extLst>
          </p:cNvPr>
          <p:cNvSpPr/>
          <p:nvPr/>
        </p:nvSpPr>
        <p:spPr>
          <a:xfrm>
            <a:off x="609600" y="6315456"/>
            <a:ext cx="243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200">
                <a:solidFill>
                  <a:srgbClr val="8A8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16.07.2026</a:t>
            </a:r>
            <a:endParaRPr lang="en-US" sz="1200"/>
          </a:p>
        </p:txBody>
      </p:sp>
      <p:sp>
        <p:nvSpPr>
          <p:cNvPr id="39" name="Text 30">
            <a:extLst>
              <a:ext uri="{FF2B5EF4-FFF2-40B4-BE49-F238E27FC236}">
                <a16:creationId xmlns:a16="http://schemas.microsoft.com/office/drawing/2014/main" id="{C1E4E8C7-6405-1FFB-2E14-E9C10DE9B748}"/>
              </a:ext>
            </a:extLst>
          </p:cNvPr>
          <p:cNvSpPr/>
          <p:nvPr/>
        </p:nvSpPr>
        <p:spPr>
          <a:xfrm>
            <a:off x="3657600" y="6315456"/>
            <a:ext cx="487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>
                <a:solidFill>
                  <a:srgbClr val="8A8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Bekir, Avid, Alex, Darian, Lara P., Sheila</a:t>
            </a:r>
            <a:endParaRPr lang="en-US" sz="1200"/>
          </a:p>
        </p:txBody>
      </p:sp>
      <p:sp>
        <p:nvSpPr>
          <p:cNvPr id="40" name="Text 31">
            <a:extLst>
              <a:ext uri="{FF2B5EF4-FFF2-40B4-BE49-F238E27FC236}">
                <a16:creationId xmlns:a16="http://schemas.microsoft.com/office/drawing/2014/main" id="{DE413DD4-B7B8-F339-A78A-B9662D9318E5}"/>
              </a:ext>
            </a:extLst>
          </p:cNvPr>
          <p:cNvSpPr/>
          <p:nvPr/>
        </p:nvSpPr>
        <p:spPr>
          <a:xfrm>
            <a:off x="11216640" y="6315456"/>
            <a:ext cx="609600" cy="365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1200">
                <a:solidFill>
                  <a:srgbClr val="8A8A8A"/>
                </a:solidFill>
                <a:latin typeface="Segoe UI"/>
                <a:cs typeface="Segoe UI"/>
              </a:rPr>
              <a:t>7</a:t>
            </a:r>
            <a:endParaRPr lang="en-US" sz="1200" dirty="0">
              <a:solidFill>
                <a:srgbClr val="8A8A8A"/>
              </a:solidFill>
              <a:latin typeface="Segoe UI"/>
              <a:cs typeface="Segoe UI"/>
            </a:endParaRPr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231D3B0F-7F53-4FA8-D9AD-8AA7CD0E89B0}"/>
              </a:ext>
            </a:extLst>
          </p:cNvPr>
          <p:cNvSpPr/>
          <p:nvPr/>
        </p:nvSpPr>
        <p:spPr>
          <a:xfrm>
            <a:off x="853440" y="3218688"/>
            <a:ext cx="365760" cy="12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333" b="1">
                <a:solidFill>
                  <a:srgbClr val="E898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↓</a:t>
            </a:r>
            <a:endParaRPr lang="en-US" sz="1333"/>
          </a:p>
        </p:txBody>
      </p:sp>
      <p:sp>
        <p:nvSpPr>
          <p:cNvPr id="17" name="Text 12">
            <a:extLst>
              <a:ext uri="{FF2B5EF4-FFF2-40B4-BE49-F238E27FC236}">
                <a16:creationId xmlns:a16="http://schemas.microsoft.com/office/drawing/2014/main" id="{AC014755-517C-83CB-5061-1FF4F9FFB487}"/>
              </a:ext>
            </a:extLst>
          </p:cNvPr>
          <p:cNvSpPr/>
          <p:nvPr/>
        </p:nvSpPr>
        <p:spPr>
          <a:xfrm>
            <a:off x="853440" y="3755136"/>
            <a:ext cx="365760" cy="12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333" b="1">
                <a:solidFill>
                  <a:srgbClr val="E898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↓</a:t>
            </a:r>
            <a:endParaRPr lang="en-US" sz="1333"/>
          </a:p>
        </p:txBody>
      </p:sp>
      <p:sp>
        <p:nvSpPr>
          <p:cNvPr id="22" name="Text 16">
            <a:extLst>
              <a:ext uri="{FF2B5EF4-FFF2-40B4-BE49-F238E27FC236}">
                <a16:creationId xmlns:a16="http://schemas.microsoft.com/office/drawing/2014/main" id="{D96B5BE9-126B-5C93-E11C-26F51AEBF0F3}"/>
              </a:ext>
            </a:extLst>
          </p:cNvPr>
          <p:cNvSpPr/>
          <p:nvPr/>
        </p:nvSpPr>
        <p:spPr>
          <a:xfrm>
            <a:off x="853440" y="4291584"/>
            <a:ext cx="365760" cy="12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333" b="1">
                <a:solidFill>
                  <a:srgbClr val="E898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↓</a:t>
            </a:r>
            <a:endParaRPr lang="en-US" sz="1333"/>
          </a:p>
        </p:txBody>
      </p:sp>
      <p:sp>
        <p:nvSpPr>
          <p:cNvPr id="27" name="Text 20">
            <a:extLst>
              <a:ext uri="{FF2B5EF4-FFF2-40B4-BE49-F238E27FC236}">
                <a16:creationId xmlns:a16="http://schemas.microsoft.com/office/drawing/2014/main" id="{642F7F35-CFB2-6214-0D01-40A7210333A5}"/>
              </a:ext>
            </a:extLst>
          </p:cNvPr>
          <p:cNvSpPr/>
          <p:nvPr/>
        </p:nvSpPr>
        <p:spPr>
          <a:xfrm>
            <a:off x="853440" y="4828032"/>
            <a:ext cx="365760" cy="12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333" b="1">
                <a:solidFill>
                  <a:srgbClr val="E898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↓</a:t>
            </a:r>
            <a:endParaRPr lang="en-US" sz="1333"/>
          </a:p>
        </p:txBody>
      </p:sp>
      <p:sp>
        <p:nvSpPr>
          <p:cNvPr id="900" name="Accent900">
            <a:extLst>
              <a:ext uri="{FF2B5EF4-FFF2-40B4-BE49-F238E27FC236}">
                <a16:creationId xmlns:a16="http://schemas.microsoft.com/office/drawing/2014/main" id="{7F813990-9DDB-6AC1-FC99-7260A60CF3C0}"/>
              </a:ext>
            </a:extLst>
          </p:cNvPr>
          <p:cNvSpPr/>
          <p:nvPr/>
        </p:nvSpPr>
        <p:spPr>
          <a:xfrm>
            <a:off x="365760" y="414528"/>
            <a:ext cx="60960" cy="731520"/>
          </a:xfrm>
          <a:prstGeom prst="roundRect">
            <a:avLst>
              <a:gd name="adj" fmla="val 50000"/>
            </a:avLst>
          </a:prstGeom>
          <a:solidFill>
            <a:srgbClr val="E8985E"/>
          </a:solidFill>
          <a:ln>
            <a:noFill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e-DE" sz="3200"/>
          </a:p>
        </p:txBody>
      </p:sp>
      <p:sp>
        <p:nvSpPr>
          <p:cNvPr id="920" name="Accent920">
            <a:extLst>
              <a:ext uri="{FF2B5EF4-FFF2-40B4-BE49-F238E27FC236}">
                <a16:creationId xmlns:a16="http://schemas.microsoft.com/office/drawing/2014/main" id="{B54DCA25-3B84-EBEB-C5FF-B0809DDB219C}"/>
              </a:ext>
            </a:extLst>
          </p:cNvPr>
          <p:cNvSpPr/>
          <p:nvPr/>
        </p:nvSpPr>
        <p:spPr>
          <a:xfrm>
            <a:off x="609600" y="2840736"/>
            <a:ext cx="73152" cy="341376"/>
          </a:xfrm>
          <a:prstGeom prst="roundRect">
            <a:avLst>
              <a:gd name="adj" fmla="val 45000"/>
            </a:avLst>
          </a:prstGeom>
          <a:solidFill>
            <a:srgbClr val="E8985E"/>
          </a:solidFill>
          <a:ln>
            <a:noFill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e-DE" sz="3200"/>
          </a:p>
        </p:txBody>
      </p:sp>
      <p:sp>
        <p:nvSpPr>
          <p:cNvPr id="921" name="Accent921">
            <a:extLst>
              <a:ext uri="{FF2B5EF4-FFF2-40B4-BE49-F238E27FC236}">
                <a16:creationId xmlns:a16="http://schemas.microsoft.com/office/drawing/2014/main" id="{33896D5D-B7E0-AFE8-B2E0-366E151B23C5}"/>
              </a:ext>
            </a:extLst>
          </p:cNvPr>
          <p:cNvSpPr/>
          <p:nvPr/>
        </p:nvSpPr>
        <p:spPr>
          <a:xfrm>
            <a:off x="609600" y="3377184"/>
            <a:ext cx="73152" cy="341376"/>
          </a:xfrm>
          <a:prstGeom prst="roundRect">
            <a:avLst>
              <a:gd name="adj" fmla="val 45000"/>
            </a:avLst>
          </a:prstGeom>
          <a:solidFill>
            <a:srgbClr val="E8985E"/>
          </a:solidFill>
          <a:ln>
            <a:noFill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e-DE" sz="3200"/>
          </a:p>
        </p:txBody>
      </p:sp>
      <p:sp>
        <p:nvSpPr>
          <p:cNvPr id="922" name="Accent922">
            <a:extLst>
              <a:ext uri="{FF2B5EF4-FFF2-40B4-BE49-F238E27FC236}">
                <a16:creationId xmlns:a16="http://schemas.microsoft.com/office/drawing/2014/main" id="{F3F613C1-B488-E5EC-6AE1-535099309C1F}"/>
              </a:ext>
            </a:extLst>
          </p:cNvPr>
          <p:cNvSpPr/>
          <p:nvPr/>
        </p:nvSpPr>
        <p:spPr>
          <a:xfrm>
            <a:off x="609600" y="3913632"/>
            <a:ext cx="73152" cy="341376"/>
          </a:xfrm>
          <a:prstGeom prst="roundRect">
            <a:avLst>
              <a:gd name="adj" fmla="val 45000"/>
            </a:avLst>
          </a:prstGeom>
          <a:solidFill>
            <a:srgbClr val="E8985E"/>
          </a:solidFill>
          <a:ln>
            <a:noFill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e-DE" sz="3200"/>
          </a:p>
        </p:txBody>
      </p:sp>
      <p:sp>
        <p:nvSpPr>
          <p:cNvPr id="923" name="Accent923">
            <a:extLst>
              <a:ext uri="{FF2B5EF4-FFF2-40B4-BE49-F238E27FC236}">
                <a16:creationId xmlns:a16="http://schemas.microsoft.com/office/drawing/2014/main" id="{1EA589A8-C97D-8ACC-B8E8-4DDBD1A717D1}"/>
              </a:ext>
            </a:extLst>
          </p:cNvPr>
          <p:cNvSpPr/>
          <p:nvPr/>
        </p:nvSpPr>
        <p:spPr>
          <a:xfrm>
            <a:off x="609600" y="4450080"/>
            <a:ext cx="73152" cy="341376"/>
          </a:xfrm>
          <a:prstGeom prst="roundRect">
            <a:avLst>
              <a:gd name="adj" fmla="val 45000"/>
            </a:avLst>
          </a:prstGeom>
          <a:solidFill>
            <a:srgbClr val="E8985E"/>
          </a:solidFill>
          <a:ln>
            <a:noFill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e-DE" sz="3200"/>
          </a:p>
        </p:txBody>
      </p:sp>
      <p:sp>
        <p:nvSpPr>
          <p:cNvPr id="924" name="Accent924">
            <a:extLst>
              <a:ext uri="{FF2B5EF4-FFF2-40B4-BE49-F238E27FC236}">
                <a16:creationId xmlns:a16="http://schemas.microsoft.com/office/drawing/2014/main" id="{1A610899-49ED-7946-368C-7FDA08690918}"/>
              </a:ext>
            </a:extLst>
          </p:cNvPr>
          <p:cNvSpPr/>
          <p:nvPr/>
        </p:nvSpPr>
        <p:spPr>
          <a:xfrm>
            <a:off x="609600" y="4986528"/>
            <a:ext cx="73152" cy="341376"/>
          </a:xfrm>
          <a:prstGeom prst="roundRect">
            <a:avLst>
              <a:gd name="adj" fmla="val 45000"/>
            </a:avLst>
          </a:prstGeom>
          <a:solidFill>
            <a:srgbClr val="E8985E"/>
          </a:solidFill>
          <a:ln>
            <a:noFill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e-DE" sz="3200"/>
          </a:p>
        </p:txBody>
      </p:sp>
      <p:sp>
        <p:nvSpPr>
          <p:cNvPr id="930" name="Hair930">
            <a:extLst>
              <a:ext uri="{FF2B5EF4-FFF2-40B4-BE49-F238E27FC236}">
                <a16:creationId xmlns:a16="http://schemas.microsoft.com/office/drawing/2014/main" id="{4928D342-FDBE-4771-4321-0B5EDFD88E37}"/>
              </a:ext>
            </a:extLst>
          </p:cNvPr>
          <p:cNvSpPr/>
          <p:nvPr/>
        </p:nvSpPr>
        <p:spPr>
          <a:xfrm>
            <a:off x="609600" y="6233334"/>
            <a:ext cx="10972800" cy="12700"/>
          </a:xfrm>
          <a:prstGeom prst="rect">
            <a:avLst/>
          </a:prstGeom>
          <a:solidFill>
            <a:srgbClr val="DCE7DE"/>
          </a:solidFill>
          <a:ln>
            <a:noFill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e-DE" sz="3200"/>
          </a:p>
        </p:txBody>
      </p:sp>
      <p:grpSp>
        <p:nvGrpSpPr>
          <p:cNvPr id="36" name="Gruppieren 35">
            <a:extLst>
              <a:ext uri="{FF2B5EF4-FFF2-40B4-BE49-F238E27FC236}">
                <a16:creationId xmlns:a16="http://schemas.microsoft.com/office/drawing/2014/main" id="{EAB2C9EC-00DE-38F5-4698-E6374453A8ED}"/>
              </a:ext>
            </a:extLst>
          </p:cNvPr>
          <p:cNvGrpSpPr/>
          <p:nvPr/>
        </p:nvGrpSpPr>
        <p:grpSpPr>
          <a:xfrm>
            <a:off x="7595037" y="3039030"/>
            <a:ext cx="3621603" cy="1875557"/>
            <a:chOff x="7048500" y="2390140"/>
            <a:chExt cx="4533900" cy="2994660"/>
          </a:xfrm>
        </p:grpSpPr>
        <p:sp>
          <p:nvSpPr>
            <p:cNvPr id="33" name="GitCard">
              <a:extLst>
                <a:ext uri="{FF2B5EF4-FFF2-40B4-BE49-F238E27FC236}">
                  <a16:creationId xmlns:a16="http://schemas.microsoft.com/office/drawing/2014/main" id="{944DB322-78DF-413D-9617-7D665BE70555}"/>
                </a:ext>
              </a:extLst>
            </p:cNvPr>
            <p:cNvSpPr/>
            <p:nvPr/>
          </p:nvSpPr>
          <p:spPr>
            <a:xfrm>
              <a:off x="7048500" y="2390140"/>
              <a:ext cx="4533900" cy="2994660"/>
            </a:xfrm>
            <a:prstGeom prst="roundRect">
              <a:avLst/>
            </a:prstGeom>
            <a:solidFill>
              <a:srgbClr val="EEF3E8"/>
            </a:solidFill>
            <a:ln w="9525" cap="flat" cmpd="sng" algn="ctr">
              <a:solidFill>
                <a:srgbClr val="355E3B">
                  <a:alpha val="40000"/>
                </a:srgb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de-DE"/>
            </a:p>
          </p:txBody>
        </p:sp>
        <p:sp>
          <p:nvSpPr>
            <p:cNvPr id="34" name="GitHeader">
              <a:extLst>
                <a:ext uri="{FF2B5EF4-FFF2-40B4-BE49-F238E27FC236}">
                  <a16:creationId xmlns:a16="http://schemas.microsoft.com/office/drawing/2014/main" id="{0C4423F2-DB89-45E6-977B-B3E8EF6B51BA}"/>
                </a:ext>
              </a:extLst>
            </p:cNvPr>
            <p:cNvSpPr txBox="1"/>
            <p:nvPr/>
          </p:nvSpPr>
          <p:spPr>
            <a:xfrm>
              <a:off x="7170420" y="2779931"/>
              <a:ext cx="4196080" cy="406401"/>
            </a:xfrm>
            <a:prstGeom prst="rect">
              <a:avLst/>
            </a:prstGeom>
            <a:noFill/>
          </p:spPr>
          <p:txBody>
            <a:bodyPr vertOverflow="overflow" vert="horz" wrap="none" rtlCol="0" anchor="ctr" anchorCtr="0">
              <a:noAutofit/>
            </a:bodyPr>
            <a:lstStyle/>
            <a:p>
              <a:pPr algn="ctr"/>
              <a:r>
                <a:rPr lang="de-DE" b="1" err="1">
                  <a:solidFill>
                    <a:srgbClr val="355E3B"/>
                  </a:solidFill>
                  <a:latin typeface="Segoe UI"/>
                  <a:cs typeface="Segoe UI"/>
                </a:rPr>
                <a:t>Git</a:t>
              </a:r>
              <a:r>
                <a:rPr lang="de-DE" b="1">
                  <a:solidFill>
                    <a:srgbClr val="355E3B"/>
                  </a:solidFill>
                  <a:latin typeface="Segoe UI"/>
                  <a:cs typeface="Segoe UI"/>
                </a:rPr>
                <a:t>-Strategie</a:t>
              </a:r>
            </a:p>
          </p:txBody>
        </p:sp>
        <p:sp>
          <p:nvSpPr>
            <p:cNvPr id="32" name="Text 24">
              <a:extLst>
                <a:ext uri="{FF2B5EF4-FFF2-40B4-BE49-F238E27FC236}">
                  <a16:creationId xmlns:a16="http://schemas.microsoft.com/office/drawing/2014/main" id="{477672F3-FE6D-F6D7-118B-36EDFB5CE839}"/>
                </a:ext>
              </a:extLst>
            </p:cNvPr>
            <p:cNvSpPr/>
            <p:nvPr/>
          </p:nvSpPr>
          <p:spPr>
            <a:xfrm>
              <a:off x="7277100" y="3484442"/>
              <a:ext cx="4089400" cy="184819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>
              <a:lvl1pPr marL="0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85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70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54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39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924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509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93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78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ts val="1900"/>
                </a:lnSpc>
                <a:buNone/>
              </a:pPr>
              <a:r>
                <a:rPr lang="de-DE" sz="1333">
                  <a:solidFill>
                    <a:srgbClr val="102313"/>
                  </a:solidFill>
                  <a:latin typeface="Segoe UI" pitchFamily="34" charset="0"/>
                </a:rPr>
                <a:t>Jeder baute seinen Service </a:t>
              </a:r>
              <a:r>
                <a:rPr lang="de-DE" sz="1333" b="1">
                  <a:solidFill>
                    <a:srgbClr val="355E3B"/>
                  </a:solidFill>
                  <a:latin typeface="Segoe UI" pitchFamily="34" charset="0"/>
                </a:rPr>
                <a:t>eigenständig</a:t>
              </a:r>
              <a:r>
                <a:rPr lang="de-DE" sz="1333">
                  <a:solidFill>
                    <a:srgbClr val="102313"/>
                  </a:solidFill>
                  <a:latin typeface="Segoe UI" pitchFamily="34" charset="0"/>
                </a:rPr>
                <a:t>. Zusammengeführt wird erst am Ende, damit das Repository stabil bleibt.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871367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3A43B4-910D-603D-8D00-7264F987C2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97B3D6A-DB38-9D61-4879-494705D13CA7}"/>
              </a:ext>
            </a:extLst>
          </p:cNvPr>
          <p:cNvSpPr/>
          <p:nvPr/>
        </p:nvSpPr>
        <p:spPr>
          <a:xfrm>
            <a:off x="609600" y="41452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3467" b="1">
                <a:solidFill>
                  <a:srgbClr val="355E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Vorgehen</a:t>
            </a:r>
            <a:endParaRPr lang="en-US" sz="3467"/>
          </a:p>
        </p:txBody>
      </p:sp>
      <p:sp>
        <p:nvSpPr>
          <p:cNvPr id="38" name="Text 29">
            <a:extLst>
              <a:ext uri="{FF2B5EF4-FFF2-40B4-BE49-F238E27FC236}">
                <a16:creationId xmlns:a16="http://schemas.microsoft.com/office/drawing/2014/main" id="{1CDBFBC5-033C-FA1B-0C5A-AA2244D415DA}"/>
              </a:ext>
            </a:extLst>
          </p:cNvPr>
          <p:cNvSpPr/>
          <p:nvPr/>
        </p:nvSpPr>
        <p:spPr>
          <a:xfrm>
            <a:off x="609600" y="6315456"/>
            <a:ext cx="243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200">
                <a:solidFill>
                  <a:srgbClr val="8A8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16.07.2026</a:t>
            </a:r>
            <a:endParaRPr lang="en-US" sz="1200"/>
          </a:p>
        </p:txBody>
      </p:sp>
      <p:sp>
        <p:nvSpPr>
          <p:cNvPr id="39" name="Text 30">
            <a:extLst>
              <a:ext uri="{FF2B5EF4-FFF2-40B4-BE49-F238E27FC236}">
                <a16:creationId xmlns:a16="http://schemas.microsoft.com/office/drawing/2014/main" id="{9006FB74-DA96-ED27-987B-6BC349E2067A}"/>
              </a:ext>
            </a:extLst>
          </p:cNvPr>
          <p:cNvSpPr/>
          <p:nvPr/>
        </p:nvSpPr>
        <p:spPr>
          <a:xfrm>
            <a:off x="3657600" y="6315456"/>
            <a:ext cx="487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>
                <a:solidFill>
                  <a:srgbClr val="8A8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Bekir, Avid, Alex, Darian, Lara P., Sheila</a:t>
            </a:r>
            <a:endParaRPr lang="en-US" sz="1200"/>
          </a:p>
        </p:txBody>
      </p:sp>
      <p:sp>
        <p:nvSpPr>
          <p:cNvPr id="40" name="Text 31">
            <a:extLst>
              <a:ext uri="{FF2B5EF4-FFF2-40B4-BE49-F238E27FC236}">
                <a16:creationId xmlns:a16="http://schemas.microsoft.com/office/drawing/2014/main" id="{ABDD7A21-3D82-E09E-2DB3-A65758471F4C}"/>
              </a:ext>
            </a:extLst>
          </p:cNvPr>
          <p:cNvSpPr/>
          <p:nvPr/>
        </p:nvSpPr>
        <p:spPr>
          <a:xfrm>
            <a:off x="11216640" y="6315456"/>
            <a:ext cx="609600" cy="365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1200">
                <a:solidFill>
                  <a:srgbClr val="8A8A8A"/>
                </a:solidFill>
                <a:latin typeface="Segoe UI"/>
                <a:cs typeface="Segoe UI"/>
              </a:rPr>
              <a:t>8</a:t>
            </a:r>
            <a:endParaRPr lang="en-US" sz="1200" dirty="0">
              <a:solidFill>
                <a:srgbClr val="8A8A8A"/>
              </a:solidFill>
              <a:latin typeface="Segoe UI"/>
              <a:cs typeface="Segoe UI"/>
            </a:endParaRPr>
          </a:p>
        </p:txBody>
      </p:sp>
      <p:pic>
        <p:nvPicPr>
          <p:cNvPr id="48" name="Grafik 47">
            <a:extLst>
              <a:ext uri="{FF2B5EF4-FFF2-40B4-BE49-F238E27FC236}">
                <a16:creationId xmlns:a16="http://schemas.microsoft.com/office/drawing/2014/main" id="{BE692515-5DBC-B4E3-CEC7-DB58B86C3A7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14" r="6977" b="678"/>
          <a:stretch>
            <a:fillRect/>
          </a:stretch>
        </p:blipFill>
        <p:spPr>
          <a:xfrm>
            <a:off x="3048000" y="981545"/>
            <a:ext cx="6760254" cy="5098429"/>
          </a:xfrm>
          <a:prstGeom prst="rect">
            <a:avLst/>
          </a:prstGeom>
        </p:spPr>
      </p:pic>
      <p:sp>
        <p:nvSpPr>
          <p:cNvPr id="930" name="Hair930">
            <a:extLst>
              <a:ext uri="{FF2B5EF4-FFF2-40B4-BE49-F238E27FC236}">
                <a16:creationId xmlns:a16="http://schemas.microsoft.com/office/drawing/2014/main" id="{AA8E7998-3BC5-4ADF-E155-6727F2CD4D6A}"/>
              </a:ext>
            </a:extLst>
          </p:cNvPr>
          <p:cNvSpPr/>
          <p:nvPr/>
        </p:nvSpPr>
        <p:spPr>
          <a:xfrm>
            <a:off x="609600" y="6233334"/>
            <a:ext cx="10972800" cy="12700"/>
          </a:xfrm>
          <a:prstGeom prst="rect">
            <a:avLst/>
          </a:prstGeom>
          <a:solidFill>
            <a:srgbClr val="DCE7DE"/>
          </a:solidFill>
          <a:ln>
            <a:noFill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e-DE" sz="3200"/>
          </a:p>
        </p:txBody>
      </p:sp>
    </p:spTree>
    <p:extLst>
      <p:ext uri="{BB962C8B-B14F-4D97-AF65-F5344CB8AC3E}">
        <p14:creationId xmlns:p14="http://schemas.microsoft.com/office/powerpoint/2010/main" val="37793350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D87977-3326-9F2C-040E-AD77422C05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44BF94E-2A47-343F-55C1-A80D7B0D0C42}"/>
              </a:ext>
            </a:extLst>
          </p:cNvPr>
          <p:cNvSpPr/>
          <p:nvPr/>
        </p:nvSpPr>
        <p:spPr>
          <a:xfrm>
            <a:off x="609600" y="41452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3467" b="1">
                <a:solidFill>
                  <a:srgbClr val="355E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Vorgehen</a:t>
            </a:r>
            <a:endParaRPr lang="en-US" sz="3467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9DD332A4-5DA2-E71C-B042-A134050FC637}"/>
              </a:ext>
            </a:extLst>
          </p:cNvPr>
          <p:cNvSpPr/>
          <p:nvPr/>
        </p:nvSpPr>
        <p:spPr>
          <a:xfrm>
            <a:off x="609600" y="1402080"/>
            <a:ext cx="10972800" cy="792480"/>
          </a:xfrm>
          <a:prstGeom prst="roundRect">
            <a:avLst>
              <a:gd name="adj" fmla="val 9231"/>
            </a:avLst>
          </a:prstGeom>
          <a:solidFill>
            <a:srgbClr val="355E3B"/>
          </a:solidFill>
          <a:ln/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e-DE" sz="320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115D2F37-F0DF-B011-5728-6D27C39C8297}"/>
              </a:ext>
            </a:extLst>
          </p:cNvPr>
          <p:cNvSpPr/>
          <p:nvPr/>
        </p:nvSpPr>
        <p:spPr>
          <a:xfrm>
            <a:off x="780288" y="1524000"/>
            <a:ext cx="536448" cy="536448"/>
          </a:xfrm>
          <a:prstGeom prst="ellipse">
            <a:avLst/>
          </a:prstGeom>
          <a:solidFill>
            <a:srgbClr val="E8985E"/>
          </a:solidFill>
          <a:ln/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e-DE" sz="3200"/>
          </a:p>
        </p:txBody>
      </p:sp>
      <p:pic>
        <p:nvPicPr>
          <p:cNvPr id="5" name="Image 0" descr="preencoded.png">
            <a:extLst>
              <a:ext uri="{FF2B5EF4-FFF2-40B4-BE49-F238E27FC236}">
                <a16:creationId xmlns:a16="http://schemas.microsoft.com/office/drawing/2014/main" id="{325ED5BE-58A4-A48A-9EE5-C7E9FE3028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9765" y="1663477"/>
            <a:ext cx="257495" cy="257495"/>
          </a:xfrm>
          <a:prstGeom prst="rect">
            <a:avLst/>
          </a:prstGeom>
        </p:spPr>
      </p:pic>
      <p:sp>
        <p:nvSpPr>
          <p:cNvPr id="6" name="Text 3">
            <a:extLst>
              <a:ext uri="{FF2B5EF4-FFF2-40B4-BE49-F238E27FC236}">
                <a16:creationId xmlns:a16="http://schemas.microsoft.com/office/drawing/2014/main" id="{64680EA0-A275-05AA-6070-DA381103A0E4}"/>
              </a:ext>
            </a:extLst>
          </p:cNvPr>
          <p:cNvSpPr/>
          <p:nvPr/>
        </p:nvSpPr>
        <p:spPr>
          <a:xfrm>
            <a:off x="1487424" y="1402080"/>
            <a:ext cx="996950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467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Zuerst geplant: </a:t>
            </a:r>
            <a:r>
              <a:rPr lang="en-US" sz="1467">
                <a:solidFill>
                  <a:srgbClr val="DCE7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API-Endpunkte, Datenbankschema und Struktur – </a:t>
            </a:r>
            <a:r>
              <a:rPr lang="en-US" sz="1467" b="1" i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bevor</a:t>
            </a:r>
            <a:r>
              <a:rPr lang="en-US" sz="1467">
                <a:solidFill>
                  <a:srgbClr val="DCE7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wir angefangen haben zu coden.</a:t>
            </a:r>
            <a:endParaRPr lang="en-US" sz="1467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738D766E-9655-B2E8-520E-DA7EFCED33C4}"/>
              </a:ext>
            </a:extLst>
          </p:cNvPr>
          <p:cNvSpPr/>
          <p:nvPr/>
        </p:nvSpPr>
        <p:spPr>
          <a:xfrm>
            <a:off x="609600" y="2377440"/>
            <a:ext cx="615696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400" i="1">
                <a:solidFill>
                  <a:srgbClr val="5D5D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 Feature ein wiederholter Loop:</a:t>
            </a:r>
            <a:endParaRPr lang="en-US" sz="1400"/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195BF053-B0AA-4C04-FED1-1C96585C9D11}"/>
              </a:ext>
            </a:extLst>
          </p:cNvPr>
          <p:cNvSpPr/>
          <p:nvPr/>
        </p:nvSpPr>
        <p:spPr>
          <a:xfrm>
            <a:off x="609600" y="2779776"/>
            <a:ext cx="6485302" cy="463296"/>
          </a:xfrm>
          <a:prstGeom prst="roundRect">
            <a:avLst>
              <a:gd name="adj" fmla="val 13158"/>
            </a:avLst>
          </a:prstGeom>
          <a:solidFill>
            <a:srgbClr val="F3F6F3"/>
          </a:solidFill>
          <a:ln w="12700">
            <a:solidFill>
              <a:srgbClr val="CED2CE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e-DE" sz="3200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A3C67D4C-0E45-2B47-E2B3-773CFE616984}"/>
              </a:ext>
            </a:extLst>
          </p:cNvPr>
          <p:cNvSpPr/>
          <p:nvPr/>
        </p:nvSpPr>
        <p:spPr>
          <a:xfrm>
            <a:off x="731520" y="2840736"/>
            <a:ext cx="341376" cy="341376"/>
          </a:xfrm>
          <a:prstGeom prst="ellipse">
            <a:avLst/>
          </a:prstGeom>
          <a:solidFill>
            <a:srgbClr val="E8985E"/>
          </a:solidFill>
          <a:ln/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e-DE" sz="3200"/>
          </a:p>
        </p:txBody>
      </p:sp>
      <p:pic>
        <p:nvPicPr>
          <p:cNvPr id="10" name="Image 1" descr="preencoded.png">
            <a:extLst>
              <a:ext uri="{FF2B5EF4-FFF2-40B4-BE49-F238E27FC236}">
                <a16:creationId xmlns:a16="http://schemas.microsoft.com/office/drawing/2014/main" id="{83DBF992-6A8F-7CCE-1963-EE53EFBD7D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0278" y="2929494"/>
            <a:ext cx="163860" cy="163860"/>
          </a:xfrm>
          <a:prstGeom prst="rect">
            <a:avLst/>
          </a:prstGeom>
        </p:spPr>
      </p:pic>
      <p:sp>
        <p:nvSpPr>
          <p:cNvPr id="11" name="Text 7">
            <a:extLst>
              <a:ext uri="{FF2B5EF4-FFF2-40B4-BE49-F238E27FC236}">
                <a16:creationId xmlns:a16="http://schemas.microsoft.com/office/drawing/2014/main" id="{DE2D2D72-A0F4-93E8-58C8-716493EC0D34}"/>
              </a:ext>
            </a:extLst>
          </p:cNvPr>
          <p:cNvSpPr/>
          <p:nvPr/>
        </p:nvSpPr>
        <p:spPr>
          <a:xfrm>
            <a:off x="1341120" y="2779776"/>
            <a:ext cx="530352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533" b="1">
                <a:solidFill>
                  <a:srgbClr val="355E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Aufgabe vom Kanban-Board</a:t>
            </a:r>
            <a:endParaRPr lang="en-US" sz="1533"/>
          </a:p>
        </p:txBody>
      </p:sp>
      <p:sp>
        <p:nvSpPr>
          <p:cNvPr id="13" name="Shape 9">
            <a:extLst>
              <a:ext uri="{FF2B5EF4-FFF2-40B4-BE49-F238E27FC236}">
                <a16:creationId xmlns:a16="http://schemas.microsoft.com/office/drawing/2014/main" id="{A30DE5FD-BC05-F6D0-8A62-EB39E1F427AA}"/>
              </a:ext>
            </a:extLst>
          </p:cNvPr>
          <p:cNvSpPr/>
          <p:nvPr/>
        </p:nvSpPr>
        <p:spPr>
          <a:xfrm>
            <a:off x="609600" y="3316224"/>
            <a:ext cx="6485302" cy="463296"/>
          </a:xfrm>
          <a:prstGeom prst="roundRect">
            <a:avLst>
              <a:gd name="adj" fmla="val 13158"/>
            </a:avLst>
          </a:prstGeom>
          <a:solidFill>
            <a:srgbClr val="F3F6F3"/>
          </a:solidFill>
          <a:ln w="12700">
            <a:solidFill>
              <a:srgbClr val="CED2CE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e-DE" sz="3200"/>
          </a:p>
        </p:txBody>
      </p:sp>
      <p:sp>
        <p:nvSpPr>
          <p:cNvPr id="14" name="Shape 10">
            <a:extLst>
              <a:ext uri="{FF2B5EF4-FFF2-40B4-BE49-F238E27FC236}">
                <a16:creationId xmlns:a16="http://schemas.microsoft.com/office/drawing/2014/main" id="{CA3A5504-8D60-2CDC-3C0C-33D122793E3F}"/>
              </a:ext>
            </a:extLst>
          </p:cNvPr>
          <p:cNvSpPr/>
          <p:nvPr/>
        </p:nvSpPr>
        <p:spPr>
          <a:xfrm>
            <a:off x="731520" y="3377184"/>
            <a:ext cx="341376" cy="341376"/>
          </a:xfrm>
          <a:prstGeom prst="ellipse">
            <a:avLst/>
          </a:prstGeom>
          <a:solidFill>
            <a:srgbClr val="E8985E"/>
          </a:solidFill>
          <a:ln/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e-DE" sz="3200"/>
          </a:p>
        </p:txBody>
      </p:sp>
      <p:pic>
        <p:nvPicPr>
          <p:cNvPr id="15" name="Image 2" descr="preencoded.png">
            <a:extLst>
              <a:ext uri="{FF2B5EF4-FFF2-40B4-BE49-F238E27FC236}">
                <a16:creationId xmlns:a16="http://schemas.microsoft.com/office/drawing/2014/main" id="{AEE370EF-FC3C-3EB4-34A1-6BA251DA318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0278" y="3465942"/>
            <a:ext cx="163860" cy="163860"/>
          </a:xfrm>
          <a:prstGeom prst="rect">
            <a:avLst/>
          </a:prstGeom>
        </p:spPr>
      </p:pic>
      <p:sp>
        <p:nvSpPr>
          <p:cNvPr id="16" name="Text 11">
            <a:extLst>
              <a:ext uri="{FF2B5EF4-FFF2-40B4-BE49-F238E27FC236}">
                <a16:creationId xmlns:a16="http://schemas.microsoft.com/office/drawing/2014/main" id="{31FD6D66-0B72-C1A4-1B17-111EB69286FE}"/>
              </a:ext>
            </a:extLst>
          </p:cNvPr>
          <p:cNvSpPr/>
          <p:nvPr/>
        </p:nvSpPr>
        <p:spPr>
          <a:xfrm>
            <a:off x="1341120" y="3316224"/>
            <a:ext cx="530352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533" b="1">
                <a:solidFill>
                  <a:srgbClr val="355E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Endpoint bauen</a:t>
            </a:r>
            <a:endParaRPr lang="en-US" sz="1533"/>
          </a:p>
        </p:txBody>
      </p:sp>
      <p:sp>
        <p:nvSpPr>
          <p:cNvPr id="18" name="Shape 13">
            <a:extLst>
              <a:ext uri="{FF2B5EF4-FFF2-40B4-BE49-F238E27FC236}">
                <a16:creationId xmlns:a16="http://schemas.microsoft.com/office/drawing/2014/main" id="{A5522D3E-A0AD-9A51-9894-559D0A590228}"/>
              </a:ext>
            </a:extLst>
          </p:cNvPr>
          <p:cNvSpPr/>
          <p:nvPr/>
        </p:nvSpPr>
        <p:spPr>
          <a:xfrm>
            <a:off x="609600" y="3852672"/>
            <a:ext cx="6485302" cy="463296"/>
          </a:xfrm>
          <a:prstGeom prst="roundRect">
            <a:avLst>
              <a:gd name="adj" fmla="val 13158"/>
            </a:avLst>
          </a:prstGeom>
          <a:solidFill>
            <a:srgbClr val="F3F6F3"/>
          </a:solidFill>
          <a:ln w="12700">
            <a:solidFill>
              <a:srgbClr val="CED2CE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e-DE" sz="3200"/>
          </a:p>
        </p:txBody>
      </p:sp>
      <p:sp>
        <p:nvSpPr>
          <p:cNvPr id="19" name="Shape 14">
            <a:extLst>
              <a:ext uri="{FF2B5EF4-FFF2-40B4-BE49-F238E27FC236}">
                <a16:creationId xmlns:a16="http://schemas.microsoft.com/office/drawing/2014/main" id="{B4162976-8271-D31E-EFD1-BA735FF22D50}"/>
              </a:ext>
            </a:extLst>
          </p:cNvPr>
          <p:cNvSpPr/>
          <p:nvPr/>
        </p:nvSpPr>
        <p:spPr>
          <a:xfrm>
            <a:off x="731520" y="3913632"/>
            <a:ext cx="341376" cy="341376"/>
          </a:xfrm>
          <a:prstGeom prst="ellipse">
            <a:avLst/>
          </a:prstGeom>
          <a:solidFill>
            <a:srgbClr val="E8985E"/>
          </a:solidFill>
          <a:ln/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e-DE" sz="3200"/>
          </a:p>
        </p:txBody>
      </p:sp>
      <p:pic>
        <p:nvPicPr>
          <p:cNvPr id="20" name="Image 3" descr="preencoded.png">
            <a:extLst>
              <a:ext uri="{FF2B5EF4-FFF2-40B4-BE49-F238E27FC236}">
                <a16:creationId xmlns:a16="http://schemas.microsoft.com/office/drawing/2014/main" id="{9235D97F-C16D-E254-EED0-0486C769308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0278" y="4002390"/>
            <a:ext cx="163860" cy="163860"/>
          </a:xfrm>
          <a:prstGeom prst="rect">
            <a:avLst/>
          </a:prstGeom>
        </p:spPr>
      </p:pic>
      <p:sp>
        <p:nvSpPr>
          <p:cNvPr id="21" name="Text 15">
            <a:extLst>
              <a:ext uri="{FF2B5EF4-FFF2-40B4-BE49-F238E27FC236}">
                <a16:creationId xmlns:a16="http://schemas.microsoft.com/office/drawing/2014/main" id="{FD50311B-1901-E7D5-5B1C-22EFB919C558}"/>
              </a:ext>
            </a:extLst>
          </p:cNvPr>
          <p:cNvSpPr/>
          <p:nvPr/>
        </p:nvSpPr>
        <p:spPr>
          <a:xfrm>
            <a:off x="1341120" y="3852672"/>
            <a:ext cx="530352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533" b="1">
                <a:solidFill>
                  <a:srgbClr val="355E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Sofort in Bruno testen</a:t>
            </a:r>
            <a:endParaRPr lang="en-US" sz="1533"/>
          </a:p>
        </p:txBody>
      </p:sp>
      <p:sp>
        <p:nvSpPr>
          <p:cNvPr id="23" name="Shape 17">
            <a:extLst>
              <a:ext uri="{FF2B5EF4-FFF2-40B4-BE49-F238E27FC236}">
                <a16:creationId xmlns:a16="http://schemas.microsoft.com/office/drawing/2014/main" id="{FCE0A59E-D5A1-8110-881E-3148AB1D6B9F}"/>
              </a:ext>
            </a:extLst>
          </p:cNvPr>
          <p:cNvSpPr/>
          <p:nvPr/>
        </p:nvSpPr>
        <p:spPr>
          <a:xfrm>
            <a:off x="609600" y="4389120"/>
            <a:ext cx="6485302" cy="463296"/>
          </a:xfrm>
          <a:prstGeom prst="roundRect">
            <a:avLst>
              <a:gd name="adj" fmla="val 13158"/>
            </a:avLst>
          </a:prstGeom>
          <a:solidFill>
            <a:srgbClr val="F3F6F3"/>
          </a:solidFill>
          <a:ln w="12700">
            <a:solidFill>
              <a:srgbClr val="CED2CE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e-DE" sz="3200"/>
          </a:p>
        </p:txBody>
      </p:sp>
      <p:sp>
        <p:nvSpPr>
          <p:cNvPr id="24" name="Shape 18">
            <a:extLst>
              <a:ext uri="{FF2B5EF4-FFF2-40B4-BE49-F238E27FC236}">
                <a16:creationId xmlns:a16="http://schemas.microsoft.com/office/drawing/2014/main" id="{9B8152B2-E49D-6A23-3252-6014BD243E28}"/>
              </a:ext>
            </a:extLst>
          </p:cNvPr>
          <p:cNvSpPr/>
          <p:nvPr/>
        </p:nvSpPr>
        <p:spPr>
          <a:xfrm>
            <a:off x="731520" y="4450080"/>
            <a:ext cx="341376" cy="341376"/>
          </a:xfrm>
          <a:prstGeom prst="ellipse">
            <a:avLst/>
          </a:prstGeom>
          <a:solidFill>
            <a:srgbClr val="E8985E"/>
          </a:solidFill>
          <a:ln/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e-DE" sz="3200"/>
          </a:p>
        </p:txBody>
      </p:sp>
      <p:pic>
        <p:nvPicPr>
          <p:cNvPr id="25" name="Image 4" descr="preencoded.png">
            <a:extLst>
              <a:ext uri="{FF2B5EF4-FFF2-40B4-BE49-F238E27FC236}">
                <a16:creationId xmlns:a16="http://schemas.microsoft.com/office/drawing/2014/main" id="{E7B8C364-82C7-437A-538F-8EEBD41B1D1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0278" y="4538838"/>
            <a:ext cx="163860" cy="163860"/>
          </a:xfrm>
          <a:prstGeom prst="rect">
            <a:avLst/>
          </a:prstGeom>
        </p:spPr>
      </p:pic>
      <p:sp>
        <p:nvSpPr>
          <p:cNvPr id="26" name="Text 19">
            <a:extLst>
              <a:ext uri="{FF2B5EF4-FFF2-40B4-BE49-F238E27FC236}">
                <a16:creationId xmlns:a16="http://schemas.microsoft.com/office/drawing/2014/main" id="{650598F8-5D81-A8D1-3E34-313017994B85}"/>
              </a:ext>
            </a:extLst>
          </p:cNvPr>
          <p:cNvSpPr/>
          <p:nvPr/>
        </p:nvSpPr>
        <p:spPr>
          <a:xfrm>
            <a:off x="1341120" y="4389120"/>
            <a:ext cx="530352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533" b="1">
                <a:solidFill>
                  <a:srgbClr val="355E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Konzept.md aktualisieren</a:t>
            </a:r>
            <a:endParaRPr lang="en-US" sz="1533"/>
          </a:p>
        </p:txBody>
      </p:sp>
      <p:sp>
        <p:nvSpPr>
          <p:cNvPr id="28" name="Shape 21">
            <a:extLst>
              <a:ext uri="{FF2B5EF4-FFF2-40B4-BE49-F238E27FC236}">
                <a16:creationId xmlns:a16="http://schemas.microsoft.com/office/drawing/2014/main" id="{FBE88BEB-E2F7-A6F2-511A-843E8E44BD9A}"/>
              </a:ext>
            </a:extLst>
          </p:cNvPr>
          <p:cNvSpPr/>
          <p:nvPr/>
        </p:nvSpPr>
        <p:spPr>
          <a:xfrm>
            <a:off x="609600" y="4925568"/>
            <a:ext cx="6485302" cy="463296"/>
          </a:xfrm>
          <a:prstGeom prst="roundRect">
            <a:avLst>
              <a:gd name="adj" fmla="val 13158"/>
            </a:avLst>
          </a:prstGeom>
          <a:solidFill>
            <a:srgbClr val="F3F6F3"/>
          </a:solidFill>
          <a:ln w="12700">
            <a:solidFill>
              <a:srgbClr val="CED2CE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e-DE" sz="3200"/>
          </a:p>
        </p:txBody>
      </p:sp>
      <p:sp>
        <p:nvSpPr>
          <p:cNvPr id="29" name="Shape 22">
            <a:extLst>
              <a:ext uri="{FF2B5EF4-FFF2-40B4-BE49-F238E27FC236}">
                <a16:creationId xmlns:a16="http://schemas.microsoft.com/office/drawing/2014/main" id="{4DE80F6A-4003-82C6-4EE6-961A46E23FDE}"/>
              </a:ext>
            </a:extLst>
          </p:cNvPr>
          <p:cNvSpPr/>
          <p:nvPr/>
        </p:nvSpPr>
        <p:spPr>
          <a:xfrm>
            <a:off x="731520" y="4986528"/>
            <a:ext cx="341376" cy="341376"/>
          </a:xfrm>
          <a:prstGeom prst="ellipse">
            <a:avLst/>
          </a:prstGeom>
          <a:solidFill>
            <a:srgbClr val="E8985E"/>
          </a:solidFill>
          <a:ln/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e-DE" sz="3200"/>
          </a:p>
        </p:txBody>
      </p:sp>
      <p:pic>
        <p:nvPicPr>
          <p:cNvPr id="30" name="Image 5" descr="preencoded.png">
            <a:extLst>
              <a:ext uri="{FF2B5EF4-FFF2-40B4-BE49-F238E27FC236}">
                <a16:creationId xmlns:a16="http://schemas.microsoft.com/office/drawing/2014/main" id="{1BD571EA-D4A9-B75A-0E52-F563A7DCF64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0278" y="5075286"/>
            <a:ext cx="163860" cy="163860"/>
          </a:xfrm>
          <a:prstGeom prst="rect">
            <a:avLst/>
          </a:prstGeom>
        </p:spPr>
      </p:pic>
      <p:sp>
        <p:nvSpPr>
          <p:cNvPr id="31" name="Text 23">
            <a:extLst>
              <a:ext uri="{FF2B5EF4-FFF2-40B4-BE49-F238E27FC236}">
                <a16:creationId xmlns:a16="http://schemas.microsoft.com/office/drawing/2014/main" id="{466D836A-B5C2-3CB3-F69E-DAFFE4417015}"/>
              </a:ext>
            </a:extLst>
          </p:cNvPr>
          <p:cNvSpPr/>
          <p:nvPr/>
        </p:nvSpPr>
        <p:spPr>
          <a:xfrm>
            <a:off x="1341120" y="4925568"/>
            <a:ext cx="530352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533" b="1">
                <a:solidFill>
                  <a:srgbClr val="355E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Zusammenführen</a:t>
            </a:r>
            <a:endParaRPr lang="en-US" sz="1533"/>
          </a:p>
        </p:txBody>
      </p:sp>
      <p:sp>
        <p:nvSpPr>
          <p:cNvPr id="38" name="Text 29">
            <a:extLst>
              <a:ext uri="{FF2B5EF4-FFF2-40B4-BE49-F238E27FC236}">
                <a16:creationId xmlns:a16="http://schemas.microsoft.com/office/drawing/2014/main" id="{E8B7C539-7175-4BF0-2BD7-6E2339D6906F}"/>
              </a:ext>
            </a:extLst>
          </p:cNvPr>
          <p:cNvSpPr/>
          <p:nvPr/>
        </p:nvSpPr>
        <p:spPr>
          <a:xfrm>
            <a:off x="609600" y="6315456"/>
            <a:ext cx="243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200">
                <a:solidFill>
                  <a:srgbClr val="8A8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16.07.2026</a:t>
            </a:r>
            <a:endParaRPr lang="en-US" sz="1200"/>
          </a:p>
        </p:txBody>
      </p:sp>
      <p:sp>
        <p:nvSpPr>
          <p:cNvPr id="39" name="Text 30">
            <a:extLst>
              <a:ext uri="{FF2B5EF4-FFF2-40B4-BE49-F238E27FC236}">
                <a16:creationId xmlns:a16="http://schemas.microsoft.com/office/drawing/2014/main" id="{33390D7C-D08A-BA4F-6F55-6CF8456931A1}"/>
              </a:ext>
            </a:extLst>
          </p:cNvPr>
          <p:cNvSpPr/>
          <p:nvPr/>
        </p:nvSpPr>
        <p:spPr>
          <a:xfrm>
            <a:off x="3657600" y="6315456"/>
            <a:ext cx="487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>
                <a:solidFill>
                  <a:srgbClr val="8A8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Bekir, Avid, Alex, Darian, Lara P., Sheila</a:t>
            </a:r>
            <a:endParaRPr lang="en-US" sz="1200"/>
          </a:p>
        </p:txBody>
      </p:sp>
      <p:sp>
        <p:nvSpPr>
          <p:cNvPr id="40" name="Text 31">
            <a:extLst>
              <a:ext uri="{FF2B5EF4-FFF2-40B4-BE49-F238E27FC236}">
                <a16:creationId xmlns:a16="http://schemas.microsoft.com/office/drawing/2014/main" id="{0FE48BB6-1292-5E11-9009-67942ECDBEB5}"/>
              </a:ext>
            </a:extLst>
          </p:cNvPr>
          <p:cNvSpPr/>
          <p:nvPr/>
        </p:nvSpPr>
        <p:spPr>
          <a:xfrm>
            <a:off x="11216640" y="6315456"/>
            <a:ext cx="609600" cy="365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1200">
                <a:solidFill>
                  <a:srgbClr val="8A8A8A"/>
                </a:solidFill>
                <a:latin typeface="Segoe UI"/>
                <a:cs typeface="Segoe UI"/>
              </a:rPr>
              <a:t>9</a:t>
            </a:r>
            <a:endParaRPr lang="en-US" sz="1200" dirty="0">
              <a:solidFill>
                <a:srgbClr val="8A8A8A"/>
              </a:solidFill>
              <a:latin typeface="Segoe UI"/>
              <a:cs typeface="Segoe UI"/>
            </a:endParaRPr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6E32BB10-1AB0-D992-E9FE-AD481E4D23BA}"/>
              </a:ext>
            </a:extLst>
          </p:cNvPr>
          <p:cNvSpPr/>
          <p:nvPr/>
        </p:nvSpPr>
        <p:spPr>
          <a:xfrm>
            <a:off x="853440" y="3218688"/>
            <a:ext cx="365760" cy="12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333" b="1">
                <a:solidFill>
                  <a:srgbClr val="E898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↓</a:t>
            </a:r>
            <a:endParaRPr lang="en-US" sz="1333"/>
          </a:p>
        </p:txBody>
      </p:sp>
      <p:sp>
        <p:nvSpPr>
          <p:cNvPr id="17" name="Text 12">
            <a:extLst>
              <a:ext uri="{FF2B5EF4-FFF2-40B4-BE49-F238E27FC236}">
                <a16:creationId xmlns:a16="http://schemas.microsoft.com/office/drawing/2014/main" id="{C1DDA871-039C-68F1-0E89-F0B434F71DEA}"/>
              </a:ext>
            </a:extLst>
          </p:cNvPr>
          <p:cNvSpPr/>
          <p:nvPr/>
        </p:nvSpPr>
        <p:spPr>
          <a:xfrm>
            <a:off x="853440" y="3755136"/>
            <a:ext cx="365760" cy="12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333" b="1">
                <a:solidFill>
                  <a:srgbClr val="E898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↓</a:t>
            </a:r>
            <a:endParaRPr lang="en-US" sz="1333"/>
          </a:p>
        </p:txBody>
      </p:sp>
      <p:sp>
        <p:nvSpPr>
          <p:cNvPr id="22" name="Text 16">
            <a:extLst>
              <a:ext uri="{FF2B5EF4-FFF2-40B4-BE49-F238E27FC236}">
                <a16:creationId xmlns:a16="http://schemas.microsoft.com/office/drawing/2014/main" id="{E490F5DF-A2C0-9B64-1A03-7E87F4EAE0EE}"/>
              </a:ext>
            </a:extLst>
          </p:cNvPr>
          <p:cNvSpPr/>
          <p:nvPr/>
        </p:nvSpPr>
        <p:spPr>
          <a:xfrm>
            <a:off x="853440" y="4291584"/>
            <a:ext cx="365760" cy="12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333" b="1">
                <a:solidFill>
                  <a:srgbClr val="E898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↓</a:t>
            </a:r>
            <a:endParaRPr lang="en-US" sz="1333"/>
          </a:p>
        </p:txBody>
      </p:sp>
      <p:sp>
        <p:nvSpPr>
          <p:cNvPr id="27" name="Text 20">
            <a:extLst>
              <a:ext uri="{FF2B5EF4-FFF2-40B4-BE49-F238E27FC236}">
                <a16:creationId xmlns:a16="http://schemas.microsoft.com/office/drawing/2014/main" id="{443F6358-4015-ECC0-366B-EC1B939DD0B4}"/>
              </a:ext>
            </a:extLst>
          </p:cNvPr>
          <p:cNvSpPr/>
          <p:nvPr/>
        </p:nvSpPr>
        <p:spPr>
          <a:xfrm>
            <a:off x="853440" y="4828032"/>
            <a:ext cx="365760" cy="12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333" b="1">
                <a:solidFill>
                  <a:srgbClr val="E898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↓</a:t>
            </a:r>
            <a:endParaRPr lang="en-US" sz="1333"/>
          </a:p>
        </p:txBody>
      </p:sp>
      <p:sp>
        <p:nvSpPr>
          <p:cNvPr id="920" name="Accent920">
            <a:extLst>
              <a:ext uri="{FF2B5EF4-FFF2-40B4-BE49-F238E27FC236}">
                <a16:creationId xmlns:a16="http://schemas.microsoft.com/office/drawing/2014/main" id="{0958CC8A-0F41-5927-995B-4F237D81D471}"/>
              </a:ext>
            </a:extLst>
          </p:cNvPr>
          <p:cNvSpPr/>
          <p:nvPr/>
        </p:nvSpPr>
        <p:spPr>
          <a:xfrm>
            <a:off x="609600" y="2840736"/>
            <a:ext cx="73152" cy="341376"/>
          </a:xfrm>
          <a:prstGeom prst="roundRect">
            <a:avLst>
              <a:gd name="adj" fmla="val 45000"/>
            </a:avLst>
          </a:prstGeom>
          <a:solidFill>
            <a:srgbClr val="E8985E"/>
          </a:solidFill>
          <a:ln>
            <a:noFill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e-DE" sz="3200"/>
          </a:p>
        </p:txBody>
      </p:sp>
      <p:sp>
        <p:nvSpPr>
          <p:cNvPr id="921" name="Accent921">
            <a:extLst>
              <a:ext uri="{FF2B5EF4-FFF2-40B4-BE49-F238E27FC236}">
                <a16:creationId xmlns:a16="http://schemas.microsoft.com/office/drawing/2014/main" id="{16063F70-D55E-0DCC-77BE-8A0933E5A4DA}"/>
              </a:ext>
            </a:extLst>
          </p:cNvPr>
          <p:cNvSpPr/>
          <p:nvPr/>
        </p:nvSpPr>
        <p:spPr>
          <a:xfrm>
            <a:off x="609600" y="3377184"/>
            <a:ext cx="73152" cy="341376"/>
          </a:xfrm>
          <a:prstGeom prst="roundRect">
            <a:avLst>
              <a:gd name="adj" fmla="val 45000"/>
            </a:avLst>
          </a:prstGeom>
          <a:solidFill>
            <a:srgbClr val="E8985E"/>
          </a:solidFill>
          <a:ln>
            <a:noFill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e-DE" sz="3200"/>
          </a:p>
        </p:txBody>
      </p:sp>
      <p:sp>
        <p:nvSpPr>
          <p:cNvPr id="922" name="Accent922">
            <a:extLst>
              <a:ext uri="{FF2B5EF4-FFF2-40B4-BE49-F238E27FC236}">
                <a16:creationId xmlns:a16="http://schemas.microsoft.com/office/drawing/2014/main" id="{5E9228DB-E81C-70B0-0358-05B663D40CB0}"/>
              </a:ext>
            </a:extLst>
          </p:cNvPr>
          <p:cNvSpPr/>
          <p:nvPr/>
        </p:nvSpPr>
        <p:spPr>
          <a:xfrm>
            <a:off x="609600" y="3913632"/>
            <a:ext cx="73152" cy="341376"/>
          </a:xfrm>
          <a:prstGeom prst="roundRect">
            <a:avLst>
              <a:gd name="adj" fmla="val 45000"/>
            </a:avLst>
          </a:prstGeom>
          <a:solidFill>
            <a:srgbClr val="E8985E"/>
          </a:solidFill>
          <a:ln>
            <a:noFill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e-DE" sz="3200"/>
          </a:p>
        </p:txBody>
      </p:sp>
      <p:sp>
        <p:nvSpPr>
          <p:cNvPr id="923" name="Accent923">
            <a:extLst>
              <a:ext uri="{FF2B5EF4-FFF2-40B4-BE49-F238E27FC236}">
                <a16:creationId xmlns:a16="http://schemas.microsoft.com/office/drawing/2014/main" id="{9EDD51F4-3B17-0D38-9DD9-77189B1F4C1F}"/>
              </a:ext>
            </a:extLst>
          </p:cNvPr>
          <p:cNvSpPr/>
          <p:nvPr/>
        </p:nvSpPr>
        <p:spPr>
          <a:xfrm>
            <a:off x="609600" y="4450080"/>
            <a:ext cx="73152" cy="341376"/>
          </a:xfrm>
          <a:prstGeom prst="roundRect">
            <a:avLst>
              <a:gd name="adj" fmla="val 45000"/>
            </a:avLst>
          </a:prstGeom>
          <a:solidFill>
            <a:srgbClr val="E8985E"/>
          </a:solidFill>
          <a:ln>
            <a:noFill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e-DE" sz="3200"/>
          </a:p>
        </p:txBody>
      </p:sp>
      <p:sp>
        <p:nvSpPr>
          <p:cNvPr id="924" name="Accent924">
            <a:extLst>
              <a:ext uri="{FF2B5EF4-FFF2-40B4-BE49-F238E27FC236}">
                <a16:creationId xmlns:a16="http://schemas.microsoft.com/office/drawing/2014/main" id="{D933FB31-67E8-FC56-9611-1A191AD1FB84}"/>
              </a:ext>
            </a:extLst>
          </p:cNvPr>
          <p:cNvSpPr/>
          <p:nvPr/>
        </p:nvSpPr>
        <p:spPr>
          <a:xfrm>
            <a:off x="609600" y="4986528"/>
            <a:ext cx="73152" cy="341376"/>
          </a:xfrm>
          <a:prstGeom prst="roundRect">
            <a:avLst>
              <a:gd name="adj" fmla="val 45000"/>
            </a:avLst>
          </a:prstGeom>
          <a:solidFill>
            <a:srgbClr val="E8985E"/>
          </a:solidFill>
          <a:ln>
            <a:noFill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e-DE" sz="3200"/>
          </a:p>
        </p:txBody>
      </p:sp>
      <p:sp>
        <p:nvSpPr>
          <p:cNvPr id="930" name="Hair930">
            <a:extLst>
              <a:ext uri="{FF2B5EF4-FFF2-40B4-BE49-F238E27FC236}">
                <a16:creationId xmlns:a16="http://schemas.microsoft.com/office/drawing/2014/main" id="{AEE3B62C-E7EF-AC61-DD13-1D15B13DFCB0}"/>
              </a:ext>
            </a:extLst>
          </p:cNvPr>
          <p:cNvSpPr/>
          <p:nvPr/>
        </p:nvSpPr>
        <p:spPr>
          <a:xfrm>
            <a:off x="609600" y="6233334"/>
            <a:ext cx="10972800" cy="12700"/>
          </a:xfrm>
          <a:prstGeom prst="rect">
            <a:avLst/>
          </a:prstGeom>
          <a:solidFill>
            <a:srgbClr val="DCE7DE"/>
          </a:solidFill>
          <a:ln>
            <a:noFill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e-DE" sz="3200"/>
          </a:p>
        </p:txBody>
      </p:sp>
      <p:grpSp>
        <p:nvGrpSpPr>
          <p:cNvPr id="36" name="Gruppieren 35">
            <a:extLst>
              <a:ext uri="{FF2B5EF4-FFF2-40B4-BE49-F238E27FC236}">
                <a16:creationId xmlns:a16="http://schemas.microsoft.com/office/drawing/2014/main" id="{90E93A89-5D22-05A1-AAC2-9DB4A8013374}"/>
              </a:ext>
            </a:extLst>
          </p:cNvPr>
          <p:cNvGrpSpPr/>
          <p:nvPr/>
        </p:nvGrpSpPr>
        <p:grpSpPr>
          <a:xfrm>
            <a:off x="7595037" y="3039030"/>
            <a:ext cx="3621603" cy="1875557"/>
            <a:chOff x="7048500" y="2390140"/>
            <a:chExt cx="4533900" cy="2994660"/>
          </a:xfrm>
        </p:grpSpPr>
        <p:sp>
          <p:nvSpPr>
            <p:cNvPr id="33" name="GitCard">
              <a:extLst>
                <a:ext uri="{FF2B5EF4-FFF2-40B4-BE49-F238E27FC236}">
                  <a16:creationId xmlns:a16="http://schemas.microsoft.com/office/drawing/2014/main" id="{ECDADBB7-0B4D-1CE1-19C9-EBDE6EE04AB1}"/>
                </a:ext>
              </a:extLst>
            </p:cNvPr>
            <p:cNvSpPr/>
            <p:nvPr/>
          </p:nvSpPr>
          <p:spPr>
            <a:xfrm>
              <a:off x="7048500" y="2390140"/>
              <a:ext cx="4533900" cy="2994660"/>
            </a:xfrm>
            <a:prstGeom prst="roundRect">
              <a:avLst/>
            </a:prstGeom>
            <a:solidFill>
              <a:srgbClr val="EEF3E8"/>
            </a:solidFill>
            <a:ln w="9525" cap="flat" cmpd="sng" algn="ctr">
              <a:solidFill>
                <a:srgbClr val="355E3B">
                  <a:alpha val="40000"/>
                </a:srgb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de-DE"/>
            </a:p>
          </p:txBody>
        </p:sp>
        <p:sp>
          <p:nvSpPr>
            <p:cNvPr id="34" name="GitHeader">
              <a:extLst>
                <a:ext uri="{FF2B5EF4-FFF2-40B4-BE49-F238E27FC236}">
                  <a16:creationId xmlns:a16="http://schemas.microsoft.com/office/drawing/2014/main" id="{9355BE7D-8CE9-A1AA-6BFD-C05F60E8981F}"/>
                </a:ext>
              </a:extLst>
            </p:cNvPr>
            <p:cNvSpPr txBox="1"/>
            <p:nvPr/>
          </p:nvSpPr>
          <p:spPr>
            <a:xfrm>
              <a:off x="7170420" y="2779931"/>
              <a:ext cx="4196080" cy="406401"/>
            </a:xfrm>
            <a:prstGeom prst="rect">
              <a:avLst/>
            </a:prstGeom>
            <a:noFill/>
          </p:spPr>
          <p:txBody>
            <a:bodyPr vertOverflow="overflow" vert="horz" wrap="none" rtlCol="0" anchor="ctr" anchorCtr="0">
              <a:noAutofit/>
            </a:bodyPr>
            <a:lstStyle/>
            <a:p>
              <a:pPr algn="ctr"/>
              <a:r>
                <a:rPr lang="de-DE" b="1" err="1">
                  <a:solidFill>
                    <a:srgbClr val="355E3B"/>
                  </a:solidFill>
                  <a:latin typeface="Segoe UI"/>
                  <a:cs typeface="Segoe UI"/>
                </a:rPr>
                <a:t>Git</a:t>
              </a:r>
              <a:r>
                <a:rPr lang="de-DE" b="1">
                  <a:solidFill>
                    <a:srgbClr val="355E3B"/>
                  </a:solidFill>
                  <a:latin typeface="Segoe UI"/>
                  <a:cs typeface="Segoe UI"/>
                </a:rPr>
                <a:t>-Strategie</a:t>
              </a:r>
            </a:p>
          </p:txBody>
        </p:sp>
        <p:sp>
          <p:nvSpPr>
            <p:cNvPr id="32" name="Text 24">
              <a:extLst>
                <a:ext uri="{FF2B5EF4-FFF2-40B4-BE49-F238E27FC236}">
                  <a16:creationId xmlns:a16="http://schemas.microsoft.com/office/drawing/2014/main" id="{DEC99B61-CE0B-B4CF-BE67-B53173DC37C6}"/>
                </a:ext>
              </a:extLst>
            </p:cNvPr>
            <p:cNvSpPr/>
            <p:nvPr/>
          </p:nvSpPr>
          <p:spPr>
            <a:xfrm>
              <a:off x="7277100" y="3484442"/>
              <a:ext cx="4089400" cy="184819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>
              <a:lvl1pPr marL="0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85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70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54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39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924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509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093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678" algn="l" defTabSz="121917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ts val="1900"/>
                </a:lnSpc>
                <a:buNone/>
              </a:pPr>
              <a:r>
                <a:rPr lang="de-DE" sz="1333">
                  <a:solidFill>
                    <a:srgbClr val="102313"/>
                  </a:solidFill>
                  <a:latin typeface="Segoe UI" pitchFamily="34" charset="0"/>
                </a:rPr>
                <a:t>Jeder baute seinen Service </a:t>
              </a:r>
              <a:r>
                <a:rPr lang="de-DE" sz="1333" b="1">
                  <a:solidFill>
                    <a:srgbClr val="355E3B"/>
                  </a:solidFill>
                  <a:latin typeface="Segoe UI" pitchFamily="34" charset="0"/>
                </a:rPr>
                <a:t>eigenständig</a:t>
              </a:r>
              <a:r>
                <a:rPr lang="de-DE" sz="1333">
                  <a:solidFill>
                    <a:srgbClr val="102313"/>
                  </a:solidFill>
                  <a:latin typeface="Segoe UI" pitchFamily="34" charset="0"/>
                </a:rPr>
                <a:t>. Zusammengeführt wird erst am Ende, damit das Repository stabil bleibt.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119697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1452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3467" b="1">
                <a:solidFill>
                  <a:srgbClr val="355E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Qualitätssicherung</a:t>
            </a:r>
            <a:endParaRPr lang="en-US" sz="3467"/>
          </a:p>
        </p:txBody>
      </p:sp>
      <p:sp>
        <p:nvSpPr>
          <p:cNvPr id="3" name="Shape 1"/>
          <p:cNvSpPr/>
          <p:nvPr/>
        </p:nvSpPr>
        <p:spPr>
          <a:xfrm>
            <a:off x="609600" y="1402080"/>
            <a:ext cx="6156960" cy="682752"/>
          </a:xfrm>
          <a:prstGeom prst="roundRect">
            <a:avLst>
              <a:gd name="adj" fmla="val 10714"/>
            </a:avLst>
          </a:prstGeom>
          <a:solidFill>
            <a:srgbClr val="F3F6F3"/>
          </a:solidFill>
          <a:ln w="12700">
            <a:solidFill>
              <a:srgbClr val="CED2CE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e-DE" sz="3200"/>
          </a:p>
        </p:txBody>
      </p:sp>
      <p:sp>
        <p:nvSpPr>
          <p:cNvPr id="4" name="Shape 2"/>
          <p:cNvSpPr/>
          <p:nvPr/>
        </p:nvSpPr>
        <p:spPr>
          <a:xfrm>
            <a:off x="755904" y="1536192"/>
            <a:ext cx="414528" cy="414528"/>
          </a:xfrm>
          <a:prstGeom prst="ellipse">
            <a:avLst/>
          </a:prstGeom>
          <a:solidFill>
            <a:srgbClr val="E8985E"/>
          </a:solidFill>
          <a:ln/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e-DE" sz="320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682" y="1643970"/>
            <a:ext cx="198973" cy="19897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16736" y="1450848"/>
            <a:ext cx="53279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533" b="1">
                <a:solidFill>
                  <a:srgbClr val="355E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Eigener Ordner pro Microservice</a:t>
            </a:r>
            <a:endParaRPr lang="en-US" sz="1533"/>
          </a:p>
        </p:txBody>
      </p:sp>
      <p:sp>
        <p:nvSpPr>
          <p:cNvPr id="7" name="Text 4"/>
          <p:cNvSpPr/>
          <p:nvPr/>
        </p:nvSpPr>
        <p:spPr>
          <a:xfrm>
            <a:off x="1316736" y="1680105"/>
            <a:ext cx="53279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200">
                <a:solidFill>
                  <a:srgbClr val="10231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auth · authorization · inventory · user · </a:t>
            </a:r>
            <a:r>
              <a:rPr lang="en-US" sz="1200" err="1">
                <a:solidFill>
                  <a:srgbClr val="10231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wishlist</a:t>
            </a:r>
            <a:r>
              <a:rPr lang="en-US" sz="1200">
                <a:solidFill>
                  <a:srgbClr val="10231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</a:p>
          <a:p>
            <a:pPr marL="228594" indent="-228594" algn="l">
              <a:buFont typeface="Wingdings" pitchFamily="2" charset="2"/>
              <a:buChar char="Ø"/>
            </a:pPr>
            <a:r>
              <a:rPr lang="en-US" sz="1200">
                <a:solidFill>
                  <a:srgbClr val="10231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je ein Bruno-Ordner mit </a:t>
            </a:r>
            <a:r>
              <a:rPr lang="en-US" sz="1200" err="1">
                <a:solidFill>
                  <a:srgbClr val="10231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eigenen</a:t>
            </a:r>
            <a:r>
              <a:rPr lang="en-US" sz="1200">
                <a:solidFill>
                  <a:srgbClr val="10231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200" err="1">
                <a:solidFill>
                  <a:srgbClr val="10231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Testdateien</a:t>
            </a:r>
            <a:endParaRPr lang="en-US" sz="1200"/>
          </a:p>
        </p:txBody>
      </p:sp>
      <p:sp>
        <p:nvSpPr>
          <p:cNvPr id="8" name="Shape 5"/>
          <p:cNvSpPr/>
          <p:nvPr/>
        </p:nvSpPr>
        <p:spPr>
          <a:xfrm>
            <a:off x="609600" y="2170176"/>
            <a:ext cx="6156960" cy="682752"/>
          </a:xfrm>
          <a:prstGeom prst="roundRect">
            <a:avLst>
              <a:gd name="adj" fmla="val 10714"/>
            </a:avLst>
          </a:prstGeom>
          <a:solidFill>
            <a:srgbClr val="F3F6F3"/>
          </a:solidFill>
          <a:ln w="12700">
            <a:solidFill>
              <a:srgbClr val="CED2CE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e-DE" sz="3200"/>
          </a:p>
        </p:txBody>
      </p:sp>
      <p:sp>
        <p:nvSpPr>
          <p:cNvPr id="9" name="Shape 6"/>
          <p:cNvSpPr/>
          <p:nvPr/>
        </p:nvSpPr>
        <p:spPr>
          <a:xfrm>
            <a:off x="755904" y="2304288"/>
            <a:ext cx="414528" cy="414528"/>
          </a:xfrm>
          <a:prstGeom prst="ellipse">
            <a:avLst/>
          </a:prstGeom>
          <a:solidFill>
            <a:srgbClr val="E8985E"/>
          </a:solidFill>
          <a:ln/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e-DE" sz="320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3682" y="2412066"/>
            <a:ext cx="198973" cy="19897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16736" y="2218944"/>
            <a:ext cx="53279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533" b="1">
                <a:solidFill>
                  <a:srgbClr val="355E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Eine Testdatei pro Endpunkt/Szenario</a:t>
            </a:r>
            <a:endParaRPr lang="en-US" sz="1533"/>
          </a:p>
        </p:txBody>
      </p:sp>
      <p:sp>
        <p:nvSpPr>
          <p:cNvPr id="12" name="Text 8"/>
          <p:cNvSpPr/>
          <p:nvPr/>
        </p:nvSpPr>
        <p:spPr>
          <a:xfrm>
            <a:off x="1316736" y="2414495"/>
            <a:ext cx="5327904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200">
                <a:solidFill>
                  <a:srgbClr val="10231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Sprechend benannt, z. B. users-13-lock-admin.bru </a:t>
            </a:r>
            <a:r>
              <a:rPr lang="en-US" sz="1200" err="1">
                <a:solidFill>
                  <a:srgbClr val="10231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dabei</a:t>
            </a:r>
            <a:r>
              <a:rPr lang="en-US" sz="1200">
                <a:solidFill>
                  <a:srgbClr val="10231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200" err="1">
                <a:solidFill>
                  <a:srgbClr val="10231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ist</a:t>
            </a:r>
            <a:r>
              <a:rPr lang="en-US" sz="1200">
                <a:solidFill>
                  <a:srgbClr val="10231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200" err="1">
                <a:solidFill>
                  <a:srgbClr val="10231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sofort</a:t>
            </a:r>
            <a:r>
              <a:rPr lang="en-US" sz="1200">
                <a:solidFill>
                  <a:srgbClr val="10231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erkennbar, was </a:t>
            </a:r>
            <a:r>
              <a:rPr lang="en-US" sz="1200" err="1">
                <a:solidFill>
                  <a:srgbClr val="10231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getestet</a:t>
            </a:r>
            <a:r>
              <a:rPr lang="en-US" sz="1200">
                <a:solidFill>
                  <a:srgbClr val="10231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200" err="1">
                <a:solidFill>
                  <a:srgbClr val="10231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wird</a:t>
            </a:r>
            <a:endParaRPr lang="en-US" sz="1200"/>
          </a:p>
        </p:txBody>
      </p:sp>
      <p:sp>
        <p:nvSpPr>
          <p:cNvPr id="13" name="Shape 9"/>
          <p:cNvSpPr/>
          <p:nvPr/>
        </p:nvSpPr>
        <p:spPr>
          <a:xfrm>
            <a:off x="609600" y="2938272"/>
            <a:ext cx="6156960" cy="682752"/>
          </a:xfrm>
          <a:prstGeom prst="roundRect">
            <a:avLst>
              <a:gd name="adj" fmla="val 10714"/>
            </a:avLst>
          </a:prstGeom>
          <a:solidFill>
            <a:srgbClr val="F3F6F3"/>
          </a:solidFill>
          <a:ln w="12700">
            <a:solidFill>
              <a:srgbClr val="CED2CE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e-DE" sz="3200"/>
          </a:p>
        </p:txBody>
      </p:sp>
      <p:sp>
        <p:nvSpPr>
          <p:cNvPr id="14" name="Shape 10"/>
          <p:cNvSpPr/>
          <p:nvPr/>
        </p:nvSpPr>
        <p:spPr>
          <a:xfrm>
            <a:off x="755904" y="3072384"/>
            <a:ext cx="414528" cy="414528"/>
          </a:xfrm>
          <a:prstGeom prst="ellipse">
            <a:avLst/>
          </a:prstGeom>
          <a:solidFill>
            <a:srgbClr val="E8985E"/>
          </a:solidFill>
          <a:ln/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e-DE" sz="320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682" y="3180162"/>
            <a:ext cx="198973" cy="198973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316736" y="2987040"/>
            <a:ext cx="53279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533" b="1">
                <a:solidFill>
                  <a:srgbClr val="355E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Idempotent mit echten Asserts</a:t>
            </a:r>
            <a:endParaRPr lang="en-US" sz="1533"/>
          </a:p>
        </p:txBody>
      </p:sp>
      <p:sp>
        <p:nvSpPr>
          <p:cNvPr id="17" name="Text 12"/>
          <p:cNvSpPr/>
          <p:nvPr/>
        </p:nvSpPr>
        <p:spPr>
          <a:xfrm>
            <a:off x="1303568" y="3220639"/>
            <a:ext cx="5327904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200">
                <a:solidFill>
                  <a:srgbClr val="10231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Wegwerf-User statt Produktivdaten; assert prüft Statuscode UND Response-</a:t>
            </a:r>
            <a:r>
              <a:rPr lang="en-US" sz="1200" err="1">
                <a:solidFill>
                  <a:srgbClr val="10231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Inhalt</a:t>
            </a:r>
            <a:endParaRPr lang="en-US" sz="1200"/>
          </a:p>
        </p:txBody>
      </p:sp>
      <p:sp>
        <p:nvSpPr>
          <p:cNvPr id="18" name="Shape 13"/>
          <p:cNvSpPr/>
          <p:nvPr/>
        </p:nvSpPr>
        <p:spPr>
          <a:xfrm>
            <a:off x="609600" y="3706368"/>
            <a:ext cx="6156960" cy="682752"/>
          </a:xfrm>
          <a:prstGeom prst="roundRect">
            <a:avLst>
              <a:gd name="adj" fmla="val 10714"/>
            </a:avLst>
          </a:prstGeom>
          <a:solidFill>
            <a:srgbClr val="F3F6F3"/>
          </a:solidFill>
          <a:ln w="12700">
            <a:solidFill>
              <a:srgbClr val="CED2CE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e-DE" sz="3200"/>
          </a:p>
        </p:txBody>
      </p:sp>
      <p:sp>
        <p:nvSpPr>
          <p:cNvPr id="19" name="Shape 14"/>
          <p:cNvSpPr/>
          <p:nvPr/>
        </p:nvSpPr>
        <p:spPr>
          <a:xfrm>
            <a:off x="755904" y="3840480"/>
            <a:ext cx="414528" cy="414528"/>
          </a:xfrm>
          <a:prstGeom prst="ellipse">
            <a:avLst/>
          </a:prstGeom>
          <a:solidFill>
            <a:srgbClr val="E8985E"/>
          </a:solidFill>
          <a:ln/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e-DE" sz="3200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3682" y="3948258"/>
            <a:ext cx="198973" cy="198973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316736" y="3755136"/>
            <a:ext cx="53279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533" b="1">
                <a:solidFill>
                  <a:srgbClr val="355E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 ganzen Team gleich genutzt</a:t>
            </a:r>
            <a:endParaRPr lang="en-US" sz="1533"/>
          </a:p>
        </p:txBody>
      </p:sp>
      <p:sp>
        <p:nvSpPr>
          <p:cNvPr id="22" name="Text 16"/>
          <p:cNvSpPr/>
          <p:nvPr/>
        </p:nvSpPr>
        <p:spPr>
          <a:xfrm>
            <a:off x="1316736" y="3988735"/>
            <a:ext cx="5327904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200">
                <a:solidFill>
                  <a:srgbClr val="10231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Jeder konnte seinen Endpunkt eigenständig prüfen, bevor der Code </a:t>
            </a:r>
            <a:r>
              <a:rPr lang="en-US" sz="1200" err="1">
                <a:solidFill>
                  <a:srgbClr val="10231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zusammengeführt</a:t>
            </a:r>
            <a:r>
              <a:rPr lang="en-US" sz="1200">
                <a:solidFill>
                  <a:srgbClr val="10231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200" err="1">
                <a:solidFill>
                  <a:srgbClr val="10231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wurde</a:t>
            </a:r>
            <a:endParaRPr lang="en-US" sz="1200"/>
          </a:p>
        </p:txBody>
      </p:sp>
      <p:sp>
        <p:nvSpPr>
          <p:cNvPr id="23" name="Shape 17"/>
          <p:cNvSpPr/>
          <p:nvPr/>
        </p:nvSpPr>
        <p:spPr>
          <a:xfrm>
            <a:off x="609600" y="4474464"/>
            <a:ext cx="6156960" cy="682752"/>
          </a:xfrm>
          <a:prstGeom prst="roundRect">
            <a:avLst>
              <a:gd name="adj" fmla="val 10714"/>
            </a:avLst>
          </a:prstGeom>
          <a:solidFill>
            <a:srgbClr val="F3F6F3"/>
          </a:solidFill>
          <a:ln w="12700">
            <a:solidFill>
              <a:srgbClr val="CED2CE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e-DE" sz="3200"/>
          </a:p>
        </p:txBody>
      </p:sp>
      <p:sp>
        <p:nvSpPr>
          <p:cNvPr id="24" name="Shape 18"/>
          <p:cNvSpPr/>
          <p:nvPr/>
        </p:nvSpPr>
        <p:spPr>
          <a:xfrm>
            <a:off x="755904" y="4608576"/>
            <a:ext cx="414528" cy="414528"/>
          </a:xfrm>
          <a:prstGeom prst="ellipse">
            <a:avLst/>
          </a:prstGeom>
          <a:solidFill>
            <a:srgbClr val="E8985E"/>
          </a:solidFill>
          <a:ln/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e-DE" sz="3200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3682" y="4716354"/>
            <a:ext cx="198973" cy="198973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316736" y="4523232"/>
            <a:ext cx="53279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533" b="1">
                <a:solidFill>
                  <a:srgbClr val="355E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Doku wächst mit dem Code</a:t>
            </a:r>
            <a:endParaRPr lang="en-US" sz="1533"/>
          </a:p>
        </p:txBody>
      </p:sp>
      <p:sp>
        <p:nvSpPr>
          <p:cNvPr id="27" name="Text 20"/>
          <p:cNvSpPr/>
          <p:nvPr/>
        </p:nvSpPr>
        <p:spPr>
          <a:xfrm>
            <a:off x="1303568" y="4761343"/>
            <a:ext cx="5327904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200">
                <a:solidFill>
                  <a:srgbClr val="10231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Konzept.md je Service wird im Loop </a:t>
            </a:r>
            <a:r>
              <a:rPr lang="en-US" sz="1200" err="1">
                <a:solidFill>
                  <a:srgbClr val="10231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aktualisiert</a:t>
            </a:r>
            <a:r>
              <a:rPr lang="en-US" sz="1200">
                <a:solidFill>
                  <a:srgbClr val="10231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</a:p>
          <a:p>
            <a:pPr marL="228594" indent="-228594" algn="l">
              <a:buFont typeface="Wingdings" pitchFamily="2" charset="2"/>
              <a:buChar char="Ø"/>
            </a:pPr>
            <a:r>
              <a:rPr lang="en-US" sz="1200" err="1">
                <a:solidFill>
                  <a:srgbClr val="10231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kein</a:t>
            </a:r>
            <a:r>
              <a:rPr lang="en-US" sz="1200">
                <a:solidFill>
                  <a:srgbClr val="10231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Nachgang am Ende des Projekts.</a:t>
            </a:r>
            <a:endParaRPr lang="en-US" sz="1200"/>
          </a:p>
        </p:txBody>
      </p:sp>
      <p:sp>
        <p:nvSpPr>
          <p:cNvPr id="28" name="Shape 21"/>
          <p:cNvSpPr/>
          <p:nvPr/>
        </p:nvSpPr>
        <p:spPr>
          <a:xfrm>
            <a:off x="609600" y="5242560"/>
            <a:ext cx="6156960" cy="682752"/>
          </a:xfrm>
          <a:prstGeom prst="roundRect">
            <a:avLst>
              <a:gd name="adj" fmla="val 10714"/>
            </a:avLst>
          </a:prstGeom>
          <a:solidFill>
            <a:srgbClr val="F3F6F3"/>
          </a:solidFill>
          <a:ln w="12700">
            <a:solidFill>
              <a:srgbClr val="CED2CE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e-DE" sz="3200"/>
          </a:p>
        </p:txBody>
      </p:sp>
      <p:sp>
        <p:nvSpPr>
          <p:cNvPr id="29" name="Shape 22"/>
          <p:cNvSpPr/>
          <p:nvPr/>
        </p:nvSpPr>
        <p:spPr>
          <a:xfrm>
            <a:off x="755904" y="5376672"/>
            <a:ext cx="414528" cy="414528"/>
          </a:xfrm>
          <a:prstGeom prst="ellipse">
            <a:avLst/>
          </a:prstGeom>
          <a:solidFill>
            <a:srgbClr val="E8985E"/>
          </a:solidFill>
          <a:ln/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e-DE" sz="3200"/>
          </a:p>
        </p:txBody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3682" y="5484450"/>
            <a:ext cx="198973" cy="198973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1316736" y="5291328"/>
            <a:ext cx="53279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533" b="1">
                <a:solidFill>
                  <a:srgbClr val="355E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Claude als Teammitglied</a:t>
            </a:r>
            <a:endParaRPr lang="en-US" sz="1533"/>
          </a:p>
        </p:txBody>
      </p:sp>
      <p:sp>
        <p:nvSpPr>
          <p:cNvPr id="32" name="Text 24"/>
          <p:cNvSpPr/>
          <p:nvPr/>
        </p:nvSpPr>
        <p:spPr>
          <a:xfrm>
            <a:off x="1316736" y="5512219"/>
            <a:ext cx="5327904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200">
                <a:solidFill>
                  <a:srgbClr val="10231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Claude hat die Dokumentation geschrieben; wir haben sie laufend geprüft und </a:t>
            </a:r>
            <a:r>
              <a:rPr lang="en-US" sz="1200" err="1">
                <a:solidFill>
                  <a:srgbClr val="10231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verbessert</a:t>
            </a:r>
            <a:endParaRPr lang="en-US" sz="1200"/>
          </a:p>
        </p:txBody>
      </p:sp>
      <p:sp>
        <p:nvSpPr>
          <p:cNvPr id="38" name="Text 29"/>
          <p:cNvSpPr/>
          <p:nvPr/>
        </p:nvSpPr>
        <p:spPr>
          <a:xfrm>
            <a:off x="609600" y="6315456"/>
            <a:ext cx="243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200">
                <a:solidFill>
                  <a:srgbClr val="8A8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16.07.2026</a:t>
            </a:r>
            <a:endParaRPr lang="en-US" sz="1200"/>
          </a:p>
        </p:txBody>
      </p:sp>
      <p:sp>
        <p:nvSpPr>
          <p:cNvPr id="39" name="Text 30"/>
          <p:cNvSpPr/>
          <p:nvPr/>
        </p:nvSpPr>
        <p:spPr>
          <a:xfrm>
            <a:off x="3657600" y="6315456"/>
            <a:ext cx="487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>
                <a:solidFill>
                  <a:srgbClr val="8A8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Bekir, Avid, Alex, Darian, Lara P., Sheila</a:t>
            </a:r>
            <a:endParaRPr lang="en-US" sz="1200"/>
          </a:p>
        </p:txBody>
      </p:sp>
      <p:sp>
        <p:nvSpPr>
          <p:cNvPr id="40" name="Text 31"/>
          <p:cNvSpPr/>
          <p:nvPr/>
        </p:nvSpPr>
        <p:spPr>
          <a:xfrm>
            <a:off x="11216640" y="6315456"/>
            <a:ext cx="609600" cy="365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1200">
                <a:solidFill>
                  <a:srgbClr val="E8985E"/>
                </a:solidFill>
                <a:latin typeface="Segoe UI"/>
                <a:cs typeface="Segoe UI"/>
              </a:rPr>
              <a:t>10</a:t>
            </a:r>
            <a:endParaRPr lang="en-US" sz="1200" dirty="0">
              <a:solidFill>
                <a:srgbClr val="E8985E"/>
              </a:solidFill>
              <a:latin typeface="Segoe UI"/>
              <a:cs typeface="Segoe UI"/>
            </a:endParaRPr>
          </a:p>
        </p:txBody>
      </p:sp>
      <p:pic>
        <p:nvPicPr>
          <p:cNvPr id="41" name="Grafik 40">
            <a:extLst>
              <a:ext uri="{FF2B5EF4-FFF2-40B4-BE49-F238E27FC236}">
                <a16:creationId xmlns:a16="http://schemas.microsoft.com/office/drawing/2014/main" id="{24F214F5-0673-6D85-C2D6-02375371550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12865" y="1536192"/>
            <a:ext cx="4864327" cy="4133088"/>
          </a:xfrm>
          <a:prstGeom prst="rect">
            <a:avLst/>
          </a:prstGeom>
        </p:spPr>
      </p:pic>
      <p:sp>
        <p:nvSpPr>
          <p:cNvPr id="920" name="Accent920"/>
          <p:cNvSpPr/>
          <p:nvPr/>
        </p:nvSpPr>
        <p:spPr>
          <a:xfrm>
            <a:off x="609600" y="1463040"/>
            <a:ext cx="73152" cy="560832"/>
          </a:xfrm>
          <a:prstGeom prst="roundRect">
            <a:avLst>
              <a:gd name="adj" fmla="val 45000"/>
            </a:avLst>
          </a:prstGeom>
          <a:solidFill>
            <a:srgbClr val="E8985E"/>
          </a:solidFill>
          <a:ln>
            <a:noFill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e-DE" sz="3200"/>
          </a:p>
        </p:txBody>
      </p:sp>
      <p:sp>
        <p:nvSpPr>
          <p:cNvPr id="921" name="Accent921"/>
          <p:cNvSpPr/>
          <p:nvPr/>
        </p:nvSpPr>
        <p:spPr>
          <a:xfrm>
            <a:off x="609600" y="2231136"/>
            <a:ext cx="73152" cy="560832"/>
          </a:xfrm>
          <a:prstGeom prst="roundRect">
            <a:avLst>
              <a:gd name="adj" fmla="val 45000"/>
            </a:avLst>
          </a:prstGeom>
          <a:solidFill>
            <a:srgbClr val="E8985E"/>
          </a:solidFill>
          <a:ln>
            <a:noFill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e-DE" sz="3200"/>
          </a:p>
        </p:txBody>
      </p:sp>
      <p:sp>
        <p:nvSpPr>
          <p:cNvPr id="922" name="Accent922"/>
          <p:cNvSpPr/>
          <p:nvPr/>
        </p:nvSpPr>
        <p:spPr>
          <a:xfrm>
            <a:off x="609600" y="2999232"/>
            <a:ext cx="73152" cy="560832"/>
          </a:xfrm>
          <a:prstGeom prst="roundRect">
            <a:avLst>
              <a:gd name="adj" fmla="val 45000"/>
            </a:avLst>
          </a:prstGeom>
          <a:solidFill>
            <a:srgbClr val="E8985E"/>
          </a:solidFill>
          <a:ln>
            <a:noFill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e-DE" sz="3200"/>
          </a:p>
        </p:txBody>
      </p:sp>
      <p:sp>
        <p:nvSpPr>
          <p:cNvPr id="923" name="Accent923"/>
          <p:cNvSpPr/>
          <p:nvPr/>
        </p:nvSpPr>
        <p:spPr>
          <a:xfrm>
            <a:off x="609600" y="3767328"/>
            <a:ext cx="73152" cy="560832"/>
          </a:xfrm>
          <a:prstGeom prst="roundRect">
            <a:avLst>
              <a:gd name="adj" fmla="val 45000"/>
            </a:avLst>
          </a:prstGeom>
          <a:solidFill>
            <a:srgbClr val="E8985E"/>
          </a:solidFill>
          <a:ln>
            <a:noFill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e-DE" sz="3200"/>
          </a:p>
        </p:txBody>
      </p:sp>
      <p:sp>
        <p:nvSpPr>
          <p:cNvPr id="924" name="Accent924"/>
          <p:cNvSpPr/>
          <p:nvPr/>
        </p:nvSpPr>
        <p:spPr>
          <a:xfrm>
            <a:off x="609600" y="4535424"/>
            <a:ext cx="73152" cy="560832"/>
          </a:xfrm>
          <a:prstGeom prst="roundRect">
            <a:avLst>
              <a:gd name="adj" fmla="val 45000"/>
            </a:avLst>
          </a:prstGeom>
          <a:solidFill>
            <a:srgbClr val="E8985E"/>
          </a:solidFill>
          <a:ln>
            <a:noFill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e-DE" sz="3200"/>
          </a:p>
        </p:txBody>
      </p:sp>
      <p:sp>
        <p:nvSpPr>
          <p:cNvPr id="925" name="Accent925"/>
          <p:cNvSpPr/>
          <p:nvPr/>
        </p:nvSpPr>
        <p:spPr>
          <a:xfrm>
            <a:off x="609600" y="5303520"/>
            <a:ext cx="73152" cy="560832"/>
          </a:xfrm>
          <a:prstGeom prst="roundRect">
            <a:avLst>
              <a:gd name="adj" fmla="val 45000"/>
            </a:avLst>
          </a:prstGeom>
          <a:solidFill>
            <a:srgbClr val="E8985E"/>
          </a:solidFill>
          <a:ln>
            <a:noFill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e-DE" sz="3200"/>
          </a:p>
        </p:txBody>
      </p:sp>
      <p:sp>
        <p:nvSpPr>
          <p:cNvPr id="930" name="Hair930"/>
          <p:cNvSpPr/>
          <p:nvPr/>
        </p:nvSpPr>
        <p:spPr>
          <a:xfrm>
            <a:off x="609600" y="6233334"/>
            <a:ext cx="10972800" cy="12700"/>
          </a:xfrm>
          <a:prstGeom prst="rect">
            <a:avLst/>
          </a:prstGeom>
          <a:solidFill>
            <a:srgbClr val="DCE7DE"/>
          </a:solidFill>
          <a:ln>
            <a:noFill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e-DE" sz="32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691AFC-EF13-1242-D3FC-DBA577D84D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79CBD3C9-4E66-426D-948E-7CF4778107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DE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DB95FCF-AD96-482F-9FB8-CD95725E6E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DE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64EEEC00-AD80-4734-BEE6-04CBDEC830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6C6896D1-BFB1-4C84-82DD-31073BED3F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978660" y="5462458"/>
            <a:ext cx="82296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8A2FDFB1-2B6D-49EB-B6C0-FA923806E0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140" y="243841"/>
            <a:ext cx="11722100" cy="3964584"/>
          </a:xfrm>
          <a:prstGeom prst="rect">
            <a:avLst/>
          </a:prstGeom>
          <a:solidFill>
            <a:schemeClr val="bg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DE"/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4B4F98FB-A2A4-E7FB-1B17-3C18F479B601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3314835" y="728472"/>
            <a:ext cx="5554708" cy="3027316"/>
          </a:xfrm>
          <a:prstGeom prst="rect">
            <a:avLst/>
          </a:prstGeom>
        </p:spPr>
      </p:pic>
      <p:cxnSp>
        <p:nvCxnSpPr>
          <p:cNvPr id="15" name="Gerader Verbinder 14">
            <a:extLst>
              <a:ext uri="{FF2B5EF4-FFF2-40B4-BE49-F238E27FC236}">
                <a16:creationId xmlns:a16="http://schemas.microsoft.com/office/drawing/2014/main" id="{96D1EF9C-2E6C-90AD-E78F-A9F28A7DF171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1978660" y="5462458"/>
            <a:ext cx="849122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el 1">
            <a:extLst>
              <a:ext uri="{FF2B5EF4-FFF2-40B4-BE49-F238E27FC236}">
                <a16:creationId xmlns:a16="http://schemas.microsoft.com/office/drawing/2014/main" id="{D2CE4D85-2F22-2675-D766-5C3335D554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8709" y="4632960"/>
            <a:ext cx="9966960" cy="132588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85000"/>
              </a:lnSpc>
            </a:pPr>
            <a:r>
              <a:rPr lang="en-US" sz="6600" b="1" u="sng" cap="all" err="1">
                <a:solidFill>
                  <a:srgbClr val="FFFFFF"/>
                </a:solidFill>
              </a:rPr>
              <a:t>Architektur</a:t>
            </a:r>
            <a:endParaRPr lang="en-US" sz="6600" b="1" u="sng" cap="all">
              <a:solidFill>
                <a:srgbClr val="FFFFFF"/>
              </a:solidFill>
            </a:endParaRP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6BB96E8B-BB51-A015-CBE1-6045C82BBF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6F2CA-E94B-40AF-B010-8E6F9EDE6FF7}" type="datetime1">
              <a:rPr lang="de-DE" smtClean="0"/>
              <a:t>15.07.2026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FA5A2ED7-97A3-0F96-49C0-5CE538F631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Bekir, Avid, Alex, Darian, Lara P., Sheila</a:t>
            </a:r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1B9EB75-1229-D544-27E7-5CC9BC6317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7EE8E-3513-4D7C-BF7B-7494C67953C0}" type="slidenum">
              <a:rPr lang="de-DE" smtClean="0"/>
              <a:t>11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54100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9029D5-67A6-6581-AD8D-D85EE2249B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3FEA977-81DE-FA7F-58B1-D415DD7F95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0971" y="362577"/>
            <a:ext cx="9875520" cy="1356360"/>
          </a:xfrm>
        </p:spPr>
        <p:txBody>
          <a:bodyPr>
            <a:normAutofit/>
          </a:bodyPr>
          <a:lstStyle/>
          <a:p>
            <a:pPr algn="ctr"/>
            <a:r>
              <a:rPr lang="de-DE" sz="4000" b="1"/>
              <a:t>Microservices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409FF16-6BED-315A-0484-A8BAAC8F2E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549A6D-6F67-41C6-A1F8-C5C4578DB887}" type="datetime1">
              <a:rPr lang="de-DE" smtClean="0"/>
              <a:t>15.07.2026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B8070EB-BC16-4F83-7B90-A67CF8BBBD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Bekir, Avid, Alex, Darian, Lara P., Sheila</a:t>
            </a:r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BC9BEF3-320F-9A48-AC67-E63F34FFC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7EE8E-3513-4D7C-BF7B-7494C67953C0}" type="slidenum">
              <a:rPr lang="de-DE" smtClean="0"/>
              <a:t>12</a:t>
            </a:fld>
            <a:endParaRPr lang="de-DE"/>
          </a:p>
        </p:txBody>
      </p:sp>
      <p:grpSp>
        <p:nvGrpSpPr>
          <p:cNvPr id="7" name="Gruppieren 6">
            <a:extLst>
              <a:ext uri="{FF2B5EF4-FFF2-40B4-BE49-F238E27FC236}">
                <a16:creationId xmlns:a16="http://schemas.microsoft.com/office/drawing/2014/main" id="{563D2856-AFC1-5F0C-89A7-3DDB8F07E385}"/>
              </a:ext>
            </a:extLst>
          </p:cNvPr>
          <p:cNvGrpSpPr/>
          <p:nvPr/>
        </p:nvGrpSpPr>
        <p:grpSpPr>
          <a:xfrm>
            <a:off x="1378794" y="1527612"/>
            <a:ext cx="9432286" cy="2605143"/>
            <a:chOff x="956763" y="1849997"/>
            <a:chExt cx="10375994" cy="3425757"/>
          </a:xfrm>
        </p:grpSpPr>
        <p:sp>
          <p:nvSpPr>
            <p:cNvPr id="8" name="Rechteck: abgerundete Ecken 7">
              <a:extLst>
                <a:ext uri="{FF2B5EF4-FFF2-40B4-BE49-F238E27FC236}">
                  <a16:creationId xmlns:a16="http://schemas.microsoft.com/office/drawing/2014/main" id="{88A9D127-B24A-6BA9-634C-3A7E64D5FE30}"/>
                </a:ext>
              </a:extLst>
            </p:cNvPr>
            <p:cNvSpPr/>
            <p:nvPr/>
          </p:nvSpPr>
          <p:spPr>
            <a:xfrm>
              <a:off x="7658456" y="1853346"/>
              <a:ext cx="3674301" cy="561981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de-DE" b="1" u="sng" err="1"/>
                <a:t>auth</a:t>
              </a:r>
              <a:r>
                <a:rPr lang="de-DE" b="1" u="sng"/>
                <a:t>-service</a:t>
              </a:r>
              <a:endParaRPr lang="de-DE"/>
            </a:p>
          </p:txBody>
        </p:sp>
        <p:sp>
          <p:nvSpPr>
            <p:cNvPr id="12" name="Rechteck: abgerundete Ecken 11">
              <a:extLst>
                <a:ext uri="{FF2B5EF4-FFF2-40B4-BE49-F238E27FC236}">
                  <a16:creationId xmlns:a16="http://schemas.microsoft.com/office/drawing/2014/main" id="{D3270CA8-ACF9-2A7A-390F-E4FA5D5B5BAC}"/>
                </a:ext>
              </a:extLst>
            </p:cNvPr>
            <p:cNvSpPr/>
            <p:nvPr/>
          </p:nvSpPr>
          <p:spPr>
            <a:xfrm>
              <a:off x="956763" y="1849997"/>
              <a:ext cx="3709470" cy="3424088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de-DE" sz="2800"/>
                <a:t>Monolith</a:t>
              </a:r>
            </a:p>
          </p:txBody>
        </p:sp>
        <p:cxnSp>
          <p:nvCxnSpPr>
            <p:cNvPr id="17" name="Gerade Verbindung mit Pfeil 16">
              <a:extLst>
                <a:ext uri="{FF2B5EF4-FFF2-40B4-BE49-F238E27FC236}">
                  <a16:creationId xmlns:a16="http://schemas.microsoft.com/office/drawing/2014/main" id="{4196B91D-FD93-070B-E8B1-C95A19228D6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16792" y="3592817"/>
              <a:ext cx="2327759" cy="21869"/>
            </a:xfrm>
            <a:prstGeom prst="straightConnector1">
              <a:avLst/>
            </a:prstGeom>
            <a:ln w="5715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" name="Rechteck: abgerundete Ecken 2">
              <a:extLst>
                <a:ext uri="{FF2B5EF4-FFF2-40B4-BE49-F238E27FC236}">
                  <a16:creationId xmlns:a16="http://schemas.microsoft.com/office/drawing/2014/main" id="{3256ABE8-6DE1-C2E9-56F4-0978FEF72A64}"/>
                </a:ext>
              </a:extLst>
            </p:cNvPr>
            <p:cNvSpPr/>
            <p:nvPr/>
          </p:nvSpPr>
          <p:spPr>
            <a:xfrm>
              <a:off x="7658455" y="2568453"/>
              <a:ext cx="3674301" cy="561981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de-DE" b="1" u="sng" err="1"/>
                <a:t>authorization</a:t>
              </a:r>
              <a:r>
                <a:rPr lang="de-DE" b="1" u="sng"/>
                <a:t>-service</a:t>
              </a:r>
              <a:endParaRPr lang="de-DE"/>
            </a:p>
          </p:txBody>
        </p:sp>
        <p:sp>
          <p:nvSpPr>
            <p:cNvPr id="9" name="Rechteck: abgerundete Ecken 8">
              <a:extLst>
                <a:ext uri="{FF2B5EF4-FFF2-40B4-BE49-F238E27FC236}">
                  <a16:creationId xmlns:a16="http://schemas.microsoft.com/office/drawing/2014/main" id="{F2483382-0F77-BBE6-9F1C-07CE719E3764}"/>
                </a:ext>
              </a:extLst>
            </p:cNvPr>
            <p:cNvSpPr/>
            <p:nvPr/>
          </p:nvSpPr>
          <p:spPr>
            <a:xfrm>
              <a:off x="7658454" y="3283560"/>
              <a:ext cx="3674301" cy="561981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de-DE" b="1" u="sng" err="1"/>
                <a:t>user</a:t>
              </a:r>
              <a:r>
                <a:rPr lang="de-DE" b="1" u="sng"/>
                <a:t> - </a:t>
              </a:r>
              <a:r>
                <a:rPr lang="de-DE" b="1" u="sng" err="1"/>
                <a:t>management</a:t>
              </a:r>
            </a:p>
          </p:txBody>
        </p:sp>
        <p:sp>
          <p:nvSpPr>
            <p:cNvPr id="14" name="Rechteck: abgerundete Ecken 13">
              <a:extLst>
                <a:ext uri="{FF2B5EF4-FFF2-40B4-BE49-F238E27FC236}">
                  <a16:creationId xmlns:a16="http://schemas.microsoft.com/office/drawing/2014/main" id="{A51C291A-C6E6-78AE-8110-1D325B2490DD}"/>
                </a:ext>
              </a:extLst>
            </p:cNvPr>
            <p:cNvSpPr/>
            <p:nvPr/>
          </p:nvSpPr>
          <p:spPr>
            <a:xfrm>
              <a:off x="7658453" y="3998667"/>
              <a:ext cx="3674301" cy="561981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de-DE" b="1" u="sng" err="1"/>
                <a:t>inventar</a:t>
              </a:r>
            </a:p>
          </p:txBody>
        </p:sp>
        <p:sp>
          <p:nvSpPr>
            <p:cNvPr id="15" name="Rechteck: abgerundete Ecken 14">
              <a:extLst>
                <a:ext uri="{FF2B5EF4-FFF2-40B4-BE49-F238E27FC236}">
                  <a16:creationId xmlns:a16="http://schemas.microsoft.com/office/drawing/2014/main" id="{E4C32DC3-828C-728F-EEE5-8BA0D5C16E63}"/>
                </a:ext>
              </a:extLst>
            </p:cNvPr>
            <p:cNvSpPr/>
            <p:nvPr/>
          </p:nvSpPr>
          <p:spPr>
            <a:xfrm>
              <a:off x="7658452" y="4713773"/>
              <a:ext cx="3674301" cy="561981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de-DE" b="1" u="sng" err="1"/>
                <a:t>wishlist</a:t>
              </a:r>
            </a:p>
          </p:txBody>
        </p:sp>
      </p:grpSp>
      <p:sp>
        <p:nvSpPr>
          <p:cNvPr id="11" name="Titel 1">
            <a:extLst>
              <a:ext uri="{FF2B5EF4-FFF2-40B4-BE49-F238E27FC236}">
                <a16:creationId xmlns:a16="http://schemas.microsoft.com/office/drawing/2014/main" id="{E0139F43-3D87-7C4A-7C42-E2291990AF17}"/>
              </a:ext>
            </a:extLst>
          </p:cNvPr>
          <p:cNvSpPr txBox="1">
            <a:spLocks/>
          </p:cNvSpPr>
          <p:nvPr/>
        </p:nvSpPr>
        <p:spPr>
          <a:xfrm>
            <a:off x="1381649" y="4700115"/>
            <a:ext cx="9857936" cy="9460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3200" b="1"/>
              <a:t>Vorteile: </a:t>
            </a:r>
            <a:endParaRPr lang="de-DE"/>
          </a:p>
          <a:p>
            <a:r>
              <a:rPr lang="de-DE" sz="2800">
                <a:solidFill>
                  <a:schemeClr val="tx1"/>
                </a:solidFill>
              </a:rPr>
              <a:t>Fällt ein Service aus oder wird aktualisiert, laufen die anderen weiter</a:t>
            </a:r>
            <a:endParaRPr lang="de-DE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521821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614699-3C9C-9354-EBC9-3DC24C0F44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1" name="Gerade Verbindung mit Pfeil 30">
            <a:extLst>
              <a:ext uri="{FF2B5EF4-FFF2-40B4-BE49-F238E27FC236}">
                <a16:creationId xmlns:a16="http://schemas.microsoft.com/office/drawing/2014/main" id="{D6C8875A-C5AE-F493-4E45-D4D03276EAB7}"/>
              </a:ext>
            </a:extLst>
          </p:cNvPr>
          <p:cNvCxnSpPr>
            <a:cxnSpLocks/>
          </p:cNvCxnSpPr>
          <p:nvPr/>
        </p:nvCxnSpPr>
        <p:spPr>
          <a:xfrm flipH="1">
            <a:off x="2419734" y="4725696"/>
            <a:ext cx="722516" cy="502885"/>
          </a:xfrm>
          <a:prstGeom prst="straightConnector1">
            <a:avLst/>
          </a:prstGeom>
          <a:ln w="57150"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Gerade Verbindung mit Pfeil 28">
            <a:extLst>
              <a:ext uri="{FF2B5EF4-FFF2-40B4-BE49-F238E27FC236}">
                <a16:creationId xmlns:a16="http://schemas.microsoft.com/office/drawing/2014/main" id="{1D60FE36-8D36-4E0B-0200-F2DC1360D561}"/>
              </a:ext>
            </a:extLst>
          </p:cNvPr>
          <p:cNvCxnSpPr>
            <a:cxnSpLocks/>
          </p:cNvCxnSpPr>
          <p:nvPr/>
        </p:nvCxnSpPr>
        <p:spPr>
          <a:xfrm flipH="1">
            <a:off x="780611" y="1798300"/>
            <a:ext cx="20819" cy="3452208"/>
          </a:xfrm>
          <a:prstGeom prst="straightConnector1">
            <a:avLst/>
          </a:prstGeom>
          <a:ln w="57150">
            <a:solidFill>
              <a:schemeClr val="bg2">
                <a:lumMod val="9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hteck: abgerundete Ecken 18">
            <a:extLst>
              <a:ext uri="{FF2B5EF4-FFF2-40B4-BE49-F238E27FC236}">
                <a16:creationId xmlns:a16="http://schemas.microsoft.com/office/drawing/2014/main" id="{3A57C85B-4820-F93E-E510-40D8AD5BAEB4}"/>
              </a:ext>
            </a:extLst>
          </p:cNvPr>
          <p:cNvSpPr/>
          <p:nvPr/>
        </p:nvSpPr>
        <p:spPr>
          <a:xfrm>
            <a:off x="311538" y="2621331"/>
            <a:ext cx="11577980" cy="2170578"/>
          </a:xfrm>
          <a:prstGeom prst="round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00" b="1" i="0" u="none" strike="noStrike" kern="1200" cap="none" spc="0" normalizeH="0" baseline="0" noProof="0">
                <a:ln>
                  <a:noFill/>
                </a:ln>
                <a:solidFill>
                  <a:srgbClr val="2E4A32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Backend • 5 Microservices (Node.js + Express)      |    untereinander HTTP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sp>
        <p:nvSpPr>
          <p:cNvPr id="21" name="Rechteck: abgerundete Ecken 20">
            <a:extLst>
              <a:ext uri="{FF2B5EF4-FFF2-40B4-BE49-F238E27FC236}">
                <a16:creationId xmlns:a16="http://schemas.microsoft.com/office/drawing/2014/main" id="{B7FE0C13-D232-5C5F-A557-D541AF04AB6F}"/>
              </a:ext>
            </a:extLst>
          </p:cNvPr>
          <p:cNvSpPr/>
          <p:nvPr/>
        </p:nvSpPr>
        <p:spPr>
          <a:xfrm>
            <a:off x="5532049" y="3210394"/>
            <a:ext cx="6276406" cy="1581511"/>
          </a:xfrm>
          <a:prstGeom prst="roundRect">
            <a:avLst/>
          </a:prstGeom>
          <a:solidFill>
            <a:srgbClr val="E4F2F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00" b="1" i="0" u="none" strike="noStrike" kern="1200" cap="none" spc="0" normalizeH="0" baseline="0" noProof="0">
                <a:ln>
                  <a:noFill/>
                </a:ln>
                <a:solidFill>
                  <a:srgbClr val="2E4A32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Fachliche Services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sp>
        <p:nvSpPr>
          <p:cNvPr id="20" name="Rechteck: abgerundete Ecken 19">
            <a:extLst>
              <a:ext uri="{FF2B5EF4-FFF2-40B4-BE49-F238E27FC236}">
                <a16:creationId xmlns:a16="http://schemas.microsoft.com/office/drawing/2014/main" id="{E50BAA5F-BF03-EDE9-B7AA-C801ED776EDA}"/>
              </a:ext>
            </a:extLst>
          </p:cNvPr>
          <p:cNvSpPr/>
          <p:nvPr/>
        </p:nvSpPr>
        <p:spPr>
          <a:xfrm>
            <a:off x="446645" y="3199587"/>
            <a:ext cx="4552449" cy="1576107"/>
          </a:xfrm>
          <a:prstGeom prst="roundRect">
            <a:avLst/>
          </a:prstGeom>
          <a:solidFill>
            <a:srgbClr val="F7F1E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00" b="1" i="0" u="none" strike="noStrike" kern="1200" cap="none" spc="0" normalizeH="0" baseline="0" noProof="0">
                <a:ln>
                  <a:noFill/>
                </a:ln>
                <a:solidFill>
                  <a:srgbClr val="2E4A32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Sicherheit "Türsteher"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sp>
        <p:nvSpPr>
          <p:cNvPr id="12" name="Rechteck: abgerundete Ecken 11">
            <a:extLst>
              <a:ext uri="{FF2B5EF4-FFF2-40B4-BE49-F238E27FC236}">
                <a16:creationId xmlns:a16="http://schemas.microsoft.com/office/drawing/2014/main" id="{FCD129AD-3C11-FA99-F0F5-439D49C4D7B2}"/>
              </a:ext>
            </a:extLst>
          </p:cNvPr>
          <p:cNvSpPr/>
          <p:nvPr/>
        </p:nvSpPr>
        <p:spPr>
          <a:xfrm>
            <a:off x="592557" y="427206"/>
            <a:ext cx="11032153" cy="138155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6A6A842-B083-4CEE-4CB6-B0955DBCFD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49405C0-8A8A-42EE-ACED-68987F8FE9F2}" type="datetime1">
              <a:rPr kumimoji="0" lang="de-DE" sz="1200" b="0" i="0" u="none" strike="noStrike" kern="1200" cap="none" spc="0" normalizeH="0" baseline="0" noProof="0" smtClean="0">
                <a:ln>
                  <a:noFill/>
                </a:ln>
                <a:solidFill>
                  <a:srgbClr val="355E3B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15.07.2026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srgbClr val="355E3B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315EA7B-9A6A-85F1-3361-4B2C5CD0BA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v-SE" sz="1200" b="0" i="0" u="none" strike="noStrike" kern="1200" cap="none" spc="0" normalizeH="0" baseline="0" noProof="0">
                <a:ln>
                  <a:noFill/>
                </a:ln>
                <a:solidFill>
                  <a:srgbClr val="355E3B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Bekir, Avid, Alex, Darian, Lara P., Sheila</a:t>
            </a:r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srgbClr val="355E3B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A8A3FF0-EC9E-BC29-E045-089C2270A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817EE8E-3513-4D7C-BF7B-7494C67953C0}" type="slidenum">
              <a:rPr kumimoji="0" lang="de-DE" sz="1200" b="0" i="0" u="none" strike="noStrike" kern="1200" cap="none" spc="0" normalizeH="0" baseline="0" noProof="0" smtClean="0">
                <a:ln>
                  <a:noFill/>
                </a:ln>
                <a:solidFill>
                  <a:srgbClr val="355E3B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srgbClr val="355E3B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cxnSp>
        <p:nvCxnSpPr>
          <p:cNvPr id="17" name="Gerade Verbindung mit Pfeil 16">
            <a:extLst>
              <a:ext uri="{FF2B5EF4-FFF2-40B4-BE49-F238E27FC236}">
                <a16:creationId xmlns:a16="http://schemas.microsoft.com/office/drawing/2014/main" id="{6735E418-8C6F-6ECE-3E38-B5C49089C153}"/>
              </a:ext>
            </a:extLst>
          </p:cNvPr>
          <p:cNvCxnSpPr>
            <a:cxnSpLocks/>
          </p:cNvCxnSpPr>
          <p:nvPr/>
        </p:nvCxnSpPr>
        <p:spPr>
          <a:xfrm>
            <a:off x="6133143" y="1913136"/>
            <a:ext cx="6591" cy="716683"/>
          </a:xfrm>
          <a:prstGeom prst="straightConnector1">
            <a:avLst/>
          </a:prstGeom>
          <a:ln w="571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hteck: abgerundete Ecken 6">
            <a:extLst>
              <a:ext uri="{FF2B5EF4-FFF2-40B4-BE49-F238E27FC236}">
                <a16:creationId xmlns:a16="http://schemas.microsoft.com/office/drawing/2014/main" id="{53C173FF-E608-09CC-0671-56AC207154AE}"/>
              </a:ext>
            </a:extLst>
          </p:cNvPr>
          <p:cNvSpPr/>
          <p:nvPr/>
        </p:nvSpPr>
        <p:spPr>
          <a:xfrm>
            <a:off x="1515769" y="1023957"/>
            <a:ext cx="4404500" cy="689729"/>
          </a:xfrm>
          <a:prstGeom prst="roundRect">
            <a:avLst/>
          </a:prstGeom>
          <a:solidFill>
            <a:srgbClr val="496E4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User-Portal              |           </a:t>
            </a:r>
            <a:r>
              <a:rPr kumimoji="0" lang="de-DE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    Port 8080</a:t>
            </a:r>
          </a:p>
        </p:txBody>
      </p:sp>
      <p:sp>
        <p:nvSpPr>
          <p:cNvPr id="10" name="Rechteck: abgerundete Ecken 9">
            <a:extLst>
              <a:ext uri="{FF2B5EF4-FFF2-40B4-BE49-F238E27FC236}">
                <a16:creationId xmlns:a16="http://schemas.microsoft.com/office/drawing/2014/main" id="{8B9DA078-D83E-C681-C96D-6B01ED0EB6B0}"/>
              </a:ext>
            </a:extLst>
          </p:cNvPr>
          <p:cNvSpPr/>
          <p:nvPr/>
        </p:nvSpPr>
        <p:spPr>
          <a:xfrm>
            <a:off x="6310673" y="1013148"/>
            <a:ext cx="4431522" cy="700538"/>
          </a:xfrm>
          <a:prstGeom prst="roundRect">
            <a:avLst/>
          </a:prstGeom>
          <a:solidFill>
            <a:srgbClr val="496E4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Admin-Portal               |              </a:t>
            </a:r>
            <a:r>
              <a:rPr kumimoji="0" lang="de-DE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Port 8081</a:t>
            </a:r>
          </a:p>
        </p:txBody>
      </p:sp>
      <p:sp>
        <p:nvSpPr>
          <p:cNvPr id="11" name="Rechteck: abgerundete Ecken 10">
            <a:extLst>
              <a:ext uri="{FF2B5EF4-FFF2-40B4-BE49-F238E27FC236}">
                <a16:creationId xmlns:a16="http://schemas.microsoft.com/office/drawing/2014/main" id="{0F3026B6-A10F-19D4-A910-3D974D7FE119}"/>
              </a:ext>
            </a:extLst>
          </p:cNvPr>
          <p:cNvSpPr/>
          <p:nvPr/>
        </p:nvSpPr>
        <p:spPr>
          <a:xfrm>
            <a:off x="3787840" y="5546194"/>
            <a:ext cx="4703065" cy="676426"/>
          </a:xfrm>
          <a:prstGeom prst="roundRect">
            <a:avLst/>
          </a:prstGeom>
          <a:solidFill>
            <a:srgbClr val="2E4A3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gemeinsame PostgreSQL Datenbank</a:t>
            </a:r>
          </a:p>
        </p:txBody>
      </p:sp>
      <p:cxnSp>
        <p:nvCxnSpPr>
          <p:cNvPr id="13" name="Gerade Verbindung mit Pfeil 12">
            <a:extLst>
              <a:ext uri="{FF2B5EF4-FFF2-40B4-BE49-F238E27FC236}">
                <a16:creationId xmlns:a16="http://schemas.microsoft.com/office/drawing/2014/main" id="{570A33B7-3358-2D42-E517-6DB35A744229}"/>
              </a:ext>
            </a:extLst>
          </p:cNvPr>
          <p:cNvCxnSpPr>
            <a:cxnSpLocks/>
          </p:cNvCxnSpPr>
          <p:nvPr/>
        </p:nvCxnSpPr>
        <p:spPr>
          <a:xfrm>
            <a:off x="6135430" y="4829854"/>
            <a:ext cx="6591" cy="716683"/>
          </a:xfrm>
          <a:prstGeom prst="straightConnector1">
            <a:avLst/>
          </a:prstGeom>
          <a:ln w="571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feld 17">
            <a:extLst>
              <a:ext uri="{FF2B5EF4-FFF2-40B4-BE49-F238E27FC236}">
                <a16:creationId xmlns:a16="http://schemas.microsoft.com/office/drawing/2014/main" id="{01A9677B-FF40-EB1D-7DCB-BBEE971007A4}"/>
              </a:ext>
            </a:extLst>
          </p:cNvPr>
          <p:cNvSpPr txBox="1"/>
          <p:nvPr/>
        </p:nvSpPr>
        <p:spPr>
          <a:xfrm>
            <a:off x="1823163" y="556637"/>
            <a:ext cx="81915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00" b="1" i="0" u="none" strike="noStrike" kern="1200" cap="none" spc="0" normalizeH="0" baseline="0" noProof="0" err="1">
                <a:ln>
                  <a:noFill/>
                </a:ln>
                <a:solidFill>
                  <a:srgbClr val="2E4A32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Frontends</a:t>
            </a:r>
            <a:r>
              <a:rPr kumimoji="0" lang="de-DE" sz="1800" b="1" i="0" u="none" strike="noStrike" kern="1200" cap="none" spc="0" normalizeH="0" baseline="0" noProof="0">
                <a:ln>
                  <a:noFill/>
                </a:ln>
                <a:solidFill>
                  <a:srgbClr val="2E4A32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 • Browser – Vanilla JS via </a:t>
            </a:r>
            <a:r>
              <a:rPr kumimoji="0" lang="de-DE" sz="1800" b="1" i="0" u="none" strike="noStrike" kern="1200" cap="none" spc="0" normalizeH="0" baseline="0" noProof="0" err="1">
                <a:ln>
                  <a:noFill/>
                </a:ln>
                <a:solidFill>
                  <a:srgbClr val="2E4A32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nginx</a:t>
            </a:r>
            <a:endParaRPr kumimoji="0" lang="de-DE" sz="1800" b="1" i="0" u="none" strike="noStrike" kern="1200" cap="none" spc="0" normalizeH="0" baseline="0" noProof="0">
              <a:ln>
                <a:noFill/>
              </a:ln>
              <a:solidFill>
                <a:srgbClr val="2E4A32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sp>
        <p:nvSpPr>
          <p:cNvPr id="8" name="Rechteck: abgerundete Ecken 7">
            <a:extLst>
              <a:ext uri="{FF2B5EF4-FFF2-40B4-BE49-F238E27FC236}">
                <a16:creationId xmlns:a16="http://schemas.microsoft.com/office/drawing/2014/main" id="{A24EE4AC-003B-8F52-9564-61BFB46A5694}"/>
              </a:ext>
            </a:extLst>
          </p:cNvPr>
          <p:cNvSpPr/>
          <p:nvPr/>
        </p:nvSpPr>
        <p:spPr>
          <a:xfrm>
            <a:off x="624984" y="3756227"/>
            <a:ext cx="2115132" cy="884365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00" b="1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auth</a:t>
            </a:r>
            <a:r>
              <a:rPr kumimoji="0" lang="de-DE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-service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Port 3001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Login • JWT</a:t>
            </a:r>
          </a:p>
        </p:txBody>
      </p:sp>
      <p:sp>
        <p:nvSpPr>
          <p:cNvPr id="3" name="Rechteck: abgerundete Ecken 2">
            <a:extLst>
              <a:ext uri="{FF2B5EF4-FFF2-40B4-BE49-F238E27FC236}">
                <a16:creationId xmlns:a16="http://schemas.microsoft.com/office/drawing/2014/main" id="{E401F6C5-22C4-D200-65A9-92000CC2930B}"/>
              </a:ext>
            </a:extLst>
          </p:cNvPr>
          <p:cNvSpPr/>
          <p:nvPr/>
        </p:nvSpPr>
        <p:spPr>
          <a:xfrm>
            <a:off x="2740250" y="3756226"/>
            <a:ext cx="2079963" cy="884365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00" b="1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authorization</a:t>
            </a:r>
            <a:endParaRPr kumimoji="0" lang="de-DE" sz="1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Port 3002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Rechte prüfen</a:t>
            </a:r>
          </a:p>
        </p:txBody>
      </p:sp>
      <p:sp>
        <p:nvSpPr>
          <p:cNvPr id="9" name="Rechteck: abgerundete Ecken 8">
            <a:extLst>
              <a:ext uri="{FF2B5EF4-FFF2-40B4-BE49-F238E27FC236}">
                <a16:creationId xmlns:a16="http://schemas.microsoft.com/office/drawing/2014/main" id="{7A78ACC9-52AA-77BF-DE92-D840A6ED1A4D}"/>
              </a:ext>
            </a:extLst>
          </p:cNvPr>
          <p:cNvSpPr/>
          <p:nvPr/>
        </p:nvSpPr>
        <p:spPr>
          <a:xfrm>
            <a:off x="9329214" y="3756303"/>
            <a:ext cx="2389254" cy="884365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00" b="1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user</a:t>
            </a:r>
            <a:r>
              <a:rPr kumimoji="0" lang="de-DE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 – </a:t>
            </a:r>
            <a:r>
              <a:rPr kumimoji="0" lang="de-DE" sz="1800" b="1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management</a:t>
            </a:r>
            <a:endParaRPr kumimoji="0" lang="de-DE" sz="1800" b="0" i="0" u="none" strike="noStrike" kern="1200" cap="none" spc="0" normalizeH="0" baseline="0" noProof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Port 3005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Produkte • Kauf</a:t>
            </a: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sp>
        <p:nvSpPr>
          <p:cNvPr id="14" name="Rechteck: abgerundete Ecken 13">
            <a:extLst>
              <a:ext uri="{FF2B5EF4-FFF2-40B4-BE49-F238E27FC236}">
                <a16:creationId xmlns:a16="http://schemas.microsoft.com/office/drawing/2014/main" id="{8401B9B8-8622-0ECC-4133-79C8045A89A4}"/>
              </a:ext>
            </a:extLst>
          </p:cNvPr>
          <p:cNvSpPr/>
          <p:nvPr/>
        </p:nvSpPr>
        <p:spPr>
          <a:xfrm>
            <a:off x="5698891" y="3745416"/>
            <a:ext cx="1737583" cy="884365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00" b="1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inventar</a:t>
            </a:r>
            <a:endParaRPr kumimoji="0" lang="de-DE" sz="1800" b="0" i="0" u="none" strike="noStrike" kern="1200" cap="none" spc="0" normalizeH="0" baseline="0" noProof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Port 3003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Wunschlisten</a:t>
            </a:r>
          </a:p>
        </p:txBody>
      </p:sp>
      <p:sp>
        <p:nvSpPr>
          <p:cNvPr id="15" name="Rechteck: abgerundete Ecken 14">
            <a:extLst>
              <a:ext uri="{FF2B5EF4-FFF2-40B4-BE49-F238E27FC236}">
                <a16:creationId xmlns:a16="http://schemas.microsoft.com/office/drawing/2014/main" id="{7538E2EB-D1D5-66A7-376F-71515AEF1C84}"/>
              </a:ext>
            </a:extLst>
          </p:cNvPr>
          <p:cNvSpPr/>
          <p:nvPr/>
        </p:nvSpPr>
        <p:spPr>
          <a:xfrm>
            <a:off x="7434321" y="3745415"/>
            <a:ext cx="1897050" cy="896087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00" b="1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wishlist</a:t>
            </a:r>
            <a:endParaRPr kumimoji="0" lang="de-DE" sz="1800" b="0" i="0" u="none" strike="noStrike" kern="1200" cap="none" spc="0" normalizeH="0" baseline="0" noProof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Port 3004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Admin-Verwaltung</a:t>
            </a:r>
          </a:p>
        </p:txBody>
      </p:sp>
      <p:cxnSp>
        <p:nvCxnSpPr>
          <p:cNvPr id="22" name="Gerade Verbindung mit Pfeil 21">
            <a:extLst>
              <a:ext uri="{FF2B5EF4-FFF2-40B4-BE49-F238E27FC236}">
                <a16:creationId xmlns:a16="http://schemas.microsoft.com/office/drawing/2014/main" id="{FDCF61AD-D82B-8BC8-4285-633250293BAC}"/>
              </a:ext>
            </a:extLst>
          </p:cNvPr>
          <p:cNvCxnSpPr>
            <a:cxnSpLocks/>
          </p:cNvCxnSpPr>
          <p:nvPr/>
        </p:nvCxnSpPr>
        <p:spPr>
          <a:xfrm flipH="1">
            <a:off x="4999435" y="4128880"/>
            <a:ext cx="528430" cy="3321"/>
          </a:xfrm>
          <a:prstGeom prst="straightConnector1">
            <a:avLst/>
          </a:prstGeom>
          <a:ln w="571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feld 22">
            <a:extLst>
              <a:ext uri="{FF2B5EF4-FFF2-40B4-BE49-F238E27FC236}">
                <a16:creationId xmlns:a16="http://schemas.microsoft.com/office/drawing/2014/main" id="{5A5A3D55-7701-A7AC-DF89-7E8248C69B88}"/>
              </a:ext>
            </a:extLst>
          </p:cNvPr>
          <p:cNvSpPr txBox="1"/>
          <p:nvPr/>
        </p:nvSpPr>
        <p:spPr>
          <a:xfrm>
            <a:off x="4935940" y="3730388"/>
            <a:ext cx="68238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DBB5D694-2004-E2FA-A6CB-155BF5F134C5}"/>
              </a:ext>
            </a:extLst>
          </p:cNvPr>
          <p:cNvSpPr txBox="1"/>
          <p:nvPr/>
        </p:nvSpPr>
        <p:spPr>
          <a:xfrm>
            <a:off x="6308378" y="2102336"/>
            <a:ext cx="1614985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600" b="1" i="0" u="none" strike="noStrike" kern="1200" cap="none" spc="0" normalizeH="0" baseline="0" noProof="0">
                <a:ln>
                  <a:noFill/>
                </a:ln>
                <a:solidFill>
                  <a:srgbClr val="2E4A32"/>
                </a:solidFill>
                <a:effectLst/>
                <a:highlight>
                  <a:srgbClr val="C0C0C0"/>
                </a:highlight>
                <a:uLnTx/>
                <a:uFillTx/>
                <a:latin typeface="Corbel" panose="020B0503020204020204"/>
                <a:ea typeface="+mn-ea"/>
                <a:cs typeface="+mn-cs"/>
              </a:rPr>
              <a:t>REST • JWT</a:t>
            </a:r>
          </a:p>
        </p:txBody>
      </p:sp>
      <p:sp>
        <p:nvSpPr>
          <p:cNvPr id="25" name="Textfeld 24">
            <a:extLst>
              <a:ext uri="{FF2B5EF4-FFF2-40B4-BE49-F238E27FC236}">
                <a16:creationId xmlns:a16="http://schemas.microsoft.com/office/drawing/2014/main" id="{6B3A9223-BF48-9437-50B1-E8E6A5285B51}"/>
              </a:ext>
            </a:extLst>
          </p:cNvPr>
          <p:cNvSpPr txBox="1"/>
          <p:nvPr/>
        </p:nvSpPr>
        <p:spPr>
          <a:xfrm>
            <a:off x="6389441" y="5015229"/>
            <a:ext cx="1614985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600" b="1" i="0" u="none" strike="noStrike" kern="1200" cap="none" spc="0" normalizeH="0" baseline="0" noProof="0">
                <a:ln>
                  <a:noFill/>
                </a:ln>
                <a:solidFill>
                  <a:srgbClr val="2E4A32"/>
                </a:solidFill>
                <a:effectLst/>
                <a:highlight>
                  <a:srgbClr val="C0C0C0"/>
                </a:highlight>
                <a:uLnTx/>
                <a:uFillTx/>
                <a:latin typeface="Corbel" panose="020B0503020204020204"/>
                <a:ea typeface="+mn-ea"/>
                <a:cs typeface="+mn-cs"/>
              </a:rPr>
              <a:t>SQL</a:t>
            </a:r>
          </a:p>
        </p:txBody>
      </p:sp>
      <p:sp>
        <p:nvSpPr>
          <p:cNvPr id="26" name="Rechteck: abgerundete Ecken 25">
            <a:extLst>
              <a:ext uri="{FF2B5EF4-FFF2-40B4-BE49-F238E27FC236}">
                <a16:creationId xmlns:a16="http://schemas.microsoft.com/office/drawing/2014/main" id="{63CB10B2-1C29-A901-CDB6-5C25AA13AA02}"/>
              </a:ext>
            </a:extLst>
          </p:cNvPr>
          <p:cNvSpPr/>
          <p:nvPr/>
        </p:nvSpPr>
        <p:spPr>
          <a:xfrm>
            <a:off x="9331526" y="5323457"/>
            <a:ext cx="1897050" cy="896087"/>
          </a:xfrm>
          <a:prstGeom prst="round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00" b="1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Mailpit</a:t>
            </a:r>
            <a:r>
              <a:rPr kumimoji="0" lang="de-DE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 (Dev)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Port 8025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Mail-Catcher</a:t>
            </a:r>
          </a:p>
        </p:txBody>
      </p:sp>
      <p:cxnSp>
        <p:nvCxnSpPr>
          <p:cNvPr id="27" name="Gerade Verbindung mit Pfeil 26">
            <a:extLst>
              <a:ext uri="{FF2B5EF4-FFF2-40B4-BE49-F238E27FC236}">
                <a16:creationId xmlns:a16="http://schemas.microsoft.com/office/drawing/2014/main" id="{42DED157-3295-F124-0EA1-9CFAEE2A46D3}"/>
              </a:ext>
            </a:extLst>
          </p:cNvPr>
          <p:cNvCxnSpPr>
            <a:cxnSpLocks/>
          </p:cNvCxnSpPr>
          <p:nvPr/>
        </p:nvCxnSpPr>
        <p:spPr>
          <a:xfrm>
            <a:off x="9107770" y="4797428"/>
            <a:ext cx="379484" cy="549152"/>
          </a:xfrm>
          <a:prstGeom prst="straightConnector1">
            <a:avLst/>
          </a:prstGeom>
          <a:ln w="5715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feld 27">
            <a:extLst>
              <a:ext uri="{FF2B5EF4-FFF2-40B4-BE49-F238E27FC236}">
                <a16:creationId xmlns:a16="http://schemas.microsoft.com/office/drawing/2014/main" id="{70EE0C53-AD90-A006-646A-2FC257DD8399}"/>
              </a:ext>
            </a:extLst>
          </p:cNvPr>
          <p:cNvSpPr txBox="1"/>
          <p:nvPr/>
        </p:nvSpPr>
        <p:spPr>
          <a:xfrm>
            <a:off x="9610377" y="4901739"/>
            <a:ext cx="1614985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600" b="1" i="0" u="none" strike="noStrike" kern="1200" cap="none" spc="0" normalizeH="0" baseline="0" noProof="0">
                <a:ln>
                  <a:noFill/>
                </a:ln>
                <a:solidFill>
                  <a:srgbClr val="2E4A32"/>
                </a:solidFill>
                <a:effectLst/>
                <a:highlight>
                  <a:srgbClr val="C0C0C0"/>
                </a:highlight>
                <a:uLnTx/>
                <a:uFillTx/>
                <a:latin typeface="Corbel" panose="020B0503020204020204"/>
                <a:ea typeface="+mn-ea"/>
                <a:cs typeface="+mn-cs"/>
              </a:rPr>
              <a:t>E-Mail</a:t>
            </a:r>
          </a:p>
        </p:txBody>
      </p:sp>
      <p:sp>
        <p:nvSpPr>
          <p:cNvPr id="16" name="Rechteck: abgerundete Ecken 15">
            <a:extLst>
              <a:ext uri="{FF2B5EF4-FFF2-40B4-BE49-F238E27FC236}">
                <a16:creationId xmlns:a16="http://schemas.microsoft.com/office/drawing/2014/main" id="{CFC4152C-C319-3620-FF8E-C258EC66F817}"/>
              </a:ext>
            </a:extLst>
          </p:cNvPr>
          <p:cNvSpPr/>
          <p:nvPr/>
        </p:nvSpPr>
        <p:spPr>
          <a:xfrm>
            <a:off x="565785" y="5241226"/>
            <a:ext cx="1897050" cy="896087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Bilder (</a:t>
            </a:r>
            <a:r>
              <a:rPr kumimoji="0" lang="de-DE" sz="1800" b="1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nginx</a:t>
            </a:r>
            <a:r>
              <a:rPr kumimoji="0" lang="de-DE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)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Port 8082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Produktbilder</a:t>
            </a:r>
          </a:p>
        </p:txBody>
      </p:sp>
      <p:sp>
        <p:nvSpPr>
          <p:cNvPr id="30" name="Textfeld 29">
            <a:extLst>
              <a:ext uri="{FF2B5EF4-FFF2-40B4-BE49-F238E27FC236}">
                <a16:creationId xmlns:a16="http://schemas.microsoft.com/office/drawing/2014/main" id="{B2839D65-2A40-D956-32C1-3D52B7C205E3}"/>
              </a:ext>
            </a:extLst>
          </p:cNvPr>
          <p:cNvSpPr txBox="1"/>
          <p:nvPr/>
        </p:nvSpPr>
        <p:spPr>
          <a:xfrm>
            <a:off x="792304" y="2104279"/>
            <a:ext cx="1614985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600" b="1" i="0" u="none" strike="noStrike" kern="1200" cap="none" spc="0" normalizeH="0" baseline="0" noProof="0">
                <a:ln>
                  <a:noFill/>
                </a:ln>
                <a:solidFill>
                  <a:srgbClr val="2E4A32"/>
                </a:solidFill>
                <a:effectLst/>
                <a:highlight>
                  <a:srgbClr val="C0C0C0"/>
                </a:highlight>
                <a:uLnTx/>
                <a:uFillTx/>
                <a:latin typeface="Corbel" panose="020B0503020204020204"/>
                <a:ea typeface="+mn-ea"/>
                <a:cs typeface="+mn-cs"/>
              </a:rPr>
              <a:t>HTTP</a:t>
            </a:r>
          </a:p>
        </p:txBody>
      </p:sp>
      <p:sp>
        <p:nvSpPr>
          <p:cNvPr id="32" name="Textfeld 31">
            <a:extLst>
              <a:ext uri="{FF2B5EF4-FFF2-40B4-BE49-F238E27FC236}">
                <a16:creationId xmlns:a16="http://schemas.microsoft.com/office/drawing/2014/main" id="{02CAB812-9BDD-7214-0EDD-1B2F70EA8C7D}"/>
              </a:ext>
            </a:extLst>
          </p:cNvPr>
          <p:cNvSpPr txBox="1"/>
          <p:nvPr/>
        </p:nvSpPr>
        <p:spPr>
          <a:xfrm>
            <a:off x="2683599" y="4971373"/>
            <a:ext cx="1614985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600" b="1" i="0" u="none" strike="noStrike" kern="1200" cap="none" spc="0" normalizeH="0" baseline="0" noProof="0">
                <a:ln>
                  <a:noFill/>
                </a:ln>
                <a:solidFill>
                  <a:srgbClr val="2E4A32"/>
                </a:solidFill>
                <a:effectLst/>
                <a:highlight>
                  <a:srgbClr val="C0C0C0"/>
                </a:highlight>
                <a:uLnTx/>
                <a:uFillTx/>
                <a:latin typeface="Corbel" panose="020B0503020204020204"/>
                <a:ea typeface="+mn-ea"/>
                <a:cs typeface="+mn-cs"/>
              </a:rPr>
              <a:t>Bild Upload</a:t>
            </a:r>
          </a:p>
        </p:txBody>
      </p:sp>
    </p:spTree>
    <p:extLst>
      <p:ext uri="{BB962C8B-B14F-4D97-AF65-F5344CB8AC3E}">
        <p14:creationId xmlns:p14="http://schemas.microsoft.com/office/powerpoint/2010/main" val="13622732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F9BCD8C-A676-A9A8-F848-FABBAC29CE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14">
            <a:extLst>
              <a:ext uri="{FF2B5EF4-FFF2-40B4-BE49-F238E27FC236}">
                <a16:creationId xmlns:a16="http://schemas.microsoft.com/office/drawing/2014/main" id="{809C0BCD-BEE9-423F-A51C-BCCD8E5EAA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DE"/>
          </a:p>
        </p:txBody>
      </p:sp>
      <p:sp>
        <p:nvSpPr>
          <p:cNvPr id="29" name="Rectangle 16">
            <a:extLst>
              <a:ext uri="{FF2B5EF4-FFF2-40B4-BE49-F238E27FC236}">
                <a16:creationId xmlns:a16="http://schemas.microsoft.com/office/drawing/2014/main" id="{9998D094-42B2-42BA-AA14-E8FBE073A5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DE"/>
          </a:p>
        </p:txBody>
      </p:sp>
      <p:cxnSp>
        <p:nvCxnSpPr>
          <p:cNvPr id="30" name="Straight Connector 18">
            <a:extLst>
              <a:ext uri="{FF2B5EF4-FFF2-40B4-BE49-F238E27FC236}">
                <a16:creationId xmlns:a16="http://schemas.microsoft.com/office/drawing/2014/main" id="{8465D64B-59F4-4BDC-B833-A17EF1E046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20">
            <a:extLst>
              <a:ext uri="{FF2B5EF4-FFF2-40B4-BE49-F238E27FC236}">
                <a16:creationId xmlns:a16="http://schemas.microsoft.com/office/drawing/2014/main" id="{63FE6F10-B3AD-4403-94CA-F511552869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140" y="243840"/>
            <a:ext cx="11722100" cy="6377939"/>
          </a:xfrm>
          <a:prstGeom prst="rect">
            <a:avLst/>
          </a:prstGeom>
          <a:solidFill>
            <a:schemeClr val="bg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DE"/>
          </a:p>
        </p:txBody>
      </p:sp>
      <p:sp useBgFill="1">
        <p:nvSpPr>
          <p:cNvPr id="32" name="Rectangle 22">
            <a:extLst>
              <a:ext uri="{FF2B5EF4-FFF2-40B4-BE49-F238E27FC236}">
                <a16:creationId xmlns:a16="http://schemas.microsoft.com/office/drawing/2014/main" id="{364D6A39-A4F7-4B00-9F42-3BC67177DB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52944" y="246887"/>
            <a:ext cx="4397755" cy="6377939"/>
          </a:xfrm>
          <a:prstGeom prst="rect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DE"/>
          </a:p>
        </p:txBody>
      </p:sp>
      <p:cxnSp>
        <p:nvCxnSpPr>
          <p:cNvPr id="33" name="Straight Connector 24">
            <a:extLst>
              <a:ext uri="{FF2B5EF4-FFF2-40B4-BE49-F238E27FC236}">
                <a16:creationId xmlns:a16="http://schemas.microsoft.com/office/drawing/2014/main" id="{13553ADF-88A1-4645-B819-890CA3DF7D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370284" y="4405863"/>
            <a:ext cx="2763075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B5D0D97D-7911-4A25-88E2-4D81FD4AB2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00" y="246888"/>
            <a:ext cx="11724640" cy="6377939"/>
          </a:xfrm>
          <a:prstGeom prst="rect">
            <a:avLst/>
          </a:prstGeom>
          <a:noFill/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F16FE2A2-0777-CBC3-DA4B-195F6C095B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95138" y="857675"/>
            <a:ext cx="3113366" cy="362284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85000"/>
              </a:lnSpc>
            </a:pPr>
            <a:r>
              <a:rPr lang="en-US" sz="4600" b="1" cap="all">
                <a:solidFill>
                  <a:srgbClr val="FFFFFF"/>
                </a:solidFill>
              </a:rPr>
              <a:t>Ordner-</a:t>
            </a:r>
            <a:r>
              <a:rPr lang="en-US" sz="4600" b="1" cap="all" err="1">
                <a:solidFill>
                  <a:srgbClr val="FFFFFF"/>
                </a:solidFill>
              </a:rPr>
              <a:t>Struktur</a:t>
            </a:r>
            <a:endParaRPr lang="de-DE" err="1"/>
          </a:p>
        </p:txBody>
      </p:sp>
      <p:pic>
        <p:nvPicPr>
          <p:cNvPr id="10" name="Grafik 9" descr="Ein Bild, das Text, Screenshot, Software, Design enthält.&#10;&#10;KI-generierte Inhalte können fehlerhaft sein.">
            <a:extLst>
              <a:ext uri="{FF2B5EF4-FFF2-40B4-BE49-F238E27FC236}">
                <a16:creationId xmlns:a16="http://schemas.microsoft.com/office/drawing/2014/main" id="{5DD87E6A-0C22-D9A0-E500-1CC7512BB64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548"/>
          <a:stretch>
            <a:fillRect/>
          </a:stretch>
        </p:blipFill>
        <p:spPr>
          <a:xfrm>
            <a:off x="872064" y="857675"/>
            <a:ext cx="6045576" cy="5140669"/>
          </a:xfrm>
          <a:prstGeom prst="rect">
            <a:avLst/>
          </a:prstGeom>
        </p:spPr>
      </p:pic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17AA72B-46FB-DF73-D347-A206E6F477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95468" y="6223828"/>
            <a:ext cx="4717774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spcAft>
                <a:spcPts val="600"/>
              </a:spcAft>
            </a:pPr>
            <a:r>
              <a:rPr lang="en-US" kern="1200">
                <a:latin typeface="+mn-lt"/>
                <a:ea typeface="+mn-ea"/>
                <a:cs typeface="+mn-cs"/>
              </a:rPr>
              <a:t>Bekir, Avid, Alex, Darian, Lara P., Sheila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A176223-573E-B86E-6D2D-1B7E0FFAEA0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853564" y="6223828"/>
            <a:ext cx="2329074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CE549A6D-6F67-41C6-A1F8-C5C4578DB887}" type="datetime1">
              <a:rPr lang="en-US" smtClean="0">
                <a:solidFill>
                  <a:srgbClr val="FFFFFF"/>
                </a:solidFill>
              </a:rPr>
              <a:pPr defTabSz="914400">
                <a:spcAft>
                  <a:spcPts val="600"/>
                </a:spcAft>
              </a:pPr>
              <a:t>7/15/2026</a:t>
            </a:fld>
            <a:endParaRPr lang="en-US">
              <a:solidFill>
                <a:srgbClr val="FFFFFF"/>
              </a:solidFill>
            </a:endParaRP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5277233-5247-732D-7A9D-AD3F26AA6F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62082" y="6223828"/>
            <a:ext cx="1008969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D817EE8E-3513-4D7C-BF7B-7494C67953C0}" type="slidenum">
              <a:rPr lang="en-US" smtClean="0">
                <a:solidFill>
                  <a:srgbClr val="FFFFFF"/>
                </a:solidFill>
              </a:rPr>
              <a:pPr defTabSz="914400">
                <a:spcAft>
                  <a:spcPts val="600"/>
                </a:spcAft>
              </a:pPr>
              <a:t>14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48329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28A4F3C-6118-566C-0968-2ECE40A3E7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5FC40390-A4A9-CB7D-BCD5-A987FE85EC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DE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257DCD2-EBEC-B0AF-0298-56E5F4A8CB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DE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7351E94C-9811-7DC8-19EE-2DA5F43D81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0AEE7703-86AA-A0EE-9EB3-25E8C10A5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978660" y="5462458"/>
            <a:ext cx="82296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6B4E0FB4-CD79-CCE9-F242-2C459E4EBD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140" y="243841"/>
            <a:ext cx="11722100" cy="3964584"/>
          </a:xfrm>
          <a:prstGeom prst="rect">
            <a:avLst/>
          </a:prstGeom>
          <a:solidFill>
            <a:schemeClr val="bg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DE"/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A83A4D02-ED05-4699-9702-EED462D01604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3314835" y="728472"/>
            <a:ext cx="5554708" cy="3027316"/>
          </a:xfrm>
          <a:prstGeom prst="rect">
            <a:avLst/>
          </a:prstGeom>
        </p:spPr>
      </p:pic>
      <p:cxnSp>
        <p:nvCxnSpPr>
          <p:cNvPr id="15" name="Gerader Verbinder 14">
            <a:extLst>
              <a:ext uri="{FF2B5EF4-FFF2-40B4-BE49-F238E27FC236}">
                <a16:creationId xmlns:a16="http://schemas.microsoft.com/office/drawing/2014/main" id="{934038BF-41C7-58B4-DAFC-CAC0A4C019FB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1978660" y="5462458"/>
            <a:ext cx="849122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el 1">
            <a:extLst>
              <a:ext uri="{FF2B5EF4-FFF2-40B4-BE49-F238E27FC236}">
                <a16:creationId xmlns:a16="http://schemas.microsoft.com/office/drawing/2014/main" id="{0A973B6B-FCDD-4B22-8E80-284BA9F8AD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8709" y="4632960"/>
            <a:ext cx="9966960" cy="132588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85000"/>
              </a:lnSpc>
            </a:pPr>
            <a:r>
              <a:rPr lang="en-US" sz="6600" b="1" u="sng" cap="all">
                <a:solidFill>
                  <a:srgbClr val="FFFFFF"/>
                </a:solidFill>
              </a:rPr>
              <a:t>Auth-Service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B7A8E189-1A64-4981-ACF8-EAC169AE34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53C98-6028-44F3-9ABB-F5AC41E3CA7E}" type="datetime1">
              <a:rPr lang="de-DE" smtClean="0"/>
              <a:t>15.07.2026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C111B4F-764C-BAF3-94EB-61A613CE4C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Bekir, Avid, Alex, Darian, Lara P., Sheila</a:t>
            </a:r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D5B542E-0CEB-C7C9-A022-2BB3B1382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7EE8E-3513-4D7C-BF7B-7494C67953C0}" type="slidenum">
              <a:rPr lang="de-DE" smtClean="0"/>
              <a:t>15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557179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D60046C-A5A7-477A-6690-D3EB63CB36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609600"/>
            <a:ext cx="9897291" cy="877388"/>
          </a:xfrm>
        </p:spPr>
        <p:txBody>
          <a:bodyPr>
            <a:normAutofit/>
          </a:bodyPr>
          <a:lstStyle/>
          <a:p>
            <a:r>
              <a:rPr lang="de-DE" err="1"/>
              <a:t>auth</a:t>
            </a:r>
            <a:r>
              <a:rPr lang="de-DE"/>
              <a:t>-service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CB09A96B-CEC4-04B0-6163-B208E972A8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3DA46-2E12-402E-B3E7-8AEBE7164A0E}" type="datetime1">
              <a:rPr lang="de-DE" smtClean="0"/>
              <a:t>15.07.2026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B15948FB-D8B9-750E-48BA-7E8E5EB639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Bekir, Avid, Alex, Darian, Lara P., Sheila</a:t>
            </a:r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B1362174-9E4C-8780-9D16-3E53456C8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7EE8E-3513-4D7C-BF7B-7494C67953C0}" type="slidenum">
              <a:rPr lang="de-DE" smtClean="0"/>
              <a:t>16</a:t>
            </a:fld>
            <a:endParaRPr lang="de-DE"/>
          </a:p>
        </p:txBody>
      </p:sp>
      <p:sp>
        <p:nvSpPr>
          <p:cNvPr id="7" name="Titel 1">
            <a:extLst>
              <a:ext uri="{FF2B5EF4-FFF2-40B4-BE49-F238E27FC236}">
                <a16:creationId xmlns:a16="http://schemas.microsoft.com/office/drawing/2014/main" id="{D4B16923-0BDF-EAF6-0712-15EA2E3790C5}"/>
              </a:ext>
            </a:extLst>
          </p:cNvPr>
          <p:cNvSpPr txBox="1">
            <a:spLocks/>
          </p:cNvSpPr>
          <p:nvPr/>
        </p:nvSpPr>
        <p:spPr>
          <a:xfrm>
            <a:off x="1143000" y="1966686"/>
            <a:ext cx="9897291" cy="32141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800"/>
              <a:t>Hauptfrage: "Wer bist du?"</a:t>
            </a:r>
            <a:endParaRPr lang="de-DE"/>
          </a:p>
          <a:p>
            <a:pPr marL="571500" indent="-571500">
              <a:buFont typeface="Arial"/>
              <a:buChar char="•"/>
            </a:pPr>
            <a:endParaRPr lang="de-DE" sz="2400"/>
          </a:p>
          <a:p>
            <a:pPr marL="1028700" lvl="1" indent="-571500">
              <a:lnSpc>
                <a:spcPct val="90000"/>
              </a:lnSpc>
              <a:spcBef>
                <a:spcPct val="0"/>
              </a:spcBef>
              <a:buFont typeface="Courier New"/>
              <a:buChar char="o"/>
            </a:pPr>
            <a:r>
              <a:rPr lang="de-DE" sz="2000">
                <a:solidFill>
                  <a:srgbClr val="355E3B"/>
                </a:solidFill>
              </a:rPr>
              <a:t>Zuständig für Login und Registrierung</a:t>
            </a:r>
          </a:p>
          <a:p>
            <a:pPr marL="1028700" lvl="1" indent="-571500">
              <a:lnSpc>
                <a:spcPct val="90000"/>
              </a:lnSpc>
              <a:spcBef>
                <a:spcPct val="0"/>
              </a:spcBef>
              <a:buFont typeface="Courier New"/>
              <a:buChar char="o"/>
            </a:pPr>
            <a:endParaRPr lang="de-DE" sz="2000">
              <a:solidFill>
                <a:srgbClr val="355E3B"/>
              </a:solidFill>
            </a:endParaRPr>
          </a:p>
          <a:p>
            <a:pPr marL="1028700" lvl="1" indent="-571500">
              <a:lnSpc>
                <a:spcPct val="90000"/>
              </a:lnSpc>
              <a:spcBef>
                <a:spcPct val="0"/>
              </a:spcBef>
              <a:buFont typeface="Courier New"/>
              <a:buChar char="o"/>
            </a:pPr>
            <a:r>
              <a:rPr lang="de-DE" sz="2000">
                <a:solidFill>
                  <a:srgbClr val="355E3B"/>
                </a:solidFill>
              </a:rPr>
              <a:t>Stellt JWT aus, prüft und </a:t>
            </a:r>
            <a:r>
              <a:rPr lang="de-DE" sz="2000" err="1">
                <a:solidFill>
                  <a:srgbClr val="355E3B"/>
                </a:solidFill>
              </a:rPr>
              <a:t>Blacklisted</a:t>
            </a:r>
            <a:r>
              <a:rPr lang="de-DE" sz="2000">
                <a:solidFill>
                  <a:srgbClr val="355E3B"/>
                </a:solidFill>
              </a:rPr>
              <a:t> sie</a:t>
            </a:r>
          </a:p>
          <a:p>
            <a:pPr marL="1028700" lvl="1" indent="-571500">
              <a:lnSpc>
                <a:spcPct val="90000"/>
              </a:lnSpc>
              <a:spcBef>
                <a:spcPct val="0"/>
              </a:spcBef>
              <a:buFont typeface="Courier New"/>
              <a:buChar char="o"/>
            </a:pPr>
            <a:endParaRPr lang="de-DE" sz="2000">
              <a:solidFill>
                <a:srgbClr val="355E3B"/>
              </a:solidFill>
            </a:endParaRPr>
          </a:p>
          <a:p>
            <a:pPr marL="1028700" lvl="1" indent="-571500">
              <a:lnSpc>
                <a:spcPct val="90000"/>
              </a:lnSpc>
              <a:spcBef>
                <a:spcPct val="0"/>
              </a:spcBef>
              <a:buFont typeface="Courier New"/>
              <a:buChar char="o"/>
            </a:pPr>
            <a:r>
              <a:rPr lang="de-DE" sz="2000">
                <a:solidFill>
                  <a:srgbClr val="355E3B"/>
                </a:solidFill>
              </a:rPr>
              <a:t>übergibt </a:t>
            </a:r>
            <a:r>
              <a:rPr lang="de-DE" sz="2000" err="1">
                <a:solidFill>
                  <a:srgbClr val="355E3B"/>
                </a:solidFill>
              </a:rPr>
              <a:t>userID</a:t>
            </a:r>
            <a:r>
              <a:rPr lang="de-DE" sz="2000">
                <a:solidFill>
                  <a:srgbClr val="355E3B"/>
                </a:solidFill>
              </a:rPr>
              <a:t> und Rolle des Users an den </a:t>
            </a:r>
            <a:r>
              <a:rPr lang="de-DE" sz="2000" err="1">
                <a:solidFill>
                  <a:srgbClr val="355E3B"/>
                </a:solidFill>
              </a:rPr>
              <a:t>authorization</a:t>
            </a:r>
            <a:r>
              <a:rPr lang="de-DE" sz="2000">
                <a:solidFill>
                  <a:srgbClr val="355E3B"/>
                </a:solidFill>
              </a:rPr>
              <a:t>-service</a:t>
            </a:r>
            <a:endParaRPr lang="de-DE" sz="2000"/>
          </a:p>
        </p:txBody>
      </p:sp>
      <p:sp>
        <p:nvSpPr>
          <p:cNvPr id="11" name="Titel 1">
            <a:extLst>
              <a:ext uri="{FF2B5EF4-FFF2-40B4-BE49-F238E27FC236}">
                <a16:creationId xmlns:a16="http://schemas.microsoft.com/office/drawing/2014/main" id="{6BBAD1BA-02D3-5EC9-A07E-37197FDA461F}"/>
              </a:ext>
            </a:extLst>
          </p:cNvPr>
          <p:cNvSpPr txBox="1">
            <a:spLocks/>
          </p:cNvSpPr>
          <p:nvPr/>
        </p:nvSpPr>
        <p:spPr>
          <a:xfrm>
            <a:off x="1150257" y="1357085"/>
            <a:ext cx="9897291" cy="3548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7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/>
              <a:t>Port 3001</a:t>
            </a:r>
          </a:p>
        </p:txBody>
      </p:sp>
    </p:spTree>
    <p:extLst>
      <p:ext uri="{BB962C8B-B14F-4D97-AF65-F5344CB8AC3E}">
        <p14:creationId xmlns:p14="http://schemas.microsoft.com/office/powerpoint/2010/main" val="28812378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B5C8CF-AF0F-0AB9-81F4-32AC9FEBAD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2367D0F-11F1-4229-5039-E0055A68CA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6714" y="478971"/>
            <a:ext cx="9897291" cy="877388"/>
          </a:xfrm>
        </p:spPr>
        <p:txBody>
          <a:bodyPr>
            <a:normAutofit/>
          </a:bodyPr>
          <a:lstStyle/>
          <a:p>
            <a:r>
              <a:rPr lang="de-DE" err="1"/>
              <a:t>auth</a:t>
            </a:r>
            <a:r>
              <a:rPr lang="de-DE"/>
              <a:t>-service · Endpoints und Funktionen</a:t>
            </a:r>
            <a:endParaRPr lang="en-US" i="1">
              <a:solidFill>
                <a:srgbClr val="5D5D5D"/>
              </a:solidFill>
              <a:latin typeface="Segoe UI"/>
              <a:cs typeface="Segoe UI"/>
            </a:endParaRP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108D344-1890-2ECF-3A45-08272FBEDE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3DA46-2E12-402E-B3E7-8AEBE7164A0E}" type="datetime1">
              <a:rPr lang="de-DE" smtClean="0"/>
              <a:t>15.07.2026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BECF3A1-7F8D-0260-474B-762166404A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Bekir, Avid, Alex, Darian, Lara P., Sheila</a:t>
            </a:r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5111E9F5-121F-7EE3-2FEB-E9EE5079E9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7EE8E-3513-4D7C-BF7B-7494C67953C0}" type="slidenum">
              <a:rPr lang="de-DE" smtClean="0"/>
              <a:t>17</a:t>
            </a:fld>
            <a:endParaRPr lang="de-DE"/>
          </a:p>
        </p:txBody>
      </p:sp>
      <p:sp>
        <p:nvSpPr>
          <p:cNvPr id="11" name="Titel 1">
            <a:extLst>
              <a:ext uri="{FF2B5EF4-FFF2-40B4-BE49-F238E27FC236}">
                <a16:creationId xmlns:a16="http://schemas.microsoft.com/office/drawing/2014/main" id="{447E5C9A-1E3E-EB32-03C4-53807F09C4EA}"/>
              </a:ext>
            </a:extLst>
          </p:cNvPr>
          <p:cNvSpPr txBox="1">
            <a:spLocks/>
          </p:cNvSpPr>
          <p:nvPr/>
        </p:nvSpPr>
        <p:spPr>
          <a:xfrm>
            <a:off x="1150257" y="1182914"/>
            <a:ext cx="9897291" cy="3548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/>
              <a:t>Port 3001 · interner Endpoint: POST /api/</a:t>
            </a:r>
            <a:r>
              <a:rPr lang="de-DE" err="1"/>
              <a:t>auth</a:t>
            </a:r>
            <a:r>
              <a:rPr lang="de-DE"/>
              <a:t>/</a:t>
            </a:r>
            <a:r>
              <a:rPr lang="de-DE" err="1"/>
              <a:t>validate</a:t>
            </a:r>
            <a:r>
              <a:rPr lang="de-DE"/>
              <a:t> damit andere Services JWTs prüfen können</a:t>
            </a:r>
          </a:p>
        </p:txBody>
      </p:sp>
      <p:sp>
        <p:nvSpPr>
          <p:cNvPr id="8" name="Shape 2">
            <a:extLst>
              <a:ext uri="{FF2B5EF4-FFF2-40B4-BE49-F238E27FC236}">
                <a16:creationId xmlns:a16="http://schemas.microsoft.com/office/drawing/2014/main" id="{EC91BE82-10F4-EA26-02BC-51BAE51EBF17}"/>
              </a:ext>
            </a:extLst>
          </p:cNvPr>
          <p:cNvSpPr/>
          <p:nvPr/>
        </p:nvSpPr>
        <p:spPr>
          <a:xfrm>
            <a:off x="609600" y="1676110"/>
            <a:ext cx="10972800" cy="792480"/>
          </a:xfrm>
          <a:prstGeom prst="roundRect">
            <a:avLst>
              <a:gd name="adj" fmla="val 9231"/>
            </a:avLst>
          </a:prstGeom>
          <a:solidFill>
            <a:srgbClr val="F3F6F3"/>
          </a:solidFill>
          <a:ln w="12700">
            <a:solidFill>
              <a:srgbClr val="CED2CE"/>
            </a:solidFill>
            <a:prstDash val="solid"/>
          </a:ln>
        </p:spPr>
        <p:txBody>
          <a:bodyPr/>
          <a:lstStyle/>
          <a:p>
            <a:endParaRPr lang="de-DE" sz="2400"/>
          </a:p>
        </p:txBody>
      </p:sp>
      <p:sp>
        <p:nvSpPr>
          <p:cNvPr id="10" name="Shape 3">
            <a:extLst>
              <a:ext uri="{FF2B5EF4-FFF2-40B4-BE49-F238E27FC236}">
                <a16:creationId xmlns:a16="http://schemas.microsoft.com/office/drawing/2014/main" id="{7F46DEA3-4737-7DC5-3A82-51258F1CE0E7}"/>
              </a:ext>
            </a:extLst>
          </p:cNvPr>
          <p:cNvSpPr/>
          <p:nvPr/>
        </p:nvSpPr>
        <p:spPr>
          <a:xfrm>
            <a:off x="877824" y="1804126"/>
            <a:ext cx="536448" cy="536448"/>
          </a:xfrm>
          <a:prstGeom prst="ellipse">
            <a:avLst/>
          </a:prstGeom>
          <a:solidFill>
            <a:srgbClr val="E8985E"/>
          </a:solidFill>
          <a:ln/>
        </p:spPr>
        <p:txBody>
          <a:bodyPr/>
          <a:lstStyle/>
          <a:p>
            <a:endParaRPr lang="de-DE" sz="2400"/>
          </a:p>
        </p:txBody>
      </p:sp>
      <p:pic>
        <p:nvPicPr>
          <p:cNvPr id="13" name="Image 0" descr="Umschlag mit einfarbiger Füllung">
            <a:extLst>
              <a:ext uri="{FF2B5EF4-FFF2-40B4-BE49-F238E27FC236}">
                <a16:creationId xmlns:a16="http://schemas.microsoft.com/office/drawing/2014/main" id="{BAAFE08D-9A47-2E72-5159-AB261FBA93F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1015" y="1921832"/>
            <a:ext cx="330066" cy="308294"/>
          </a:xfrm>
          <a:prstGeom prst="rect">
            <a:avLst/>
          </a:prstGeom>
        </p:spPr>
      </p:pic>
      <p:sp>
        <p:nvSpPr>
          <p:cNvPr id="15" name="RowHead700">
            <a:extLst>
              <a:ext uri="{FF2B5EF4-FFF2-40B4-BE49-F238E27FC236}">
                <a16:creationId xmlns:a16="http://schemas.microsoft.com/office/drawing/2014/main" id="{1CE82FBA-78D3-DDD3-53FB-549439D0DEF1}"/>
              </a:ext>
            </a:extLst>
          </p:cNvPr>
          <p:cNvSpPr/>
          <p:nvPr/>
        </p:nvSpPr>
        <p:spPr>
          <a:xfrm>
            <a:off x="1609344" y="1710891"/>
            <a:ext cx="5462016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spc="80">
                <a:solidFill>
                  <a:srgbClr val="E8985E"/>
                </a:solidFill>
                <a:latin typeface="Segoe UI"/>
                <a:cs typeface="Segoe UI"/>
              </a:rPr>
              <a:t>AUTH-1 </a:t>
            </a:r>
            <a:r>
              <a:rPr lang="en-US" sz="1850" b="1" err="1">
                <a:solidFill>
                  <a:srgbClr val="355E3B"/>
                </a:solidFill>
                <a:latin typeface="Segoe UI"/>
                <a:cs typeface="Segoe UI"/>
              </a:rPr>
              <a:t>Registrierung</a:t>
            </a:r>
            <a:r>
              <a:rPr lang="en-US" sz="1850" b="1">
                <a:solidFill>
                  <a:srgbClr val="355E3B"/>
                </a:solidFill>
                <a:latin typeface="Segoe UI"/>
                <a:cs typeface="Segoe UI"/>
              </a:rPr>
              <a:t> per Mail</a:t>
            </a:r>
          </a:p>
        </p:txBody>
      </p:sp>
      <p:sp>
        <p:nvSpPr>
          <p:cNvPr id="17" name="Text 6">
            <a:extLst>
              <a:ext uri="{FF2B5EF4-FFF2-40B4-BE49-F238E27FC236}">
                <a16:creationId xmlns:a16="http://schemas.microsoft.com/office/drawing/2014/main" id="{3A1DCE71-440C-0F5B-4066-5830C71B6B3A}"/>
              </a:ext>
            </a:extLst>
          </p:cNvPr>
          <p:cNvSpPr/>
          <p:nvPr/>
        </p:nvSpPr>
        <p:spPr>
          <a:xfrm>
            <a:off x="7071360" y="1773646"/>
            <a:ext cx="426720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300">
                <a:solidFill>
                  <a:srgbClr val="5D5D5D"/>
                </a:solidFill>
                <a:latin typeface="Consolas"/>
                <a:ea typeface="Consolas" pitchFamily="34" charset="-122"/>
                <a:cs typeface="Consolas" pitchFamily="34" charset="-120"/>
              </a:rPr>
              <a:t>POST /</a:t>
            </a:r>
            <a:r>
              <a:rPr lang="en-US" sz="1300" err="1">
                <a:solidFill>
                  <a:srgbClr val="5D5D5D"/>
                </a:solidFill>
                <a:latin typeface="Consolas"/>
                <a:ea typeface="Consolas" pitchFamily="34" charset="-122"/>
                <a:cs typeface="Consolas" pitchFamily="34" charset="-120"/>
              </a:rPr>
              <a:t>api</a:t>
            </a:r>
            <a:r>
              <a:rPr lang="en-US" sz="1300">
                <a:solidFill>
                  <a:srgbClr val="5D5D5D"/>
                </a:solidFill>
                <a:latin typeface="Consolas"/>
                <a:ea typeface="Consolas" pitchFamily="34" charset="-122"/>
                <a:cs typeface="Consolas" pitchFamily="34" charset="-120"/>
              </a:rPr>
              <a:t>/auth/register</a:t>
            </a:r>
            <a:endParaRPr lang="en-US" sz="1300">
              <a:latin typeface="Consolas"/>
            </a:endParaRPr>
          </a:p>
        </p:txBody>
      </p:sp>
      <p:sp>
        <p:nvSpPr>
          <p:cNvPr id="19" name="Text 7">
            <a:extLst>
              <a:ext uri="{FF2B5EF4-FFF2-40B4-BE49-F238E27FC236}">
                <a16:creationId xmlns:a16="http://schemas.microsoft.com/office/drawing/2014/main" id="{27142E78-020A-B660-7D30-309DD86AA370}"/>
              </a:ext>
            </a:extLst>
          </p:cNvPr>
          <p:cNvSpPr/>
          <p:nvPr/>
        </p:nvSpPr>
        <p:spPr>
          <a:xfrm>
            <a:off x="1609344" y="2006503"/>
            <a:ext cx="9753600" cy="389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50" err="1">
                <a:solidFill>
                  <a:srgbClr val="102313"/>
                </a:solidFill>
                <a:latin typeface="Segoe UI"/>
                <a:cs typeface="Segoe UI"/>
              </a:rPr>
              <a:t>Legt</a:t>
            </a:r>
            <a:r>
              <a:rPr lang="en-US" sz="1450">
                <a:solidFill>
                  <a:srgbClr val="102313"/>
                </a:solidFill>
                <a:latin typeface="Segoe UI"/>
                <a:cs typeface="Segoe UI"/>
              </a:rPr>
              <a:t> </a:t>
            </a:r>
            <a:r>
              <a:rPr lang="en-US" sz="1450" err="1">
                <a:solidFill>
                  <a:srgbClr val="102313"/>
                </a:solidFill>
                <a:latin typeface="Segoe UI"/>
                <a:cs typeface="Segoe UI"/>
              </a:rPr>
              <a:t>neuen</a:t>
            </a:r>
            <a:r>
              <a:rPr lang="en-US" sz="1450">
                <a:solidFill>
                  <a:srgbClr val="102313"/>
                </a:solidFill>
                <a:latin typeface="Segoe UI"/>
                <a:cs typeface="Segoe UI"/>
              </a:rPr>
              <a:t> User </a:t>
            </a:r>
            <a:r>
              <a:rPr lang="en-US" sz="1450" err="1">
                <a:solidFill>
                  <a:srgbClr val="102313"/>
                </a:solidFill>
                <a:latin typeface="Segoe UI"/>
                <a:cs typeface="Segoe UI"/>
              </a:rPr>
              <a:t>an,hasht</a:t>
            </a:r>
            <a:r>
              <a:rPr lang="en-US" sz="1450">
                <a:solidFill>
                  <a:srgbClr val="102313"/>
                </a:solidFill>
                <a:latin typeface="Segoe UI"/>
                <a:cs typeface="Segoe UI"/>
              </a:rPr>
              <a:t> </a:t>
            </a:r>
            <a:r>
              <a:rPr lang="en-US" sz="1450" err="1">
                <a:solidFill>
                  <a:srgbClr val="102313"/>
                </a:solidFill>
                <a:latin typeface="Segoe UI"/>
                <a:cs typeface="Segoe UI"/>
              </a:rPr>
              <a:t>Passwort</a:t>
            </a:r>
            <a:r>
              <a:rPr lang="en-US" sz="1450">
                <a:solidFill>
                  <a:srgbClr val="102313"/>
                </a:solidFill>
                <a:latin typeface="Segoe UI"/>
                <a:cs typeface="Segoe UI"/>
              </a:rPr>
              <a:t> und </a:t>
            </a:r>
            <a:r>
              <a:rPr lang="en-US" sz="1450" err="1">
                <a:solidFill>
                  <a:srgbClr val="102313"/>
                </a:solidFill>
                <a:latin typeface="Segoe UI"/>
                <a:cs typeface="Segoe UI"/>
              </a:rPr>
              <a:t>verschickt</a:t>
            </a:r>
            <a:r>
              <a:rPr lang="en-US" sz="1450">
                <a:solidFill>
                  <a:srgbClr val="102313"/>
                </a:solidFill>
                <a:latin typeface="Segoe UI"/>
                <a:cs typeface="Segoe UI"/>
              </a:rPr>
              <a:t> die </a:t>
            </a:r>
            <a:r>
              <a:rPr lang="en-US" sz="1450" err="1">
                <a:solidFill>
                  <a:srgbClr val="102313"/>
                </a:solidFill>
                <a:latin typeface="Segoe UI"/>
                <a:cs typeface="Segoe UI"/>
              </a:rPr>
              <a:t>Bestätigungsmail</a:t>
            </a:r>
            <a:endParaRPr lang="en-US" sz="1450">
              <a:solidFill>
                <a:srgbClr val="102313"/>
              </a:solidFill>
              <a:latin typeface="Segoe UI"/>
              <a:cs typeface="Segoe UI"/>
            </a:endParaRPr>
          </a:p>
        </p:txBody>
      </p:sp>
      <p:sp>
        <p:nvSpPr>
          <p:cNvPr id="21" name="Shape 8">
            <a:extLst>
              <a:ext uri="{FF2B5EF4-FFF2-40B4-BE49-F238E27FC236}">
                <a16:creationId xmlns:a16="http://schemas.microsoft.com/office/drawing/2014/main" id="{306314F8-8892-4292-2B49-B30A483F6FA8}"/>
              </a:ext>
            </a:extLst>
          </p:cNvPr>
          <p:cNvSpPr/>
          <p:nvPr/>
        </p:nvSpPr>
        <p:spPr>
          <a:xfrm>
            <a:off x="609600" y="2566126"/>
            <a:ext cx="10972800" cy="792480"/>
          </a:xfrm>
          <a:prstGeom prst="roundRect">
            <a:avLst>
              <a:gd name="adj" fmla="val 9231"/>
            </a:avLst>
          </a:prstGeom>
          <a:solidFill>
            <a:srgbClr val="F3F6F3"/>
          </a:solidFill>
          <a:ln w="12700">
            <a:solidFill>
              <a:srgbClr val="CED2CE"/>
            </a:solidFill>
            <a:prstDash val="solid"/>
          </a:ln>
        </p:spPr>
        <p:txBody>
          <a:bodyPr/>
          <a:lstStyle/>
          <a:p>
            <a:endParaRPr lang="de-DE" sz="2400"/>
          </a:p>
        </p:txBody>
      </p:sp>
      <p:sp>
        <p:nvSpPr>
          <p:cNvPr id="23" name="Shape 9">
            <a:extLst>
              <a:ext uri="{FF2B5EF4-FFF2-40B4-BE49-F238E27FC236}">
                <a16:creationId xmlns:a16="http://schemas.microsoft.com/office/drawing/2014/main" id="{01DD5118-DC8B-1256-54CC-CA29623230FD}"/>
              </a:ext>
            </a:extLst>
          </p:cNvPr>
          <p:cNvSpPr/>
          <p:nvPr/>
        </p:nvSpPr>
        <p:spPr>
          <a:xfrm>
            <a:off x="877824" y="2694142"/>
            <a:ext cx="536448" cy="536448"/>
          </a:xfrm>
          <a:prstGeom prst="ellipse">
            <a:avLst/>
          </a:prstGeom>
          <a:solidFill>
            <a:srgbClr val="E8985E"/>
          </a:solidFill>
          <a:ln/>
        </p:spPr>
        <p:txBody>
          <a:bodyPr/>
          <a:lstStyle/>
          <a:p>
            <a:endParaRPr lang="de-DE" sz="2400"/>
          </a:p>
        </p:txBody>
      </p:sp>
      <p:pic>
        <p:nvPicPr>
          <p:cNvPr id="25" name="Image 1" descr="Häkchen mit einfarbiger Füllung">
            <a:extLst>
              <a:ext uri="{FF2B5EF4-FFF2-40B4-BE49-F238E27FC236}">
                <a16:creationId xmlns:a16="http://schemas.microsoft.com/office/drawing/2014/main" id="{2B860FE7-F652-1942-9EC0-9C1B36B38A8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7301" y="2833619"/>
            <a:ext cx="257495" cy="257495"/>
          </a:xfrm>
          <a:prstGeom prst="rect">
            <a:avLst/>
          </a:prstGeom>
        </p:spPr>
      </p:pic>
      <p:sp>
        <p:nvSpPr>
          <p:cNvPr id="27" name="RowHead701">
            <a:extLst>
              <a:ext uri="{FF2B5EF4-FFF2-40B4-BE49-F238E27FC236}">
                <a16:creationId xmlns:a16="http://schemas.microsoft.com/office/drawing/2014/main" id="{EA56A7D6-6840-6190-6D72-9E498AF5A13F}"/>
              </a:ext>
            </a:extLst>
          </p:cNvPr>
          <p:cNvSpPr/>
          <p:nvPr/>
        </p:nvSpPr>
        <p:spPr>
          <a:xfrm>
            <a:off x="1609344" y="2622678"/>
            <a:ext cx="7610129" cy="253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spc="80">
                <a:solidFill>
                  <a:srgbClr val="E8985E"/>
                </a:solidFill>
                <a:latin typeface="Segoe UI"/>
                <a:cs typeface="Segoe UI"/>
              </a:rPr>
              <a:t>AUTH-2 </a:t>
            </a:r>
            <a:r>
              <a:rPr lang="en-US" sz="1850" b="1" err="1">
                <a:solidFill>
                  <a:srgbClr val="355E3B"/>
                </a:solidFill>
                <a:latin typeface="Segoe UI"/>
                <a:ea typeface="+mn-lt"/>
                <a:cs typeface="Segoe UI"/>
              </a:rPr>
              <a:t>Konto</a:t>
            </a:r>
            <a:r>
              <a:rPr lang="en-US" sz="1850" b="1">
                <a:solidFill>
                  <a:srgbClr val="355E3B"/>
                </a:solidFill>
                <a:latin typeface="Segoe UI"/>
                <a:ea typeface="+mn-lt"/>
                <a:cs typeface="Segoe UI"/>
              </a:rPr>
              <a:t> </a:t>
            </a:r>
            <a:r>
              <a:rPr lang="en-US" sz="1850" b="1" err="1">
                <a:solidFill>
                  <a:srgbClr val="355E3B"/>
                </a:solidFill>
                <a:latin typeface="Segoe UI"/>
                <a:ea typeface="+mn-lt"/>
                <a:cs typeface="Segoe UI"/>
              </a:rPr>
              <a:t>verifizieren</a:t>
            </a:r>
            <a:r>
              <a:rPr lang="en-US" sz="1850" b="1">
                <a:solidFill>
                  <a:srgbClr val="355E3B"/>
                </a:solidFill>
                <a:latin typeface="Segoe UI"/>
                <a:ea typeface="+mn-lt"/>
                <a:cs typeface="Segoe UI"/>
              </a:rPr>
              <a:t>(</a:t>
            </a:r>
            <a:r>
              <a:rPr lang="en-US" sz="1850" b="1" err="1">
                <a:solidFill>
                  <a:srgbClr val="355E3B"/>
                </a:solidFill>
                <a:latin typeface="Segoe UI"/>
                <a:ea typeface="+mn-lt"/>
                <a:cs typeface="Segoe UI"/>
              </a:rPr>
              <a:t>Bestätigungslink</a:t>
            </a:r>
            <a:r>
              <a:rPr lang="en-US" sz="1850" b="1">
                <a:solidFill>
                  <a:srgbClr val="355E3B"/>
                </a:solidFill>
                <a:latin typeface="Segoe UI"/>
                <a:ea typeface="+mn-lt"/>
                <a:cs typeface="Segoe UI"/>
              </a:rPr>
              <a:t> und </a:t>
            </a:r>
            <a:r>
              <a:rPr lang="en-US" sz="1850" b="1" err="1">
                <a:solidFill>
                  <a:srgbClr val="355E3B"/>
                </a:solidFill>
                <a:latin typeface="Segoe UI"/>
                <a:ea typeface="+mn-lt"/>
                <a:cs typeface="Segoe UI"/>
              </a:rPr>
              <a:t>Statusabfrag</a:t>
            </a:r>
            <a:r>
              <a:rPr lang="en-US" sz="1850" b="1">
                <a:solidFill>
                  <a:srgbClr val="355E3B"/>
                </a:solidFill>
                <a:latin typeface="Segoe UI"/>
                <a:ea typeface="+mn-lt"/>
                <a:cs typeface="Segoe UI"/>
              </a:rPr>
              <a:t>e)</a:t>
            </a:r>
            <a:endParaRPr lang="en-US" sz="1850" b="1">
              <a:solidFill>
                <a:srgbClr val="355E3B"/>
              </a:solidFill>
              <a:latin typeface="Segoe UI"/>
              <a:cs typeface="Segoe UI"/>
            </a:endParaRPr>
          </a:p>
        </p:txBody>
      </p:sp>
      <p:sp>
        <p:nvSpPr>
          <p:cNvPr id="29" name="Text 12">
            <a:extLst>
              <a:ext uri="{FF2B5EF4-FFF2-40B4-BE49-F238E27FC236}">
                <a16:creationId xmlns:a16="http://schemas.microsoft.com/office/drawing/2014/main" id="{F733CD73-EB4F-97F0-C660-54A6C078337B}"/>
              </a:ext>
            </a:extLst>
          </p:cNvPr>
          <p:cNvSpPr/>
          <p:nvPr/>
        </p:nvSpPr>
        <p:spPr>
          <a:xfrm>
            <a:off x="7071360" y="2663662"/>
            <a:ext cx="426720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300" dirty="0">
                <a:solidFill>
                  <a:srgbClr val="5D5D5D"/>
                </a:solidFill>
                <a:latin typeface="Consolas"/>
                <a:ea typeface="Consolas" pitchFamily="34" charset="-122"/>
                <a:cs typeface="Consolas" pitchFamily="34" charset="-120"/>
              </a:rPr>
              <a:t>GET /</a:t>
            </a:r>
            <a:r>
              <a:rPr lang="en-US" sz="1300" dirty="0" err="1">
                <a:solidFill>
                  <a:srgbClr val="5D5D5D"/>
                </a:solidFill>
                <a:latin typeface="Consolas"/>
                <a:ea typeface="Consolas" pitchFamily="34" charset="-122"/>
                <a:cs typeface="Consolas" pitchFamily="34" charset="-120"/>
              </a:rPr>
              <a:t>api</a:t>
            </a:r>
            <a:r>
              <a:rPr lang="en-US" sz="1300" dirty="0">
                <a:solidFill>
                  <a:srgbClr val="5D5D5D"/>
                </a:solidFill>
                <a:latin typeface="Consolas"/>
                <a:ea typeface="Consolas" pitchFamily="34" charset="-122"/>
                <a:cs typeface="Consolas" pitchFamily="34" charset="-120"/>
              </a:rPr>
              <a:t>/auth</a:t>
            </a:r>
            <a:r>
              <a:rPr lang="en-US" sz="1300" dirty="0" err="1">
                <a:solidFill>
                  <a:srgbClr val="5D5D5D"/>
                </a:solidFill>
                <a:latin typeface="Consolas"/>
                <a:ea typeface="Consolas" pitchFamily="34" charset="-122"/>
                <a:cs typeface="Consolas" pitchFamily="34" charset="-120"/>
              </a:rPr>
              <a:t>/confirm/:</a:t>
            </a:r>
            <a:r>
              <a:rPr lang="en-US" sz="1300" dirty="0">
                <a:solidFill>
                  <a:srgbClr val="5D5D5D"/>
                </a:solidFill>
                <a:latin typeface="Consolas"/>
                <a:ea typeface="Consolas" pitchFamily="34" charset="-122"/>
                <a:cs typeface="Consolas" pitchFamily="34" charset="-120"/>
              </a:rPr>
              <a:t>token</a:t>
            </a:r>
            <a:endParaRPr lang="en-US" sz="1300" dirty="0">
              <a:latin typeface="Consolas"/>
            </a:endParaRPr>
          </a:p>
        </p:txBody>
      </p:sp>
      <p:sp>
        <p:nvSpPr>
          <p:cNvPr id="31" name="Text 13">
            <a:extLst>
              <a:ext uri="{FF2B5EF4-FFF2-40B4-BE49-F238E27FC236}">
                <a16:creationId xmlns:a16="http://schemas.microsoft.com/office/drawing/2014/main" id="{EF1A23AD-9B47-B555-D19E-3C6E465ED687}"/>
              </a:ext>
            </a:extLst>
          </p:cNvPr>
          <p:cNvSpPr/>
          <p:nvPr/>
        </p:nvSpPr>
        <p:spPr>
          <a:xfrm>
            <a:off x="1609344" y="2871523"/>
            <a:ext cx="9753600" cy="438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50" err="1">
                <a:solidFill>
                  <a:srgbClr val="102313"/>
                </a:solidFill>
                <a:latin typeface="Segoe UI"/>
                <a:cs typeface="Segoe UI"/>
              </a:rPr>
              <a:t>Wird</a:t>
            </a:r>
            <a:r>
              <a:rPr lang="en-US" sz="1450">
                <a:solidFill>
                  <a:srgbClr val="102313"/>
                </a:solidFill>
                <a:latin typeface="Segoe UI"/>
                <a:cs typeface="Segoe UI"/>
              </a:rPr>
              <a:t> </a:t>
            </a:r>
            <a:r>
              <a:rPr lang="en-US" sz="1450" err="1">
                <a:solidFill>
                  <a:srgbClr val="102313"/>
                </a:solidFill>
                <a:latin typeface="Segoe UI"/>
                <a:cs typeface="Segoe UI"/>
              </a:rPr>
              <a:t>durch</a:t>
            </a:r>
            <a:r>
              <a:rPr lang="en-US" sz="1450">
                <a:solidFill>
                  <a:srgbClr val="102313"/>
                </a:solidFill>
                <a:latin typeface="Segoe UI"/>
                <a:cs typeface="Segoe UI"/>
              </a:rPr>
              <a:t> </a:t>
            </a:r>
            <a:r>
              <a:rPr lang="en-US" sz="1450" err="1">
                <a:solidFill>
                  <a:srgbClr val="102313"/>
                </a:solidFill>
                <a:latin typeface="Segoe UI"/>
                <a:cs typeface="Segoe UI"/>
              </a:rPr>
              <a:t>klicken</a:t>
            </a:r>
            <a:r>
              <a:rPr lang="en-US" sz="1450">
                <a:solidFill>
                  <a:srgbClr val="102313"/>
                </a:solidFill>
                <a:latin typeface="Segoe UI"/>
                <a:cs typeface="Segoe UI"/>
              </a:rPr>
              <a:t> des Links in der Mail </a:t>
            </a:r>
            <a:r>
              <a:rPr lang="en-US" sz="1450" err="1">
                <a:solidFill>
                  <a:srgbClr val="102313"/>
                </a:solidFill>
                <a:latin typeface="Segoe UI"/>
                <a:cs typeface="Segoe UI"/>
              </a:rPr>
              <a:t>aufgerufen</a:t>
            </a:r>
          </a:p>
        </p:txBody>
      </p:sp>
      <p:sp>
        <p:nvSpPr>
          <p:cNvPr id="33" name="Shape 14">
            <a:extLst>
              <a:ext uri="{FF2B5EF4-FFF2-40B4-BE49-F238E27FC236}">
                <a16:creationId xmlns:a16="http://schemas.microsoft.com/office/drawing/2014/main" id="{DE8EEEA5-0AA0-3BF3-25C8-8A6B6FD01026}"/>
              </a:ext>
            </a:extLst>
          </p:cNvPr>
          <p:cNvSpPr/>
          <p:nvPr/>
        </p:nvSpPr>
        <p:spPr>
          <a:xfrm>
            <a:off x="609600" y="3456142"/>
            <a:ext cx="10972800" cy="792480"/>
          </a:xfrm>
          <a:prstGeom prst="roundRect">
            <a:avLst>
              <a:gd name="adj" fmla="val 9231"/>
            </a:avLst>
          </a:prstGeom>
          <a:solidFill>
            <a:srgbClr val="F3F6F3"/>
          </a:solidFill>
          <a:ln w="12700">
            <a:solidFill>
              <a:srgbClr val="CED2CE"/>
            </a:solidFill>
            <a:prstDash val="solid"/>
          </a:ln>
        </p:spPr>
        <p:txBody>
          <a:bodyPr/>
          <a:lstStyle/>
          <a:p>
            <a:endParaRPr lang="de-DE" sz="2400"/>
          </a:p>
        </p:txBody>
      </p:sp>
      <p:sp>
        <p:nvSpPr>
          <p:cNvPr id="35" name="Shape 15">
            <a:extLst>
              <a:ext uri="{FF2B5EF4-FFF2-40B4-BE49-F238E27FC236}">
                <a16:creationId xmlns:a16="http://schemas.microsoft.com/office/drawing/2014/main" id="{88E6198B-9074-B663-6CDD-300A38D05DC1}"/>
              </a:ext>
            </a:extLst>
          </p:cNvPr>
          <p:cNvSpPr/>
          <p:nvPr/>
        </p:nvSpPr>
        <p:spPr>
          <a:xfrm>
            <a:off x="877824" y="3584158"/>
            <a:ext cx="536448" cy="536448"/>
          </a:xfrm>
          <a:prstGeom prst="ellipse">
            <a:avLst/>
          </a:prstGeom>
          <a:solidFill>
            <a:srgbClr val="E8985E"/>
          </a:solidFill>
          <a:ln/>
        </p:spPr>
        <p:txBody>
          <a:bodyPr/>
          <a:lstStyle/>
          <a:p>
            <a:endParaRPr lang="de-DE" sz="2400"/>
          </a:p>
        </p:txBody>
      </p:sp>
      <p:pic>
        <p:nvPicPr>
          <p:cNvPr id="37" name="Image 2" descr="Benutzer mit einfarbiger Füllung">
            <a:extLst>
              <a:ext uri="{FF2B5EF4-FFF2-40B4-BE49-F238E27FC236}">
                <a16:creationId xmlns:a16="http://schemas.microsoft.com/office/drawing/2014/main" id="{3DA89C0A-2A3C-46AA-FFF8-7623FEB59D9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7301" y="3723635"/>
            <a:ext cx="257495" cy="257495"/>
          </a:xfrm>
          <a:prstGeom prst="rect">
            <a:avLst/>
          </a:prstGeom>
        </p:spPr>
      </p:pic>
      <p:sp>
        <p:nvSpPr>
          <p:cNvPr id="39" name="RowHead702">
            <a:extLst>
              <a:ext uri="{FF2B5EF4-FFF2-40B4-BE49-F238E27FC236}">
                <a16:creationId xmlns:a16="http://schemas.microsoft.com/office/drawing/2014/main" id="{26820141-BDD6-CCD6-23A5-A937789E523A}"/>
              </a:ext>
            </a:extLst>
          </p:cNvPr>
          <p:cNvSpPr/>
          <p:nvPr/>
        </p:nvSpPr>
        <p:spPr>
          <a:xfrm>
            <a:off x="1609344" y="3490923"/>
            <a:ext cx="5462016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spc="80">
                <a:solidFill>
                  <a:srgbClr val="E8985E"/>
                </a:solidFill>
                <a:latin typeface="Segoe UI"/>
                <a:cs typeface="Segoe UI"/>
              </a:rPr>
              <a:t>AUTH-3 </a:t>
            </a:r>
            <a:r>
              <a:rPr lang="en-US" sz="1850" b="1" err="1">
                <a:solidFill>
                  <a:srgbClr val="355E3B"/>
                </a:solidFill>
                <a:latin typeface="Segoe UI"/>
                <a:cs typeface="Segoe UI"/>
              </a:rPr>
              <a:t>Anmeldung</a:t>
            </a:r>
            <a:r>
              <a:rPr lang="en-US" sz="1850" b="1">
                <a:solidFill>
                  <a:srgbClr val="355E3B"/>
                </a:solidFill>
                <a:latin typeface="Segoe UI"/>
                <a:cs typeface="Segoe UI"/>
              </a:rPr>
              <a:t> per </a:t>
            </a:r>
            <a:r>
              <a:rPr lang="en-US" sz="1850" b="1" err="1">
                <a:solidFill>
                  <a:srgbClr val="355E3B"/>
                </a:solidFill>
                <a:latin typeface="Segoe UI"/>
                <a:cs typeface="Segoe UI"/>
              </a:rPr>
              <a:t>Passwort</a:t>
            </a:r>
          </a:p>
        </p:txBody>
      </p:sp>
      <p:sp>
        <p:nvSpPr>
          <p:cNvPr id="41" name="Text 18">
            <a:extLst>
              <a:ext uri="{FF2B5EF4-FFF2-40B4-BE49-F238E27FC236}">
                <a16:creationId xmlns:a16="http://schemas.microsoft.com/office/drawing/2014/main" id="{A6E0A2E0-805A-2F8F-8968-3DC019825EC0}"/>
              </a:ext>
            </a:extLst>
          </p:cNvPr>
          <p:cNvSpPr/>
          <p:nvPr/>
        </p:nvSpPr>
        <p:spPr>
          <a:xfrm>
            <a:off x="7071360" y="3553678"/>
            <a:ext cx="426720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300">
                <a:solidFill>
                  <a:srgbClr val="5D5D5D"/>
                </a:solidFill>
                <a:latin typeface="Consolas"/>
                <a:ea typeface="Consolas" pitchFamily="34" charset="-122"/>
                <a:cs typeface="Consolas" pitchFamily="34" charset="-120"/>
              </a:rPr>
              <a:t>POST /</a:t>
            </a:r>
            <a:r>
              <a:rPr lang="en-US" sz="1300" err="1">
                <a:solidFill>
                  <a:srgbClr val="5D5D5D"/>
                </a:solidFill>
                <a:latin typeface="Consolas"/>
                <a:ea typeface="Consolas" pitchFamily="34" charset="-122"/>
                <a:cs typeface="Consolas" pitchFamily="34" charset="-120"/>
              </a:rPr>
              <a:t>api</a:t>
            </a:r>
            <a:r>
              <a:rPr lang="en-US" sz="1300">
                <a:solidFill>
                  <a:srgbClr val="5D5D5D"/>
                </a:solidFill>
                <a:latin typeface="Consolas"/>
                <a:ea typeface="Consolas" pitchFamily="34" charset="-122"/>
                <a:cs typeface="Consolas" pitchFamily="34" charset="-120"/>
              </a:rPr>
              <a:t>/auth/login</a:t>
            </a:r>
            <a:endParaRPr lang="en-US" sz="1300">
              <a:latin typeface="Consolas"/>
            </a:endParaRPr>
          </a:p>
        </p:txBody>
      </p:sp>
      <p:sp>
        <p:nvSpPr>
          <p:cNvPr id="43" name="Text 19">
            <a:extLst>
              <a:ext uri="{FF2B5EF4-FFF2-40B4-BE49-F238E27FC236}">
                <a16:creationId xmlns:a16="http://schemas.microsoft.com/office/drawing/2014/main" id="{A028EB8D-0593-1CC6-740F-1B4C0A17A3DC}"/>
              </a:ext>
            </a:extLst>
          </p:cNvPr>
          <p:cNvSpPr/>
          <p:nvPr/>
        </p:nvSpPr>
        <p:spPr>
          <a:xfrm>
            <a:off x="1609344" y="3753411"/>
            <a:ext cx="9753600" cy="445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50" err="1">
                <a:solidFill>
                  <a:srgbClr val="102313"/>
                </a:solidFill>
                <a:latin typeface="Segoe UI"/>
                <a:cs typeface="Segoe UI"/>
              </a:rPr>
              <a:t>Prüft</a:t>
            </a:r>
            <a:r>
              <a:rPr lang="en-US" sz="1450">
                <a:solidFill>
                  <a:srgbClr val="102313"/>
                </a:solidFill>
                <a:latin typeface="Segoe UI"/>
                <a:cs typeface="Segoe UI"/>
              </a:rPr>
              <a:t>, </a:t>
            </a:r>
            <a:r>
              <a:rPr lang="en-US" sz="1450" err="1">
                <a:solidFill>
                  <a:srgbClr val="102313"/>
                </a:solidFill>
                <a:latin typeface="Segoe UI"/>
                <a:cs typeface="Segoe UI"/>
              </a:rPr>
              <a:t>ob</a:t>
            </a:r>
            <a:r>
              <a:rPr lang="en-US" sz="1450">
                <a:solidFill>
                  <a:srgbClr val="102313"/>
                </a:solidFill>
                <a:latin typeface="Segoe UI"/>
                <a:cs typeface="Segoe UI"/>
              </a:rPr>
              <a:t> der User </a:t>
            </a:r>
            <a:r>
              <a:rPr lang="en-US" sz="1450" err="1">
                <a:solidFill>
                  <a:srgbClr val="102313"/>
                </a:solidFill>
                <a:latin typeface="Segoe UI"/>
                <a:cs typeface="Segoe UI"/>
              </a:rPr>
              <a:t>gelöscht</a:t>
            </a:r>
            <a:r>
              <a:rPr lang="en-US" sz="1450">
                <a:solidFill>
                  <a:srgbClr val="102313"/>
                </a:solidFill>
                <a:latin typeface="Segoe UI"/>
                <a:cs typeface="Segoe UI"/>
              </a:rPr>
              <a:t> </a:t>
            </a:r>
            <a:r>
              <a:rPr lang="en-US" sz="1450" err="1">
                <a:solidFill>
                  <a:srgbClr val="102313"/>
                </a:solidFill>
                <a:latin typeface="Segoe UI"/>
                <a:cs typeface="Segoe UI"/>
              </a:rPr>
              <a:t>oder</a:t>
            </a:r>
            <a:r>
              <a:rPr lang="en-US" sz="1450">
                <a:solidFill>
                  <a:srgbClr val="102313"/>
                </a:solidFill>
                <a:latin typeface="Segoe UI"/>
                <a:cs typeface="Segoe UI"/>
              </a:rPr>
              <a:t> </a:t>
            </a:r>
            <a:r>
              <a:rPr lang="en-US" sz="1450" err="1">
                <a:solidFill>
                  <a:srgbClr val="102313"/>
                </a:solidFill>
                <a:latin typeface="Segoe UI"/>
                <a:cs typeface="Segoe UI"/>
              </a:rPr>
              <a:t>gesperrt</a:t>
            </a:r>
            <a:r>
              <a:rPr lang="en-US" sz="1450">
                <a:solidFill>
                  <a:srgbClr val="102313"/>
                </a:solidFill>
                <a:latin typeface="Segoe UI"/>
                <a:cs typeface="Segoe UI"/>
              </a:rPr>
              <a:t> </a:t>
            </a:r>
            <a:r>
              <a:rPr lang="en-US" sz="1450" err="1">
                <a:solidFill>
                  <a:srgbClr val="102313"/>
                </a:solidFill>
                <a:latin typeface="Segoe UI"/>
                <a:cs typeface="Segoe UI"/>
              </a:rPr>
              <a:t>ist</a:t>
            </a:r>
            <a:r>
              <a:rPr lang="en-US" sz="1450">
                <a:solidFill>
                  <a:srgbClr val="102313"/>
                </a:solidFill>
                <a:latin typeface="Segoe UI"/>
                <a:cs typeface="Segoe UI"/>
              </a:rPr>
              <a:t> und </a:t>
            </a:r>
            <a:r>
              <a:rPr lang="en-US" sz="1450" err="1">
                <a:solidFill>
                  <a:srgbClr val="102313"/>
                </a:solidFill>
                <a:latin typeface="Segoe UI"/>
                <a:cs typeface="Segoe UI"/>
              </a:rPr>
              <a:t>stellt</a:t>
            </a:r>
            <a:r>
              <a:rPr lang="en-US" sz="1450">
                <a:solidFill>
                  <a:srgbClr val="102313"/>
                </a:solidFill>
                <a:latin typeface="Segoe UI"/>
                <a:cs typeface="Segoe UI"/>
              </a:rPr>
              <a:t> </a:t>
            </a:r>
            <a:r>
              <a:rPr lang="en-US" sz="1450" err="1">
                <a:solidFill>
                  <a:srgbClr val="102313"/>
                </a:solidFill>
                <a:latin typeface="Segoe UI"/>
                <a:cs typeface="Segoe UI"/>
              </a:rPr>
              <a:t>daraufhin</a:t>
            </a:r>
            <a:r>
              <a:rPr lang="en-US" sz="1450">
                <a:solidFill>
                  <a:srgbClr val="102313"/>
                </a:solidFill>
                <a:latin typeface="Segoe UI"/>
                <a:cs typeface="Segoe UI"/>
              </a:rPr>
              <a:t> </a:t>
            </a:r>
            <a:r>
              <a:rPr lang="en-US" sz="1450" err="1">
                <a:solidFill>
                  <a:srgbClr val="102313"/>
                </a:solidFill>
                <a:latin typeface="Segoe UI"/>
                <a:cs typeface="Segoe UI"/>
              </a:rPr>
              <a:t>ein</a:t>
            </a:r>
            <a:r>
              <a:rPr lang="en-US" sz="1450">
                <a:solidFill>
                  <a:srgbClr val="102313"/>
                </a:solidFill>
                <a:latin typeface="Segoe UI"/>
                <a:cs typeface="Segoe UI"/>
              </a:rPr>
              <a:t> 24h JWT-Token </a:t>
            </a:r>
            <a:r>
              <a:rPr lang="en-US" sz="1450" err="1">
                <a:solidFill>
                  <a:srgbClr val="102313"/>
                </a:solidFill>
                <a:latin typeface="Segoe UI"/>
                <a:cs typeface="Segoe UI"/>
              </a:rPr>
              <a:t>aus</a:t>
            </a:r>
            <a:endParaRPr lang="en-US" sz="1450">
              <a:solidFill>
                <a:srgbClr val="102313"/>
              </a:solidFill>
              <a:latin typeface="Segoe UI"/>
              <a:cs typeface="Segoe UI"/>
            </a:endParaRPr>
          </a:p>
        </p:txBody>
      </p:sp>
      <p:sp>
        <p:nvSpPr>
          <p:cNvPr id="45" name="Shape 20">
            <a:extLst>
              <a:ext uri="{FF2B5EF4-FFF2-40B4-BE49-F238E27FC236}">
                <a16:creationId xmlns:a16="http://schemas.microsoft.com/office/drawing/2014/main" id="{55D17C06-678E-641F-9CA3-520B646C42E1}"/>
              </a:ext>
            </a:extLst>
          </p:cNvPr>
          <p:cNvSpPr/>
          <p:nvPr/>
        </p:nvSpPr>
        <p:spPr>
          <a:xfrm>
            <a:off x="609600" y="4346158"/>
            <a:ext cx="10972800" cy="792480"/>
          </a:xfrm>
          <a:prstGeom prst="roundRect">
            <a:avLst>
              <a:gd name="adj" fmla="val 9231"/>
            </a:avLst>
          </a:prstGeom>
          <a:solidFill>
            <a:srgbClr val="F3F6F3"/>
          </a:solidFill>
          <a:ln w="12700">
            <a:solidFill>
              <a:srgbClr val="CED2CE"/>
            </a:solidFill>
            <a:prstDash val="solid"/>
          </a:ln>
        </p:spPr>
        <p:txBody>
          <a:bodyPr/>
          <a:lstStyle/>
          <a:p>
            <a:endParaRPr lang="de-DE" sz="2400"/>
          </a:p>
        </p:txBody>
      </p:sp>
      <p:sp>
        <p:nvSpPr>
          <p:cNvPr id="47" name="Shape 21">
            <a:extLst>
              <a:ext uri="{FF2B5EF4-FFF2-40B4-BE49-F238E27FC236}">
                <a16:creationId xmlns:a16="http://schemas.microsoft.com/office/drawing/2014/main" id="{177FDBCD-1BFB-7FF8-1A44-EAA3AA2ADDE9}"/>
              </a:ext>
            </a:extLst>
          </p:cNvPr>
          <p:cNvSpPr/>
          <p:nvPr/>
        </p:nvSpPr>
        <p:spPr>
          <a:xfrm>
            <a:off x="877824" y="4474174"/>
            <a:ext cx="536448" cy="536448"/>
          </a:xfrm>
          <a:prstGeom prst="ellipse">
            <a:avLst/>
          </a:prstGeom>
          <a:solidFill>
            <a:srgbClr val="E8985E"/>
          </a:solidFill>
          <a:ln/>
        </p:spPr>
        <p:txBody>
          <a:bodyPr/>
          <a:lstStyle/>
          <a:p>
            <a:endParaRPr lang="de-DE" sz="2400"/>
          </a:p>
        </p:txBody>
      </p:sp>
      <p:pic>
        <p:nvPicPr>
          <p:cNvPr id="49" name="Image 3" descr="Uhr mit einfarbiger Füllung">
            <a:extLst>
              <a:ext uri="{FF2B5EF4-FFF2-40B4-BE49-F238E27FC236}">
                <a16:creationId xmlns:a16="http://schemas.microsoft.com/office/drawing/2014/main" id="{B044D34B-9D62-08CE-8EFC-BD58E407EFF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1987" y="4562851"/>
            <a:ext cx="388123" cy="366352"/>
          </a:xfrm>
          <a:prstGeom prst="rect">
            <a:avLst/>
          </a:prstGeom>
        </p:spPr>
      </p:pic>
      <p:sp>
        <p:nvSpPr>
          <p:cNvPr id="51" name="RowHead703">
            <a:extLst>
              <a:ext uri="{FF2B5EF4-FFF2-40B4-BE49-F238E27FC236}">
                <a16:creationId xmlns:a16="http://schemas.microsoft.com/office/drawing/2014/main" id="{73A6AEAB-A9A4-FD70-9C15-2D76E4C04059}"/>
              </a:ext>
            </a:extLst>
          </p:cNvPr>
          <p:cNvSpPr/>
          <p:nvPr/>
        </p:nvSpPr>
        <p:spPr>
          <a:xfrm>
            <a:off x="1609344" y="4380939"/>
            <a:ext cx="5462016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spc="80">
                <a:solidFill>
                  <a:srgbClr val="E8985E"/>
                </a:solidFill>
                <a:latin typeface="Segoe UI"/>
                <a:cs typeface="Segoe UI"/>
              </a:rPr>
              <a:t>AUTH-4 </a:t>
            </a:r>
            <a:r>
              <a:rPr lang="en-US" sz="1850" b="1">
                <a:solidFill>
                  <a:srgbClr val="355E3B"/>
                </a:solidFill>
                <a:latin typeface="Segoe UI"/>
                <a:cs typeface="Segoe UI"/>
              </a:rPr>
              <a:t>Session + Logout</a:t>
            </a:r>
          </a:p>
        </p:txBody>
      </p:sp>
      <p:sp>
        <p:nvSpPr>
          <p:cNvPr id="53" name="Text 24">
            <a:extLst>
              <a:ext uri="{FF2B5EF4-FFF2-40B4-BE49-F238E27FC236}">
                <a16:creationId xmlns:a16="http://schemas.microsoft.com/office/drawing/2014/main" id="{14C0C0A0-80D2-C936-B23C-E74C10C14002}"/>
              </a:ext>
            </a:extLst>
          </p:cNvPr>
          <p:cNvSpPr/>
          <p:nvPr/>
        </p:nvSpPr>
        <p:spPr>
          <a:xfrm>
            <a:off x="7071360" y="4443694"/>
            <a:ext cx="426720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300">
                <a:solidFill>
                  <a:srgbClr val="5D5D5D"/>
                </a:solidFill>
                <a:latin typeface="Consolas"/>
                <a:ea typeface="Consolas" pitchFamily="34" charset="-122"/>
                <a:cs typeface="Consolas" pitchFamily="34" charset="-120"/>
              </a:rPr>
              <a:t>POST /</a:t>
            </a:r>
            <a:r>
              <a:rPr lang="en-US" sz="1300" err="1">
                <a:solidFill>
                  <a:srgbClr val="5D5D5D"/>
                </a:solidFill>
                <a:latin typeface="Consolas"/>
                <a:ea typeface="Consolas" pitchFamily="34" charset="-122"/>
                <a:cs typeface="Consolas" pitchFamily="34" charset="-120"/>
              </a:rPr>
              <a:t>api</a:t>
            </a:r>
            <a:r>
              <a:rPr lang="en-US" sz="1300">
                <a:solidFill>
                  <a:srgbClr val="5D5D5D"/>
                </a:solidFill>
                <a:latin typeface="Consolas"/>
                <a:ea typeface="Consolas" pitchFamily="34" charset="-122"/>
                <a:cs typeface="Consolas" pitchFamily="34" charset="-120"/>
              </a:rPr>
              <a:t>/auth/logout</a:t>
            </a:r>
            <a:endParaRPr lang="en-US" sz="1300">
              <a:latin typeface="Consolas"/>
            </a:endParaRPr>
          </a:p>
        </p:txBody>
      </p:sp>
      <p:sp>
        <p:nvSpPr>
          <p:cNvPr id="55" name="Text 25">
            <a:extLst>
              <a:ext uri="{FF2B5EF4-FFF2-40B4-BE49-F238E27FC236}">
                <a16:creationId xmlns:a16="http://schemas.microsoft.com/office/drawing/2014/main" id="{CF2FA56B-A3B3-0301-FEE3-52620080F24D}"/>
              </a:ext>
            </a:extLst>
          </p:cNvPr>
          <p:cNvSpPr/>
          <p:nvPr/>
        </p:nvSpPr>
        <p:spPr>
          <a:xfrm>
            <a:off x="1609344" y="4641381"/>
            <a:ext cx="9753600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50">
                <a:solidFill>
                  <a:srgbClr val="102313"/>
                </a:solidFill>
                <a:latin typeface="Segoe UI"/>
                <a:cs typeface="Segoe UI"/>
              </a:rPr>
              <a:t>Blacklisted </a:t>
            </a:r>
            <a:r>
              <a:rPr lang="en-US" sz="1450" err="1">
                <a:solidFill>
                  <a:srgbClr val="102313"/>
                </a:solidFill>
                <a:latin typeface="Segoe UI"/>
                <a:cs typeface="Segoe UI"/>
              </a:rPr>
              <a:t>ein</a:t>
            </a:r>
            <a:r>
              <a:rPr lang="en-US" sz="1450">
                <a:solidFill>
                  <a:srgbClr val="102313"/>
                </a:solidFill>
                <a:latin typeface="Segoe UI"/>
                <a:cs typeface="Segoe UI"/>
              </a:rPr>
              <a:t> </a:t>
            </a:r>
            <a:r>
              <a:rPr lang="en-US" sz="1450" err="1">
                <a:solidFill>
                  <a:srgbClr val="102313"/>
                </a:solidFill>
                <a:latin typeface="Segoe UI"/>
                <a:cs typeface="Segoe UI"/>
              </a:rPr>
              <a:t>ausgestelltes</a:t>
            </a:r>
            <a:r>
              <a:rPr lang="en-US" sz="1450">
                <a:solidFill>
                  <a:srgbClr val="102313"/>
                </a:solidFill>
                <a:latin typeface="Segoe UI"/>
                <a:cs typeface="Segoe UI"/>
              </a:rPr>
              <a:t> JWT</a:t>
            </a:r>
          </a:p>
        </p:txBody>
      </p:sp>
      <p:sp>
        <p:nvSpPr>
          <p:cNvPr id="57" name="Accent920">
            <a:extLst>
              <a:ext uri="{FF2B5EF4-FFF2-40B4-BE49-F238E27FC236}">
                <a16:creationId xmlns:a16="http://schemas.microsoft.com/office/drawing/2014/main" id="{D60EF246-E976-F9D0-50D9-D4F22ED116FB}"/>
              </a:ext>
            </a:extLst>
          </p:cNvPr>
          <p:cNvSpPr/>
          <p:nvPr/>
        </p:nvSpPr>
        <p:spPr>
          <a:xfrm>
            <a:off x="609600" y="1737070"/>
            <a:ext cx="73152" cy="670560"/>
          </a:xfrm>
          <a:prstGeom prst="roundRect">
            <a:avLst>
              <a:gd name="adj" fmla="val 45000"/>
            </a:avLst>
          </a:prstGeom>
          <a:solidFill>
            <a:srgbClr val="E8985E"/>
          </a:solidFill>
          <a:ln>
            <a:noFill/>
          </a:ln>
        </p:spPr>
        <p:txBody>
          <a:bodyPr/>
          <a:lstStyle/>
          <a:p>
            <a:endParaRPr lang="de-DE" sz="2400"/>
          </a:p>
        </p:txBody>
      </p:sp>
      <p:sp>
        <p:nvSpPr>
          <p:cNvPr id="59" name="Accent921">
            <a:extLst>
              <a:ext uri="{FF2B5EF4-FFF2-40B4-BE49-F238E27FC236}">
                <a16:creationId xmlns:a16="http://schemas.microsoft.com/office/drawing/2014/main" id="{6B3A0207-3D79-B369-FF0C-5981C5CA90FB}"/>
              </a:ext>
            </a:extLst>
          </p:cNvPr>
          <p:cNvSpPr/>
          <p:nvPr/>
        </p:nvSpPr>
        <p:spPr>
          <a:xfrm>
            <a:off x="609600" y="2627086"/>
            <a:ext cx="73152" cy="670560"/>
          </a:xfrm>
          <a:prstGeom prst="roundRect">
            <a:avLst>
              <a:gd name="adj" fmla="val 45000"/>
            </a:avLst>
          </a:prstGeom>
          <a:solidFill>
            <a:srgbClr val="E8985E"/>
          </a:solidFill>
          <a:ln>
            <a:noFill/>
          </a:ln>
        </p:spPr>
        <p:txBody>
          <a:bodyPr/>
          <a:lstStyle/>
          <a:p>
            <a:endParaRPr lang="de-DE" sz="2400"/>
          </a:p>
        </p:txBody>
      </p:sp>
      <p:sp>
        <p:nvSpPr>
          <p:cNvPr id="61" name="Accent922">
            <a:extLst>
              <a:ext uri="{FF2B5EF4-FFF2-40B4-BE49-F238E27FC236}">
                <a16:creationId xmlns:a16="http://schemas.microsoft.com/office/drawing/2014/main" id="{4406DF5A-1180-E79B-31B1-450A7B2C9D3D}"/>
              </a:ext>
            </a:extLst>
          </p:cNvPr>
          <p:cNvSpPr/>
          <p:nvPr/>
        </p:nvSpPr>
        <p:spPr>
          <a:xfrm>
            <a:off x="609600" y="3517102"/>
            <a:ext cx="73152" cy="670560"/>
          </a:xfrm>
          <a:prstGeom prst="roundRect">
            <a:avLst>
              <a:gd name="adj" fmla="val 45000"/>
            </a:avLst>
          </a:prstGeom>
          <a:solidFill>
            <a:srgbClr val="E8985E"/>
          </a:solidFill>
          <a:ln>
            <a:noFill/>
          </a:ln>
        </p:spPr>
        <p:txBody>
          <a:bodyPr/>
          <a:lstStyle/>
          <a:p>
            <a:endParaRPr lang="de-DE" sz="2400"/>
          </a:p>
        </p:txBody>
      </p:sp>
      <p:sp>
        <p:nvSpPr>
          <p:cNvPr id="63" name="Accent923">
            <a:extLst>
              <a:ext uri="{FF2B5EF4-FFF2-40B4-BE49-F238E27FC236}">
                <a16:creationId xmlns:a16="http://schemas.microsoft.com/office/drawing/2014/main" id="{74D1F7AF-A574-F027-A4D6-30D9B99F5727}"/>
              </a:ext>
            </a:extLst>
          </p:cNvPr>
          <p:cNvSpPr/>
          <p:nvPr/>
        </p:nvSpPr>
        <p:spPr>
          <a:xfrm>
            <a:off x="609600" y="4407118"/>
            <a:ext cx="73152" cy="670560"/>
          </a:xfrm>
          <a:prstGeom prst="roundRect">
            <a:avLst>
              <a:gd name="adj" fmla="val 45000"/>
            </a:avLst>
          </a:prstGeom>
          <a:solidFill>
            <a:srgbClr val="E8985E"/>
          </a:solidFill>
          <a:ln>
            <a:noFill/>
          </a:ln>
        </p:spPr>
        <p:txBody>
          <a:bodyPr/>
          <a:lstStyle/>
          <a:p>
            <a:endParaRPr lang="de-DE" sz="2400"/>
          </a:p>
        </p:txBody>
      </p:sp>
      <p:sp>
        <p:nvSpPr>
          <p:cNvPr id="64" name="Shape 20">
            <a:extLst>
              <a:ext uri="{FF2B5EF4-FFF2-40B4-BE49-F238E27FC236}">
                <a16:creationId xmlns:a16="http://schemas.microsoft.com/office/drawing/2014/main" id="{B4B0934A-06CD-288B-931D-E1401CA8E479}"/>
              </a:ext>
            </a:extLst>
          </p:cNvPr>
          <p:cNvSpPr/>
          <p:nvPr/>
        </p:nvSpPr>
        <p:spPr>
          <a:xfrm>
            <a:off x="602342" y="5231529"/>
            <a:ext cx="10972800" cy="792480"/>
          </a:xfrm>
          <a:prstGeom prst="roundRect">
            <a:avLst>
              <a:gd name="adj" fmla="val 9231"/>
            </a:avLst>
          </a:prstGeom>
          <a:solidFill>
            <a:srgbClr val="F3F6F3"/>
          </a:solidFill>
          <a:ln w="12700">
            <a:solidFill>
              <a:srgbClr val="CED2CE"/>
            </a:solidFill>
            <a:prstDash val="solid"/>
          </a:ln>
        </p:spPr>
        <p:txBody>
          <a:bodyPr/>
          <a:lstStyle/>
          <a:p>
            <a:endParaRPr lang="de-DE" sz="2400"/>
          </a:p>
        </p:txBody>
      </p:sp>
      <p:sp>
        <p:nvSpPr>
          <p:cNvPr id="65" name="Shape 21">
            <a:extLst>
              <a:ext uri="{FF2B5EF4-FFF2-40B4-BE49-F238E27FC236}">
                <a16:creationId xmlns:a16="http://schemas.microsoft.com/office/drawing/2014/main" id="{DC8D3F72-AB73-CB8B-4DFD-60B9C24470E1}"/>
              </a:ext>
            </a:extLst>
          </p:cNvPr>
          <p:cNvSpPr/>
          <p:nvPr/>
        </p:nvSpPr>
        <p:spPr>
          <a:xfrm>
            <a:off x="870566" y="5359545"/>
            <a:ext cx="536448" cy="536448"/>
          </a:xfrm>
          <a:prstGeom prst="ellipse">
            <a:avLst/>
          </a:prstGeom>
          <a:solidFill>
            <a:srgbClr val="E8985E"/>
          </a:solidFill>
          <a:ln/>
        </p:spPr>
        <p:txBody>
          <a:bodyPr/>
          <a:lstStyle/>
          <a:p>
            <a:endParaRPr lang="de-DE" sz="2400"/>
          </a:p>
        </p:txBody>
      </p:sp>
      <p:pic>
        <p:nvPicPr>
          <p:cNvPr id="66" name="Image 3" descr="Pfeil: Leichte Kurve mit einfarbiger Füllung">
            <a:extLst>
              <a:ext uri="{FF2B5EF4-FFF2-40B4-BE49-F238E27FC236}">
                <a16:creationId xmlns:a16="http://schemas.microsoft.com/office/drawing/2014/main" id="{58BFC0C3-D291-E49B-F6E5-19614D2C5C1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0043" y="5499022"/>
            <a:ext cx="257495" cy="257495"/>
          </a:xfrm>
          <a:prstGeom prst="rect">
            <a:avLst/>
          </a:prstGeom>
        </p:spPr>
      </p:pic>
      <p:sp>
        <p:nvSpPr>
          <p:cNvPr id="67" name="RowHead703">
            <a:extLst>
              <a:ext uri="{FF2B5EF4-FFF2-40B4-BE49-F238E27FC236}">
                <a16:creationId xmlns:a16="http://schemas.microsoft.com/office/drawing/2014/main" id="{A126D18D-7252-3CD5-1079-6B715FDAB1CA}"/>
              </a:ext>
            </a:extLst>
          </p:cNvPr>
          <p:cNvSpPr/>
          <p:nvPr/>
        </p:nvSpPr>
        <p:spPr>
          <a:xfrm>
            <a:off x="1602086" y="5266310"/>
            <a:ext cx="5462016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spc="80" dirty="0">
                <a:solidFill>
                  <a:srgbClr val="E8985E"/>
                </a:solidFill>
                <a:latin typeface="Segoe UI"/>
                <a:cs typeface="Segoe UI"/>
              </a:rPr>
              <a:t>AUTH-5 </a:t>
            </a:r>
            <a:r>
              <a:rPr lang="en-US" sz="1850" b="1" dirty="0" err="1">
                <a:solidFill>
                  <a:srgbClr val="355E3B"/>
                </a:solidFill>
                <a:latin typeface="Segoe UI"/>
                <a:cs typeface="Segoe UI"/>
              </a:rPr>
              <a:t>Einmal</a:t>
            </a:r>
            <a:r>
              <a:rPr lang="en-US" sz="1850" b="1" dirty="0">
                <a:solidFill>
                  <a:srgbClr val="355E3B"/>
                </a:solidFill>
                <a:latin typeface="Segoe UI"/>
                <a:cs typeface="Segoe UI"/>
              </a:rPr>
              <a:t>-Login per Code/Link</a:t>
            </a:r>
            <a:endParaRPr lang="de-DE" dirty="0"/>
          </a:p>
        </p:txBody>
      </p:sp>
      <p:sp>
        <p:nvSpPr>
          <p:cNvPr id="68" name="Text 24">
            <a:extLst>
              <a:ext uri="{FF2B5EF4-FFF2-40B4-BE49-F238E27FC236}">
                <a16:creationId xmlns:a16="http://schemas.microsoft.com/office/drawing/2014/main" id="{22030868-FDAB-5833-55D6-C8DA69B145F1}"/>
              </a:ext>
            </a:extLst>
          </p:cNvPr>
          <p:cNvSpPr/>
          <p:nvPr/>
        </p:nvSpPr>
        <p:spPr>
          <a:xfrm>
            <a:off x="7056845" y="5292779"/>
            <a:ext cx="426720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300">
                <a:solidFill>
                  <a:srgbClr val="5D5D5D"/>
                </a:solidFill>
                <a:latin typeface="Consolas"/>
                <a:ea typeface="Consolas" pitchFamily="34" charset="-122"/>
                <a:cs typeface="Consolas" pitchFamily="34" charset="-120"/>
              </a:rPr>
              <a:t>POST /</a:t>
            </a:r>
            <a:r>
              <a:rPr lang="en-US" sz="1300" err="1">
                <a:solidFill>
                  <a:srgbClr val="5D5D5D"/>
                </a:solidFill>
                <a:latin typeface="Consolas"/>
                <a:ea typeface="Consolas" pitchFamily="34" charset="-122"/>
                <a:cs typeface="Consolas" pitchFamily="34" charset="-120"/>
              </a:rPr>
              <a:t>api</a:t>
            </a:r>
            <a:r>
              <a:rPr lang="en-US" sz="1300">
                <a:solidFill>
                  <a:srgbClr val="5D5D5D"/>
                </a:solidFill>
                <a:latin typeface="Consolas"/>
                <a:ea typeface="Consolas" pitchFamily="34" charset="-122"/>
                <a:cs typeface="Consolas" pitchFamily="34" charset="-120"/>
              </a:rPr>
              <a:t>/auth/magic-link</a:t>
            </a:r>
            <a:endParaRPr lang="en-US" sz="1300">
              <a:latin typeface="Consolas"/>
            </a:endParaRPr>
          </a:p>
        </p:txBody>
      </p:sp>
      <p:sp>
        <p:nvSpPr>
          <p:cNvPr id="69" name="Text 25">
            <a:extLst>
              <a:ext uri="{FF2B5EF4-FFF2-40B4-BE49-F238E27FC236}">
                <a16:creationId xmlns:a16="http://schemas.microsoft.com/office/drawing/2014/main" id="{57C24FE0-F400-ACA6-81A1-DAD322ED7589}"/>
              </a:ext>
            </a:extLst>
          </p:cNvPr>
          <p:cNvSpPr/>
          <p:nvPr/>
        </p:nvSpPr>
        <p:spPr>
          <a:xfrm>
            <a:off x="1602086" y="5526752"/>
            <a:ext cx="9753600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50" err="1">
                <a:solidFill>
                  <a:srgbClr val="102313"/>
                </a:solidFill>
                <a:latin typeface="Segoe UI"/>
                <a:ea typeface="+mn-lt"/>
                <a:cs typeface="Segoe UI"/>
              </a:rPr>
              <a:t>Fordert</a:t>
            </a:r>
            <a:r>
              <a:rPr lang="en-US" sz="1450">
                <a:solidFill>
                  <a:srgbClr val="102313"/>
                </a:solidFill>
                <a:latin typeface="Segoe UI"/>
                <a:ea typeface="+mn-lt"/>
                <a:cs typeface="Segoe UI"/>
              </a:rPr>
              <a:t> </a:t>
            </a:r>
            <a:r>
              <a:rPr lang="en-US" sz="1450" err="1">
                <a:solidFill>
                  <a:srgbClr val="102313"/>
                </a:solidFill>
                <a:latin typeface="Segoe UI"/>
                <a:ea typeface="+mn-lt"/>
                <a:cs typeface="Segoe UI"/>
              </a:rPr>
              <a:t>einen</a:t>
            </a:r>
            <a:r>
              <a:rPr lang="en-US" sz="1450">
                <a:solidFill>
                  <a:srgbClr val="102313"/>
                </a:solidFill>
                <a:latin typeface="Segoe UI"/>
                <a:ea typeface="+mn-lt"/>
                <a:cs typeface="Segoe UI"/>
              </a:rPr>
              <a:t> </a:t>
            </a:r>
            <a:r>
              <a:rPr lang="en-US" sz="1450" err="1">
                <a:solidFill>
                  <a:srgbClr val="102313"/>
                </a:solidFill>
                <a:latin typeface="Segoe UI"/>
                <a:ea typeface="+mn-lt"/>
                <a:cs typeface="Segoe UI"/>
              </a:rPr>
              <a:t>Einmal</a:t>
            </a:r>
            <a:r>
              <a:rPr lang="en-US" sz="1450">
                <a:solidFill>
                  <a:srgbClr val="102313"/>
                </a:solidFill>
                <a:latin typeface="Segoe UI"/>
                <a:ea typeface="+mn-lt"/>
                <a:cs typeface="Segoe UI"/>
              </a:rPr>
              <a:t>-Login an (Code/Link)</a:t>
            </a:r>
            <a:endParaRPr lang="en-US" sz="1450">
              <a:solidFill>
                <a:srgbClr val="102313"/>
              </a:solidFill>
              <a:latin typeface="Segoe UI"/>
              <a:cs typeface="Segoe UI"/>
            </a:endParaRPr>
          </a:p>
        </p:txBody>
      </p:sp>
      <p:sp>
        <p:nvSpPr>
          <p:cNvPr id="70" name="Accent923">
            <a:extLst>
              <a:ext uri="{FF2B5EF4-FFF2-40B4-BE49-F238E27FC236}">
                <a16:creationId xmlns:a16="http://schemas.microsoft.com/office/drawing/2014/main" id="{923E0D0A-6722-8944-E152-605E5BE5A03D}"/>
              </a:ext>
            </a:extLst>
          </p:cNvPr>
          <p:cNvSpPr/>
          <p:nvPr/>
        </p:nvSpPr>
        <p:spPr>
          <a:xfrm>
            <a:off x="602342" y="5292489"/>
            <a:ext cx="73152" cy="670560"/>
          </a:xfrm>
          <a:prstGeom prst="roundRect">
            <a:avLst>
              <a:gd name="adj" fmla="val 45000"/>
            </a:avLst>
          </a:prstGeom>
          <a:solidFill>
            <a:srgbClr val="E8985E"/>
          </a:solidFill>
          <a:ln>
            <a:noFill/>
          </a:ln>
        </p:spPr>
        <p:txBody>
          <a:bodyPr/>
          <a:lstStyle/>
          <a:p>
            <a:endParaRPr lang="de-DE" sz="2400"/>
          </a:p>
        </p:txBody>
      </p:sp>
      <p:sp>
        <p:nvSpPr>
          <p:cNvPr id="71" name="Text 12">
            <a:extLst>
              <a:ext uri="{FF2B5EF4-FFF2-40B4-BE49-F238E27FC236}">
                <a16:creationId xmlns:a16="http://schemas.microsoft.com/office/drawing/2014/main" id="{4DF2F83C-D269-AD46-19C7-D149D59334DC}"/>
              </a:ext>
            </a:extLst>
          </p:cNvPr>
          <p:cNvSpPr/>
          <p:nvPr/>
        </p:nvSpPr>
        <p:spPr>
          <a:xfrm>
            <a:off x="7093131" y="2932175"/>
            <a:ext cx="426720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300">
                <a:solidFill>
                  <a:srgbClr val="5D5D5D"/>
                </a:solidFill>
                <a:latin typeface="Consolas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300" err="1">
                <a:solidFill>
                  <a:srgbClr val="5D5D5D"/>
                </a:solidFill>
                <a:latin typeface="Consolas"/>
                <a:ea typeface="Consolas" pitchFamily="34" charset="-122"/>
                <a:cs typeface="Consolas" pitchFamily="34" charset="-120"/>
              </a:rPr>
              <a:t>Statusabfrage</a:t>
            </a:r>
            <a:r>
              <a:rPr lang="en-US" sz="1300">
                <a:solidFill>
                  <a:srgbClr val="5D5D5D"/>
                </a:solidFill>
                <a:latin typeface="Consolas"/>
                <a:ea typeface="Consolas" pitchFamily="34" charset="-122"/>
                <a:cs typeface="Consolas" pitchFamily="34" charset="-120"/>
              </a:rPr>
              <a:t>) GET /</a:t>
            </a:r>
            <a:r>
              <a:rPr lang="en-US" sz="1300" err="1">
                <a:solidFill>
                  <a:srgbClr val="5D5D5D"/>
                </a:solidFill>
                <a:latin typeface="Consolas"/>
                <a:ea typeface="Consolas" pitchFamily="34" charset="-122"/>
                <a:cs typeface="Consolas" pitchFamily="34" charset="-120"/>
              </a:rPr>
              <a:t>api</a:t>
            </a:r>
            <a:r>
              <a:rPr lang="en-US" sz="1300">
                <a:solidFill>
                  <a:srgbClr val="5D5D5D"/>
                </a:solidFill>
                <a:latin typeface="Consolas"/>
                <a:ea typeface="Consolas" pitchFamily="34" charset="-122"/>
                <a:cs typeface="Consolas" pitchFamily="34" charset="-120"/>
              </a:rPr>
              <a:t>/auth/me</a:t>
            </a:r>
            <a:endParaRPr lang="en-US" sz="1300">
              <a:latin typeface="Consolas"/>
            </a:endParaRPr>
          </a:p>
        </p:txBody>
      </p:sp>
      <p:sp>
        <p:nvSpPr>
          <p:cNvPr id="72" name="Text 24">
            <a:extLst>
              <a:ext uri="{FF2B5EF4-FFF2-40B4-BE49-F238E27FC236}">
                <a16:creationId xmlns:a16="http://schemas.microsoft.com/office/drawing/2014/main" id="{A28D4960-DE66-8F66-392C-B6D990B0C27A}"/>
              </a:ext>
            </a:extLst>
          </p:cNvPr>
          <p:cNvSpPr/>
          <p:nvPr/>
        </p:nvSpPr>
        <p:spPr>
          <a:xfrm>
            <a:off x="6098901" y="5452435"/>
            <a:ext cx="5290457" cy="3553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300">
                <a:solidFill>
                  <a:srgbClr val="5D5D5D"/>
                </a:solidFill>
                <a:latin typeface="Consolas"/>
                <a:ea typeface="Consolas" pitchFamily="34" charset="-122"/>
                <a:cs typeface="Consolas" pitchFamily="34" charset="-120"/>
              </a:rPr>
              <a:t>(Link) GET /</a:t>
            </a:r>
            <a:r>
              <a:rPr lang="en-US" sz="1300" err="1">
                <a:solidFill>
                  <a:srgbClr val="5D5D5D"/>
                </a:solidFill>
                <a:latin typeface="Consolas"/>
                <a:ea typeface="Consolas" pitchFamily="34" charset="-122"/>
                <a:cs typeface="Consolas" pitchFamily="34" charset="-120"/>
              </a:rPr>
              <a:t>api</a:t>
            </a:r>
            <a:r>
              <a:rPr lang="en-US" sz="1300">
                <a:solidFill>
                  <a:srgbClr val="5D5D5D"/>
                </a:solidFill>
                <a:latin typeface="Consolas"/>
                <a:ea typeface="Consolas" pitchFamily="34" charset="-122"/>
                <a:cs typeface="Consolas" pitchFamily="34" charset="-120"/>
              </a:rPr>
              <a:t>/auth/magic-login/:token</a:t>
            </a:r>
            <a:endParaRPr lang="en-US" sz="1300">
              <a:latin typeface="Consolas"/>
            </a:endParaRPr>
          </a:p>
        </p:txBody>
      </p:sp>
      <p:sp>
        <p:nvSpPr>
          <p:cNvPr id="73" name="Text 24">
            <a:extLst>
              <a:ext uri="{FF2B5EF4-FFF2-40B4-BE49-F238E27FC236}">
                <a16:creationId xmlns:a16="http://schemas.microsoft.com/office/drawing/2014/main" id="{A40FC35D-C2FF-DF06-9B75-4BD377594018}"/>
              </a:ext>
            </a:extLst>
          </p:cNvPr>
          <p:cNvSpPr/>
          <p:nvPr/>
        </p:nvSpPr>
        <p:spPr>
          <a:xfrm>
            <a:off x="6069871" y="5670149"/>
            <a:ext cx="5290457" cy="3553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300">
                <a:solidFill>
                  <a:srgbClr val="5D5D5D"/>
                </a:solidFill>
                <a:latin typeface="Consolas"/>
                <a:ea typeface="Consolas" pitchFamily="34" charset="-122"/>
                <a:cs typeface="Consolas" pitchFamily="34" charset="-120"/>
              </a:rPr>
              <a:t>(Code) GET /</a:t>
            </a:r>
            <a:r>
              <a:rPr lang="en-US" sz="1300" err="1">
                <a:solidFill>
                  <a:srgbClr val="5D5D5D"/>
                </a:solidFill>
                <a:latin typeface="Consolas"/>
                <a:ea typeface="Consolas" pitchFamily="34" charset="-122"/>
                <a:cs typeface="Consolas" pitchFamily="34" charset="-120"/>
              </a:rPr>
              <a:t>api</a:t>
            </a:r>
            <a:r>
              <a:rPr lang="en-US" sz="1300">
                <a:solidFill>
                  <a:srgbClr val="5D5D5D"/>
                </a:solidFill>
                <a:latin typeface="Consolas"/>
                <a:ea typeface="Consolas" pitchFamily="34" charset="-122"/>
                <a:cs typeface="Consolas" pitchFamily="34" charset="-120"/>
              </a:rPr>
              <a:t>/auth/magic-login</a:t>
            </a:r>
            <a:endParaRPr lang="en-US" sz="1300">
              <a:latin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14968814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8F30EF-0FF1-AB1E-6F03-C9D591A73C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63DA321-43CD-E739-125B-BAD9518960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JSON Web Token (JWT)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3A8FB8C-5A40-A595-5AA6-21E6FF4A22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659B3-2AC6-415C-8502-9561F01A0D7D}" type="datetime1">
              <a:rPr lang="de-DE" smtClean="0"/>
              <a:t>15.07.2026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B3BC4680-9890-1A2D-4534-4D8C9B9DB0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Bekir, Avid, Alex, Darian, Lara P., Sheila</a:t>
            </a:r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F1A436CB-B57D-AB6B-A21A-7AF6C5F6E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7EE8E-3513-4D7C-BF7B-7494C67953C0}" type="slidenum">
              <a:rPr lang="de-DE" smtClean="0"/>
              <a:t>18</a:t>
            </a:fld>
            <a:endParaRPr lang="de-DE"/>
          </a:p>
        </p:txBody>
      </p:sp>
      <p:sp>
        <p:nvSpPr>
          <p:cNvPr id="7" name="Titel 1">
            <a:extLst>
              <a:ext uri="{FF2B5EF4-FFF2-40B4-BE49-F238E27FC236}">
                <a16:creationId xmlns:a16="http://schemas.microsoft.com/office/drawing/2014/main" id="{8669E12F-AC30-E37C-9F26-D7F31428BCDB}"/>
              </a:ext>
            </a:extLst>
          </p:cNvPr>
          <p:cNvSpPr txBox="1">
            <a:spLocks/>
          </p:cNvSpPr>
          <p:nvPr/>
        </p:nvSpPr>
        <p:spPr>
          <a:xfrm>
            <a:off x="3762829" y="1792515"/>
            <a:ext cx="4490721" cy="1356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3200" err="1"/>
              <a:t>header.payload.signature</a:t>
            </a:r>
          </a:p>
        </p:txBody>
      </p:sp>
      <p:sp>
        <p:nvSpPr>
          <p:cNvPr id="8" name="Titel 1">
            <a:extLst>
              <a:ext uri="{FF2B5EF4-FFF2-40B4-BE49-F238E27FC236}">
                <a16:creationId xmlns:a16="http://schemas.microsoft.com/office/drawing/2014/main" id="{1F68EE1D-5F51-D580-F749-21D3DC527384}"/>
              </a:ext>
            </a:extLst>
          </p:cNvPr>
          <p:cNvSpPr txBox="1">
            <a:spLocks/>
          </p:cNvSpPr>
          <p:nvPr/>
        </p:nvSpPr>
        <p:spPr>
          <a:xfrm>
            <a:off x="1055914" y="2750457"/>
            <a:ext cx="8649063" cy="19006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3200"/>
              <a:t>Payload: { </a:t>
            </a:r>
            <a:r>
              <a:rPr lang="de-DE" sz="3200" err="1"/>
              <a:t>userID</a:t>
            </a:r>
            <a:r>
              <a:rPr lang="de-DE" sz="3200"/>
              <a:t>, </a:t>
            </a:r>
            <a:r>
              <a:rPr lang="de-DE" sz="3200" err="1"/>
              <a:t>role</a:t>
            </a:r>
            <a:r>
              <a:rPr lang="de-DE" sz="3200"/>
              <a:t>, </a:t>
            </a:r>
            <a:r>
              <a:rPr lang="de-DE" sz="3200" err="1"/>
              <a:t>email</a:t>
            </a:r>
            <a:r>
              <a:rPr lang="de-DE" sz="3200"/>
              <a:t>, </a:t>
            </a:r>
            <a:r>
              <a:rPr lang="de-DE" sz="3200" err="1"/>
              <a:t>jti</a:t>
            </a:r>
            <a:r>
              <a:rPr lang="de-DE" sz="3200"/>
              <a:t> }</a:t>
            </a:r>
          </a:p>
          <a:p>
            <a:endParaRPr lang="de-DE" sz="3200">
              <a:solidFill>
                <a:srgbClr val="355E3B"/>
              </a:solidFill>
              <a:latin typeface="Corbel"/>
            </a:endParaRPr>
          </a:p>
          <a:p>
            <a:r>
              <a:rPr lang="de-DE" sz="3200">
                <a:solidFill>
                  <a:srgbClr val="355E3B"/>
                </a:solidFill>
                <a:latin typeface="Corbel"/>
              </a:rPr>
              <a:t>Signatur wird mit JWT_SECRET erzeugt</a:t>
            </a:r>
          </a:p>
        </p:txBody>
      </p:sp>
    </p:spTree>
    <p:extLst>
      <p:ext uri="{BB962C8B-B14F-4D97-AF65-F5344CB8AC3E}">
        <p14:creationId xmlns:p14="http://schemas.microsoft.com/office/powerpoint/2010/main" val="27155807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CBCB92-B821-CED1-02F9-1EA72DBB0D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4886FDD-9D45-3B33-66B3-88F956ECEC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6714" y="478971"/>
            <a:ext cx="9897291" cy="877388"/>
          </a:xfrm>
        </p:spPr>
        <p:txBody>
          <a:bodyPr>
            <a:normAutofit/>
          </a:bodyPr>
          <a:lstStyle/>
          <a:p>
            <a:r>
              <a:rPr lang="de-DE" err="1"/>
              <a:t>auth</a:t>
            </a:r>
            <a:r>
              <a:rPr lang="de-DE"/>
              <a:t>-service · Sicherheitsüberlegungen</a:t>
            </a:r>
            <a:endParaRPr lang="en-US" i="1">
              <a:solidFill>
                <a:srgbClr val="5D5D5D"/>
              </a:solidFill>
              <a:latin typeface="Segoe UI"/>
              <a:cs typeface="Segoe UI"/>
            </a:endParaRP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2BF43976-F337-CD5B-7663-CE46FBEC83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3DA46-2E12-402E-B3E7-8AEBE7164A0E}" type="datetime1">
              <a:rPr lang="de-DE" smtClean="0"/>
              <a:t>15.07.2026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FEAED3CC-C8E9-7F2A-7759-6C002A6D4A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Bekir, Avid, Alex, Darian, Lara P., Sheila</a:t>
            </a:r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4D6398E-5DB1-2108-6B6C-3BB2A2052B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7EE8E-3513-4D7C-BF7B-7494C67953C0}" type="slidenum">
              <a:rPr lang="de-DE" smtClean="0"/>
              <a:t>19</a:t>
            </a:fld>
            <a:endParaRPr lang="de-DE"/>
          </a:p>
        </p:txBody>
      </p:sp>
      <p:sp>
        <p:nvSpPr>
          <p:cNvPr id="11" name="Titel 1">
            <a:extLst>
              <a:ext uri="{FF2B5EF4-FFF2-40B4-BE49-F238E27FC236}">
                <a16:creationId xmlns:a16="http://schemas.microsoft.com/office/drawing/2014/main" id="{5EFD0BB4-15E2-C3B7-E590-02E6B664A603}"/>
              </a:ext>
            </a:extLst>
          </p:cNvPr>
          <p:cNvSpPr txBox="1">
            <a:spLocks/>
          </p:cNvSpPr>
          <p:nvPr/>
        </p:nvSpPr>
        <p:spPr>
          <a:xfrm>
            <a:off x="1106715" y="1182914"/>
            <a:ext cx="9926319" cy="3548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7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/>
              <a:t>Port 3001</a:t>
            </a:r>
          </a:p>
        </p:txBody>
      </p:sp>
      <p:sp>
        <p:nvSpPr>
          <p:cNvPr id="7" name="Titel 1">
            <a:extLst>
              <a:ext uri="{FF2B5EF4-FFF2-40B4-BE49-F238E27FC236}">
                <a16:creationId xmlns:a16="http://schemas.microsoft.com/office/drawing/2014/main" id="{7282E4DE-E2C7-864C-FC19-1EA49AEF1806}"/>
              </a:ext>
            </a:extLst>
          </p:cNvPr>
          <p:cNvSpPr txBox="1">
            <a:spLocks/>
          </p:cNvSpPr>
          <p:nvPr/>
        </p:nvSpPr>
        <p:spPr>
          <a:xfrm>
            <a:off x="845458" y="1712686"/>
            <a:ext cx="10506890" cy="4389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indent="-457200">
              <a:buFont typeface="Arial"/>
              <a:buChar char="•"/>
            </a:pPr>
            <a:r>
              <a:rPr lang="de-DE" sz="2800" b="1">
                <a:solidFill>
                  <a:srgbClr val="355E3B"/>
                </a:solidFill>
              </a:rPr>
              <a:t>Passwörter </a:t>
            </a:r>
            <a:r>
              <a:rPr lang="de-DE" sz="2800">
                <a:solidFill>
                  <a:srgbClr val="355E3B"/>
                </a:solidFill>
              </a:rPr>
              <a:t>nur als </a:t>
            </a:r>
            <a:r>
              <a:rPr lang="de-DE" sz="2800" err="1">
                <a:solidFill>
                  <a:srgbClr val="355E3B"/>
                </a:solidFill>
              </a:rPr>
              <a:t>bcrypt</a:t>
            </a:r>
            <a:r>
              <a:rPr lang="de-DE" sz="2800">
                <a:solidFill>
                  <a:srgbClr val="355E3B"/>
                </a:solidFill>
              </a:rPr>
              <a:t>-Hash in der Datenbank</a:t>
            </a:r>
          </a:p>
          <a:p>
            <a:pPr marL="457200" indent="-457200">
              <a:buFont typeface="Arial"/>
              <a:buChar char="•"/>
            </a:pPr>
            <a:endParaRPr lang="de-DE" sz="2800">
              <a:solidFill>
                <a:srgbClr val="355E3B"/>
              </a:solidFill>
            </a:endParaRPr>
          </a:p>
          <a:p>
            <a:pPr marL="457200" indent="-457200">
              <a:buFont typeface="Arial"/>
              <a:buChar char="•"/>
            </a:pPr>
            <a:r>
              <a:rPr lang="de-DE" sz="2800" b="1">
                <a:solidFill>
                  <a:srgbClr val="355E3B"/>
                </a:solidFill>
              </a:rPr>
              <a:t>JWT_SECRET</a:t>
            </a:r>
            <a:r>
              <a:rPr lang="de-DE" sz="2800">
                <a:solidFill>
                  <a:srgbClr val="355E3B"/>
                </a:solidFill>
              </a:rPr>
              <a:t> gehört nie ins </a:t>
            </a:r>
            <a:r>
              <a:rPr lang="de-DE" sz="2800" err="1">
                <a:solidFill>
                  <a:srgbClr val="355E3B"/>
                </a:solidFill>
              </a:rPr>
              <a:t>git</a:t>
            </a:r>
          </a:p>
          <a:p>
            <a:pPr marL="457200" indent="-457200">
              <a:buFont typeface="Arial"/>
              <a:buChar char="•"/>
            </a:pPr>
            <a:endParaRPr lang="de-DE" sz="2800">
              <a:solidFill>
                <a:srgbClr val="355E3B"/>
              </a:solidFill>
            </a:endParaRPr>
          </a:p>
          <a:p>
            <a:pPr marL="457200" indent="-457200">
              <a:buFont typeface="Arial"/>
              <a:buChar char="•"/>
            </a:pPr>
            <a:r>
              <a:rPr lang="de-DE" sz="2800" b="1">
                <a:solidFill>
                  <a:srgbClr val="355E3B"/>
                </a:solidFill>
              </a:rPr>
              <a:t>Einmal-Tokens</a:t>
            </a:r>
            <a:r>
              <a:rPr lang="de-DE" sz="2800">
                <a:solidFill>
                  <a:srgbClr val="355E3B"/>
                </a:solidFill>
              </a:rPr>
              <a:t> sind zufällig, haben ein Ablaufdatum und werden nach Gebrauch auf "</a:t>
            </a:r>
            <a:r>
              <a:rPr lang="de-DE" sz="2800" err="1">
                <a:solidFill>
                  <a:srgbClr val="355E3B"/>
                </a:solidFill>
              </a:rPr>
              <a:t>used</a:t>
            </a:r>
            <a:r>
              <a:rPr lang="de-DE" sz="2800">
                <a:solidFill>
                  <a:srgbClr val="355E3B"/>
                </a:solidFill>
              </a:rPr>
              <a:t> = </a:t>
            </a:r>
            <a:r>
              <a:rPr lang="de-DE" sz="2800" err="1">
                <a:solidFill>
                  <a:srgbClr val="355E3B"/>
                </a:solidFill>
              </a:rPr>
              <a:t>true</a:t>
            </a:r>
            <a:r>
              <a:rPr lang="de-DE" sz="2800">
                <a:solidFill>
                  <a:srgbClr val="355E3B"/>
                </a:solidFill>
              </a:rPr>
              <a:t>" gesetzt</a:t>
            </a:r>
          </a:p>
          <a:p>
            <a:pPr marL="457200" indent="-457200">
              <a:buFont typeface="Arial"/>
              <a:buChar char="•"/>
            </a:pPr>
            <a:endParaRPr lang="de-DE" sz="2800">
              <a:solidFill>
                <a:srgbClr val="355E3B"/>
              </a:solidFill>
            </a:endParaRPr>
          </a:p>
          <a:p>
            <a:pPr marL="457200" indent="-457200">
              <a:buFont typeface="Arial"/>
              <a:buChar char="•"/>
            </a:pPr>
            <a:r>
              <a:rPr lang="de-DE" sz="2800" b="1">
                <a:solidFill>
                  <a:srgbClr val="355E3B"/>
                </a:solidFill>
              </a:rPr>
              <a:t>Magic-Link</a:t>
            </a:r>
            <a:r>
              <a:rPr lang="de-DE" sz="2800">
                <a:solidFill>
                  <a:srgbClr val="355E3B"/>
                </a:solidFill>
              </a:rPr>
              <a:t> antwortet immer gleich, selbst wenn die Mail nicht existiert (verrät </a:t>
            </a:r>
            <a:r>
              <a:rPr lang="de-DE" sz="2800" err="1">
                <a:solidFill>
                  <a:srgbClr val="355E3B"/>
                </a:solidFill>
              </a:rPr>
              <a:t>keine registrierte Adressen</a:t>
            </a:r>
            <a:r>
              <a:rPr lang="de-DE" sz="2800">
                <a:solidFill>
                  <a:srgbClr val="355E3B"/>
                </a:solidFill>
              </a:rPr>
              <a:t>)</a:t>
            </a:r>
          </a:p>
          <a:p>
            <a:pPr marL="457200" indent="-457200">
              <a:buFont typeface="Arial"/>
              <a:buChar char="•"/>
            </a:pPr>
            <a:endParaRPr lang="de-DE" sz="2800">
              <a:solidFill>
                <a:srgbClr val="355E3B"/>
              </a:solidFill>
            </a:endParaRPr>
          </a:p>
          <a:p>
            <a:pPr marL="457200" indent="-457200">
              <a:buFont typeface="Arial"/>
              <a:buChar char="•"/>
            </a:pPr>
            <a:r>
              <a:rPr lang="de-DE" sz="2800" b="1">
                <a:solidFill>
                  <a:srgbClr val="355E3B"/>
                </a:solidFill>
              </a:rPr>
              <a:t>/</a:t>
            </a:r>
            <a:r>
              <a:rPr lang="de-DE" sz="2800" b="1" err="1">
                <a:solidFill>
                  <a:srgbClr val="355E3B"/>
                </a:solidFill>
              </a:rPr>
              <a:t>validate</a:t>
            </a:r>
            <a:r>
              <a:rPr lang="de-DE" sz="2800">
                <a:solidFill>
                  <a:srgbClr val="355E3B"/>
                </a:solidFill>
              </a:rPr>
              <a:t> ist nur intern bzw. Über das Docker-Netzwerk erreichbar</a:t>
            </a:r>
          </a:p>
        </p:txBody>
      </p:sp>
    </p:spTree>
    <p:extLst>
      <p:ext uri="{BB962C8B-B14F-4D97-AF65-F5344CB8AC3E}">
        <p14:creationId xmlns:p14="http://schemas.microsoft.com/office/powerpoint/2010/main" val="2318891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6B23349-673E-8FC0-33CD-3E60A59BAF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79CBD3C9-4E66-426D-948E-7CF4778107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DE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DB95FCF-AD96-482F-9FB8-CD95725E6E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DE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64EEEC00-AD80-4734-BEE6-04CBDEC830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C6896D1-BFB1-4C84-82DD-31073BED3F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978660" y="5462458"/>
            <a:ext cx="82296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8A2FDFB1-2B6D-49EB-B6C0-FA923806E0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140" y="243841"/>
            <a:ext cx="11722100" cy="3964584"/>
          </a:xfrm>
          <a:prstGeom prst="rect">
            <a:avLst/>
          </a:prstGeom>
          <a:solidFill>
            <a:schemeClr val="bg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DE"/>
          </a:p>
        </p:txBody>
      </p:sp>
      <p:pic>
        <p:nvPicPr>
          <p:cNvPr id="7" name="Grafik 6" descr="Mitarbeitendenausweis Silhouette">
            <a:extLst>
              <a:ext uri="{FF2B5EF4-FFF2-40B4-BE49-F238E27FC236}">
                <a16:creationId xmlns:a16="http://schemas.microsoft.com/office/drawing/2014/main" id="{68946839-0BBE-DAD0-5DCB-B7FB190C860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78531" y="712475"/>
            <a:ext cx="3027316" cy="3027316"/>
          </a:xfrm>
          <a:prstGeom prst="rect">
            <a:avLst/>
          </a:prstGeom>
        </p:spPr>
      </p:pic>
      <p:cxnSp>
        <p:nvCxnSpPr>
          <p:cNvPr id="9" name="Gerader Verbinder 8">
            <a:extLst>
              <a:ext uri="{FF2B5EF4-FFF2-40B4-BE49-F238E27FC236}">
                <a16:creationId xmlns:a16="http://schemas.microsoft.com/office/drawing/2014/main" id="{27B1522B-F9F1-0AEA-C655-4A0B6EB8C57C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1978660" y="5462458"/>
            <a:ext cx="836320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el 1">
            <a:extLst>
              <a:ext uri="{FF2B5EF4-FFF2-40B4-BE49-F238E27FC236}">
                <a16:creationId xmlns:a16="http://schemas.microsoft.com/office/drawing/2014/main" id="{926E9AE6-66E9-0DAF-CF47-AABABF77D3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8709" y="4632960"/>
            <a:ext cx="9966960" cy="132588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85000"/>
              </a:lnSpc>
            </a:pPr>
            <a:r>
              <a:rPr lang="en-US" sz="6600" b="1" u="sng" cap="all" err="1">
                <a:solidFill>
                  <a:srgbClr val="FFFFFF"/>
                </a:solidFill>
              </a:rPr>
              <a:t>Autorisierung</a:t>
            </a:r>
            <a:endParaRPr lang="en-US" sz="6600" b="1" u="sng" cap="all">
              <a:solidFill>
                <a:srgbClr val="FFFFFF"/>
              </a:solidFill>
            </a:endParaRP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525B0B83-6EE5-C002-FF5C-D1925246FA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0D23-99B1-4CA7-871A-19C41B52EA06}" type="datetime1">
              <a:rPr lang="de-DE" smtClean="0"/>
              <a:t>15.07.2026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CC248D8-2403-A361-CF4C-60D65B3C75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Bekir, Avid, Alex, Darian, Lara P., Sheila</a:t>
            </a:r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57BA792-4593-2409-DABA-5C054DC267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7EE8E-3513-4D7C-BF7B-7494C67953C0}" type="slidenum">
              <a:rPr lang="de-DE" smtClean="0"/>
              <a:t>20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8952611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52194C-B4E9-C2FD-CDB7-020AC71275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A331E53-22F9-8856-0F5C-25D627B904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err="1"/>
              <a:t>authorization</a:t>
            </a:r>
            <a:r>
              <a:rPr lang="de-DE"/>
              <a:t>-service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CE3A1A8E-73DD-07D3-98DD-5B081C1CB6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3DA46-2E12-402E-B3E7-8AEBE7164A0E}" type="datetime1">
              <a:rPr lang="de-DE" smtClean="0"/>
              <a:t>15.07.2026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49A4B8C-C912-194F-85D5-B52D26F523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Bekir, Avid, Alex, Darian, Lara P., Sheila</a:t>
            </a:r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C7F9FAF-8D7F-93FA-4B08-838608EB6F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7EE8E-3513-4D7C-BF7B-7494C67953C0}" type="slidenum">
              <a:rPr lang="de-DE" smtClean="0"/>
              <a:t>21</a:t>
            </a:fld>
            <a:endParaRPr lang="de-DE"/>
          </a:p>
        </p:txBody>
      </p:sp>
      <p:sp>
        <p:nvSpPr>
          <p:cNvPr id="7" name="Titel 1">
            <a:extLst>
              <a:ext uri="{FF2B5EF4-FFF2-40B4-BE49-F238E27FC236}">
                <a16:creationId xmlns:a16="http://schemas.microsoft.com/office/drawing/2014/main" id="{FF235205-AC49-7F8D-A519-6DF4BB9BB4F3}"/>
              </a:ext>
            </a:extLst>
          </p:cNvPr>
          <p:cNvSpPr txBox="1">
            <a:spLocks/>
          </p:cNvSpPr>
          <p:nvPr/>
        </p:nvSpPr>
        <p:spPr>
          <a:xfrm>
            <a:off x="1143000" y="1966686"/>
            <a:ext cx="10543176" cy="32141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800"/>
              <a:t>Hauptfrage: "Was darf der User machen?"</a:t>
            </a:r>
            <a:endParaRPr lang="de-DE"/>
          </a:p>
          <a:p>
            <a:pPr marL="571500" indent="-571500">
              <a:buFont typeface="Arial"/>
              <a:buChar char="•"/>
            </a:pPr>
            <a:endParaRPr lang="de-DE" sz="2400"/>
          </a:p>
          <a:p>
            <a:pPr marL="1028700" lvl="1" indent="-571500">
              <a:lnSpc>
                <a:spcPct val="90000"/>
              </a:lnSpc>
              <a:spcBef>
                <a:spcPct val="0"/>
              </a:spcBef>
              <a:buFont typeface="Courier New"/>
              <a:buChar char="o"/>
            </a:pPr>
            <a:r>
              <a:rPr lang="de-DE" sz="2000">
                <a:solidFill>
                  <a:srgbClr val="355E3B"/>
                </a:solidFill>
              </a:rPr>
              <a:t>Türsteherprinzip: Schutz von Routen und Ressourcen</a:t>
            </a:r>
          </a:p>
          <a:p>
            <a:pPr marL="1028700" lvl="1" indent="-571500">
              <a:lnSpc>
                <a:spcPct val="90000"/>
              </a:lnSpc>
              <a:spcBef>
                <a:spcPct val="0"/>
              </a:spcBef>
              <a:buFont typeface="Courier New"/>
              <a:buChar char="o"/>
            </a:pPr>
            <a:endParaRPr lang="de-DE" sz="2000">
              <a:solidFill>
                <a:srgbClr val="355E3B"/>
              </a:solidFill>
            </a:endParaRPr>
          </a:p>
          <a:p>
            <a:pPr marL="1028700" lvl="1" indent="-571500">
              <a:lnSpc>
                <a:spcPct val="90000"/>
              </a:lnSpc>
              <a:spcBef>
                <a:spcPct val="0"/>
              </a:spcBef>
              <a:buFont typeface="Courier New"/>
              <a:buChar char="o"/>
            </a:pPr>
            <a:r>
              <a:rPr lang="de-DE" sz="2000" dirty="0">
                <a:solidFill>
                  <a:srgbClr val="355E3B"/>
                </a:solidFill>
              </a:rPr>
              <a:t>Alle anderen Services rufen vorher </a:t>
            </a:r>
            <a:r>
              <a:rPr lang="de-DE" sz="2000" dirty="0" err="1">
                <a:solidFill>
                  <a:srgbClr val="355E3B"/>
                </a:solidFill>
              </a:rPr>
              <a:t>authorization</a:t>
            </a:r>
            <a:r>
              <a:rPr lang="de-DE" sz="2000" dirty="0">
                <a:solidFill>
                  <a:srgbClr val="355E3B"/>
                </a:solidFill>
              </a:rPr>
              <a:t>-service auf, bevor sie </a:t>
            </a:r>
            <a:r>
              <a:rPr lang="de-DE" sz="2000" dirty="0" err="1">
                <a:solidFill>
                  <a:srgbClr val="355E3B"/>
                </a:solidFill>
              </a:rPr>
              <a:t>requests</a:t>
            </a:r>
            <a:r>
              <a:rPr lang="de-DE" sz="2000" dirty="0">
                <a:solidFill>
                  <a:srgbClr val="355E3B"/>
                </a:solidFill>
              </a:rPr>
              <a:t> verarbeiten</a:t>
            </a:r>
          </a:p>
          <a:p>
            <a:pPr marL="1028700" lvl="1" indent="-571500">
              <a:lnSpc>
                <a:spcPct val="90000"/>
              </a:lnSpc>
              <a:spcBef>
                <a:spcPct val="0"/>
              </a:spcBef>
              <a:buFont typeface="Courier New"/>
              <a:buChar char="o"/>
            </a:pPr>
            <a:endParaRPr lang="de-DE" sz="2000">
              <a:solidFill>
                <a:srgbClr val="355E3B"/>
              </a:solidFill>
            </a:endParaRPr>
          </a:p>
          <a:p>
            <a:pPr marL="1028700" lvl="1" indent="-571500">
              <a:lnSpc>
                <a:spcPct val="90000"/>
              </a:lnSpc>
              <a:spcBef>
                <a:spcPct val="0"/>
              </a:spcBef>
              <a:buFont typeface="Courier New"/>
              <a:buChar char="o"/>
            </a:pPr>
            <a:r>
              <a:rPr lang="de-DE" sz="2000" dirty="0">
                <a:solidFill>
                  <a:srgbClr val="355E3B"/>
                </a:solidFill>
              </a:rPr>
              <a:t>Leitet das JWT eines Users an den </a:t>
            </a:r>
            <a:r>
              <a:rPr lang="de-DE" sz="2000" dirty="0" err="1">
                <a:solidFill>
                  <a:srgbClr val="355E3B"/>
                </a:solidFill>
              </a:rPr>
              <a:t>auth</a:t>
            </a:r>
            <a:r>
              <a:rPr lang="de-DE" sz="2000" dirty="0">
                <a:solidFill>
                  <a:srgbClr val="355E3B"/>
                </a:solidFill>
              </a:rPr>
              <a:t>-service, zur Überprüfung, weiter</a:t>
            </a:r>
          </a:p>
          <a:p>
            <a:pPr marL="1028700" lvl="1" indent="-571500">
              <a:lnSpc>
                <a:spcPct val="90000"/>
              </a:lnSpc>
              <a:spcBef>
                <a:spcPct val="0"/>
              </a:spcBef>
              <a:buFont typeface="Courier New"/>
              <a:buChar char="o"/>
            </a:pPr>
            <a:endParaRPr lang="de-DE" sz="2000">
              <a:solidFill>
                <a:srgbClr val="355E3B"/>
              </a:solidFill>
            </a:endParaRPr>
          </a:p>
          <a:p>
            <a:pPr marL="1028700" lvl="1" indent="-571500">
              <a:lnSpc>
                <a:spcPct val="90000"/>
              </a:lnSpc>
              <a:spcBef>
                <a:spcPct val="0"/>
              </a:spcBef>
              <a:buFont typeface="Courier New"/>
              <a:buChar char="o"/>
            </a:pPr>
            <a:r>
              <a:rPr lang="de-DE" sz="2000">
                <a:solidFill>
                  <a:srgbClr val="355E3B"/>
                </a:solidFill>
              </a:rPr>
              <a:t>Prüft selber </a:t>
            </a:r>
            <a:r>
              <a:rPr lang="de-DE" sz="2000" b="1">
                <a:solidFill>
                  <a:srgbClr val="355E3B"/>
                </a:solidFill>
              </a:rPr>
              <a:t>keine </a:t>
            </a:r>
            <a:r>
              <a:rPr lang="de-DE" sz="2000">
                <a:solidFill>
                  <a:srgbClr val="355E3B"/>
                </a:solidFill>
              </a:rPr>
              <a:t>JWTs</a:t>
            </a:r>
          </a:p>
          <a:p>
            <a:pPr marL="1028700" lvl="1" indent="-571500">
              <a:lnSpc>
                <a:spcPct val="90000"/>
              </a:lnSpc>
              <a:spcBef>
                <a:spcPct val="0"/>
              </a:spcBef>
              <a:buFont typeface="Courier New"/>
              <a:buChar char="o"/>
            </a:pPr>
            <a:endParaRPr lang="de-DE" sz="2000">
              <a:solidFill>
                <a:srgbClr val="355E3B"/>
              </a:solidFill>
            </a:endParaRPr>
          </a:p>
          <a:p>
            <a:pPr marL="1028700" lvl="1" indent="-571500">
              <a:lnSpc>
                <a:spcPct val="90000"/>
              </a:lnSpc>
              <a:spcBef>
                <a:spcPct val="0"/>
              </a:spcBef>
              <a:buFont typeface="Courier New"/>
              <a:buChar char="o"/>
            </a:pPr>
            <a:r>
              <a:rPr lang="de-DE" sz="2000">
                <a:solidFill>
                  <a:srgbClr val="355E3B"/>
                </a:solidFill>
              </a:rPr>
              <a:t>Ist von außen </a:t>
            </a:r>
            <a:r>
              <a:rPr lang="de-DE" sz="2000" b="1">
                <a:solidFill>
                  <a:srgbClr val="355E3B"/>
                </a:solidFill>
              </a:rPr>
              <a:t>nicht </a:t>
            </a:r>
            <a:r>
              <a:rPr lang="de-DE" sz="2000">
                <a:solidFill>
                  <a:srgbClr val="355E3B"/>
                </a:solidFill>
              </a:rPr>
              <a:t>erreichbar, läuft über das Docker-Netzwerk</a:t>
            </a:r>
          </a:p>
        </p:txBody>
      </p:sp>
      <p:sp>
        <p:nvSpPr>
          <p:cNvPr id="8" name="Titel 1">
            <a:extLst>
              <a:ext uri="{FF2B5EF4-FFF2-40B4-BE49-F238E27FC236}">
                <a16:creationId xmlns:a16="http://schemas.microsoft.com/office/drawing/2014/main" id="{DCDCE94C-E221-26BF-A3A2-19FCCAA5129C}"/>
              </a:ext>
            </a:extLst>
          </p:cNvPr>
          <p:cNvSpPr txBox="1">
            <a:spLocks/>
          </p:cNvSpPr>
          <p:nvPr/>
        </p:nvSpPr>
        <p:spPr>
          <a:xfrm>
            <a:off x="1150257" y="1538514"/>
            <a:ext cx="9897291" cy="3548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7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/>
              <a:t>Port 3002 · intern</a:t>
            </a:r>
          </a:p>
        </p:txBody>
      </p:sp>
    </p:spTree>
    <p:extLst>
      <p:ext uri="{BB962C8B-B14F-4D97-AF65-F5344CB8AC3E}">
        <p14:creationId xmlns:p14="http://schemas.microsoft.com/office/powerpoint/2010/main" val="366272754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C1767A-F9C5-23DC-B597-B0C4EF40A5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48068F0-3BC3-48F9-5B7D-AA2C56A666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4771" y="355600"/>
            <a:ext cx="9875520" cy="1356360"/>
          </a:xfrm>
        </p:spPr>
        <p:txBody>
          <a:bodyPr/>
          <a:lstStyle/>
          <a:p>
            <a:r>
              <a:rPr lang="de-DE" err="1"/>
              <a:t>authorization</a:t>
            </a:r>
            <a:r>
              <a:rPr lang="de-DE"/>
              <a:t>-service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025070EE-21D8-9A3C-7F6C-2AB2081C22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3DA46-2E12-402E-B3E7-8AEBE7164A0E}" type="datetime1">
              <a:rPr lang="de-DE" smtClean="0"/>
              <a:t>15.07.2026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A4A141D-DB50-BF81-1CE6-E839B94372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Bekir, Avid, Alex, Darian, Lara P., Sheila</a:t>
            </a:r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D59F9D2-9DF2-99EA-17B9-D8269313B7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7EE8E-3513-4D7C-BF7B-7494C67953C0}" type="slidenum">
              <a:rPr lang="de-DE" smtClean="0"/>
              <a:t>22</a:t>
            </a:fld>
            <a:endParaRPr lang="de-DE"/>
          </a:p>
        </p:txBody>
      </p:sp>
      <p:sp>
        <p:nvSpPr>
          <p:cNvPr id="8" name="Shape 2">
            <a:extLst>
              <a:ext uri="{FF2B5EF4-FFF2-40B4-BE49-F238E27FC236}">
                <a16:creationId xmlns:a16="http://schemas.microsoft.com/office/drawing/2014/main" id="{5455829C-ABA1-A316-BA54-D6270F240D0B}"/>
              </a:ext>
            </a:extLst>
          </p:cNvPr>
          <p:cNvSpPr/>
          <p:nvPr/>
        </p:nvSpPr>
        <p:spPr>
          <a:xfrm>
            <a:off x="645886" y="1980910"/>
            <a:ext cx="10972800" cy="792480"/>
          </a:xfrm>
          <a:prstGeom prst="roundRect">
            <a:avLst>
              <a:gd name="adj" fmla="val 9231"/>
            </a:avLst>
          </a:prstGeom>
          <a:solidFill>
            <a:srgbClr val="F3F6F3"/>
          </a:solidFill>
          <a:ln w="12700">
            <a:solidFill>
              <a:srgbClr val="CED2CE"/>
            </a:solidFill>
            <a:prstDash val="solid"/>
          </a:ln>
        </p:spPr>
        <p:txBody>
          <a:bodyPr/>
          <a:lstStyle/>
          <a:p>
            <a:endParaRPr lang="de-DE" sz="2400"/>
          </a:p>
        </p:txBody>
      </p:sp>
      <p:sp>
        <p:nvSpPr>
          <p:cNvPr id="10" name="Shape 3">
            <a:extLst>
              <a:ext uri="{FF2B5EF4-FFF2-40B4-BE49-F238E27FC236}">
                <a16:creationId xmlns:a16="http://schemas.microsoft.com/office/drawing/2014/main" id="{0AE4C6CE-DCAE-79CA-8BA0-0634A46492FA}"/>
              </a:ext>
            </a:extLst>
          </p:cNvPr>
          <p:cNvSpPr/>
          <p:nvPr/>
        </p:nvSpPr>
        <p:spPr>
          <a:xfrm>
            <a:off x="914110" y="2108926"/>
            <a:ext cx="536448" cy="536448"/>
          </a:xfrm>
          <a:prstGeom prst="ellipse">
            <a:avLst/>
          </a:prstGeom>
          <a:solidFill>
            <a:srgbClr val="E8985E"/>
          </a:solidFill>
          <a:ln/>
        </p:spPr>
        <p:txBody>
          <a:bodyPr/>
          <a:lstStyle/>
          <a:p>
            <a:endParaRPr lang="de-DE" sz="2400"/>
          </a:p>
        </p:txBody>
      </p:sp>
      <p:pic>
        <p:nvPicPr>
          <p:cNvPr id="12" name="Image 0" descr="Häkchen mit einfarbiger Füllung">
            <a:extLst>
              <a:ext uri="{FF2B5EF4-FFF2-40B4-BE49-F238E27FC236}">
                <a16:creationId xmlns:a16="http://schemas.microsoft.com/office/drawing/2014/main" id="{E2EC1BB4-D8D4-627D-E20B-FDCF5CC2AE7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8187" y="2226632"/>
            <a:ext cx="308294" cy="308294"/>
          </a:xfrm>
          <a:prstGeom prst="rect">
            <a:avLst/>
          </a:prstGeom>
        </p:spPr>
      </p:pic>
      <p:sp>
        <p:nvSpPr>
          <p:cNvPr id="14" name="RowHead700">
            <a:extLst>
              <a:ext uri="{FF2B5EF4-FFF2-40B4-BE49-F238E27FC236}">
                <a16:creationId xmlns:a16="http://schemas.microsoft.com/office/drawing/2014/main" id="{E075890D-F871-6E0C-FB1C-FF4CD548CEFB}"/>
              </a:ext>
            </a:extLst>
          </p:cNvPr>
          <p:cNvSpPr/>
          <p:nvPr/>
        </p:nvSpPr>
        <p:spPr>
          <a:xfrm>
            <a:off x="1645630" y="2015691"/>
            <a:ext cx="5462016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50" b="1" err="1">
                <a:solidFill>
                  <a:srgbClr val="355E3B"/>
                </a:solidFill>
                <a:latin typeface="Segoe UI"/>
                <a:cs typeface="Segoe UI"/>
              </a:rPr>
              <a:t>Aktions</a:t>
            </a:r>
            <a:r>
              <a:rPr lang="en-US" sz="1850" b="1">
                <a:solidFill>
                  <a:srgbClr val="355E3B"/>
                </a:solidFill>
                <a:latin typeface="Segoe UI"/>
                <a:cs typeface="Segoe UI"/>
              </a:rPr>
              <a:t>-Check</a:t>
            </a:r>
            <a:endParaRPr lang="de-DE"/>
          </a:p>
        </p:txBody>
      </p:sp>
      <p:sp>
        <p:nvSpPr>
          <p:cNvPr id="16" name="Text 6">
            <a:extLst>
              <a:ext uri="{FF2B5EF4-FFF2-40B4-BE49-F238E27FC236}">
                <a16:creationId xmlns:a16="http://schemas.microsoft.com/office/drawing/2014/main" id="{85B5B70E-40F8-9C5C-DEED-817626AB0309}"/>
              </a:ext>
            </a:extLst>
          </p:cNvPr>
          <p:cNvSpPr/>
          <p:nvPr/>
        </p:nvSpPr>
        <p:spPr>
          <a:xfrm>
            <a:off x="7107646" y="2078446"/>
            <a:ext cx="426720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300">
                <a:solidFill>
                  <a:srgbClr val="5D5D5D"/>
                </a:solidFill>
                <a:latin typeface="Consolas"/>
                <a:ea typeface="Consolas" pitchFamily="34" charset="-122"/>
                <a:cs typeface="Consolas" pitchFamily="34" charset="-120"/>
              </a:rPr>
              <a:t>POST /</a:t>
            </a:r>
            <a:r>
              <a:rPr lang="en-US" sz="1300" err="1">
                <a:solidFill>
                  <a:srgbClr val="5D5D5D"/>
                </a:solidFill>
                <a:latin typeface="Consolas"/>
                <a:ea typeface="Consolas" pitchFamily="34" charset="-122"/>
                <a:cs typeface="Consolas" pitchFamily="34" charset="-120"/>
              </a:rPr>
              <a:t>api</a:t>
            </a:r>
            <a:r>
              <a:rPr lang="en-US" sz="1300">
                <a:solidFill>
                  <a:srgbClr val="5D5D5D"/>
                </a:solidFill>
                <a:latin typeface="Consolas"/>
                <a:ea typeface="Consolas" pitchFamily="34" charset="-122"/>
                <a:cs typeface="Consolas" pitchFamily="34" charset="-120"/>
              </a:rPr>
              <a:t>/authorization/check</a:t>
            </a:r>
            <a:endParaRPr lang="en-US" sz="1300">
              <a:latin typeface="Consolas"/>
            </a:endParaRPr>
          </a:p>
        </p:txBody>
      </p:sp>
      <p:sp>
        <p:nvSpPr>
          <p:cNvPr id="18" name="Text 7">
            <a:extLst>
              <a:ext uri="{FF2B5EF4-FFF2-40B4-BE49-F238E27FC236}">
                <a16:creationId xmlns:a16="http://schemas.microsoft.com/office/drawing/2014/main" id="{13E74DCE-F68E-7527-E42A-E734E1ADB67B}"/>
              </a:ext>
            </a:extLst>
          </p:cNvPr>
          <p:cNvSpPr/>
          <p:nvPr/>
        </p:nvSpPr>
        <p:spPr>
          <a:xfrm>
            <a:off x="1645630" y="2311303"/>
            <a:ext cx="9753600" cy="389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50" err="1">
                <a:solidFill>
                  <a:srgbClr val="102313"/>
                </a:solidFill>
                <a:latin typeface="Segoe UI"/>
                <a:cs typeface="Segoe UI"/>
              </a:rPr>
              <a:t>Prüft</a:t>
            </a:r>
            <a:r>
              <a:rPr lang="en-US" sz="1450">
                <a:solidFill>
                  <a:srgbClr val="102313"/>
                </a:solidFill>
                <a:latin typeface="Segoe UI"/>
                <a:cs typeface="Segoe UI"/>
              </a:rPr>
              <a:t> </a:t>
            </a:r>
            <a:r>
              <a:rPr lang="en-US" sz="1450" err="1">
                <a:solidFill>
                  <a:srgbClr val="102313"/>
                </a:solidFill>
                <a:latin typeface="Segoe UI"/>
                <a:cs typeface="Segoe UI"/>
              </a:rPr>
              <a:t>ob</a:t>
            </a:r>
            <a:r>
              <a:rPr lang="en-US" sz="1450">
                <a:solidFill>
                  <a:srgbClr val="102313"/>
                </a:solidFill>
                <a:latin typeface="Segoe UI"/>
                <a:cs typeface="Segoe UI"/>
              </a:rPr>
              <a:t> der User mit seinen Rollen eine Aktion </a:t>
            </a:r>
            <a:r>
              <a:rPr lang="en-US" sz="1450" err="1">
                <a:solidFill>
                  <a:srgbClr val="102313"/>
                </a:solidFill>
                <a:latin typeface="Segoe UI"/>
                <a:cs typeface="Segoe UI"/>
              </a:rPr>
              <a:t>ausführen</a:t>
            </a:r>
            <a:r>
              <a:rPr lang="en-US" sz="1450">
                <a:solidFill>
                  <a:srgbClr val="102313"/>
                </a:solidFill>
                <a:latin typeface="Segoe UI"/>
                <a:cs typeface="Segoe UI"/>
              </a:rPr>
              <a:t> </a:t>
            </a:r>
            <a:r>
              <a:rPr lang="en-US" sz="1450" err="1">
                <a:solidFill>
                  <a:srgbClr val="102313"/>
                </a:solidFill>
                <a:latin typeface="Segoe UI"/>
                <a:cs typeface="Segoe UI"/>
              </a:rPr>
              <a:t>darf</a:t>
            </a:r>
            <a:endParaRPr lang="en-US" sz="1450">
              <a:solidFill>
                <a:srgbClr val="102313"/>
              </a:solidFill>
              <a:latin typeface="Segoe UI"/>
              <a:cs typeface="Segoe UI"/>
            </a:endParaRPr>
          </a:p>
        </p:txBody>
      </p:sp>
      <p:sp>
        <p:nvSpPr>
          <p:cNvPr id="20" name="Shape 8">
            <a:extLst>
              <a:ext uri="{FF2B5EF4-FFF2-40B4-BE49-F238E27FC236}">
                <a16:creationId xmlns:a16="http://schemas.microsoft.com/office/drawing/2014/main" id="{466996C3-34CE-1285-6F9D-CA88465FBFA5}"/>
              </a:ext>
            </a:extLst>
          </p:cNvPr>
          <p:cNvSpPr/>
          <p:nvPr/>
        </p:nvSpPr>
        <p:spPr>
          <a:xfrm>
            <a:off x="631372" y="2899955"/>
            <a:ext cx="10972800" cy="792480"/>
          </a:xfrm>
          <a:prstGeom prst="roundRect">
            <a:avLst>
              <a:gd name="adj" fmla="val 9231"/>
            </a:avLst>
          </a:prstGeom>
          <a:solidFill>
            <a:srgbClr val="F3F6F3"/>
          </a:solidFill>
          <a:ln w="12700">
            <a:solidFill>
              <a:srgbClr val="CED2CE"/>
            </a:solidFill>
            <a:prstDash val="solid"/>
          </a:ln>
        </p:spPr>
        <p:txBody>
          <a:bodyPr/>
          <a:lstStyle/>
          <a:p>
            <a:endParaRPr lang="de-DE" sz="2400"/>
          </a:p>
        </p:txBody>
      </p:sp>
      <p:sp>
        <p:nvSpPr>
          <p:cNvPr id="22" name="Shape 9">
            <a:extLst>
              <a:ext uri="{FF2B5EF4-FFF2-40B4-BE49-F238E27FC236}">
                <a16:creationId xmlns:a16="http://schemas.microsoft.com/office/drawing/2014/main" id="{3D9588E0-0693-7D7C-EE12-71485595082E}"/>
              </a:ext>
            </a:extLst>
          </p:cNvPr>
          <p:cNvSpPr/>
          <p:nvPr/>
        </p:nvSpPr>
        <p:spPr>
          <a:xfrm>
            <a:off x="899596" y="3027971"/>
            <a:ext cx="536448" cy="536448"/>
          </a:xfrm>
          <a:prstGeom prst="ellipse">
            <a:avLst/>
          </a:prstGeom>
          <a:solidFill>
            <a:srgbClr val="E8985E"/>
          </a:solidFill>
          <a:ln/>
        </p:spPr>
        <p:txBody>
          <a:bodyPr/>
          <a:lstStyle/>
          <a:p>
            <a:endParaRPr lang="de-DE" sz="2400"/>
          </a:p>
        </p:txBody>
      </p:sp>
      <p:pic>
        <p:nvPicPr>
          <p:cNvPr id="24" name="Image 1" descr="Häkchen mit einfarbiger Füllung">
            <a:extLst>
              <a:ext uri="{FF2B5EF4-FFF2-40B4-BE49-F238E27FC236}">
                <a16:creationId xmlns:a16="http://schemas.microsoft.com/office/drawing/2014/main" id="{BB73C35A-0113-DA88-6648-B530DBE01FF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9073" y="3167448"/>
            <a:ext cx="257495" cy="257495"/>
          </a:xfrm>
          <a:prstGeom prst="rect">
            <a:avLst/>
          </a:prstGeom>
        </p:spPr>
      </p:pic>
      <p:sp>
        <p:nvSpPr>
          <p:cNvPr id="26" name="RowHead701">
            <a:extLst>
              <a:ext uri="{FF2B5EF4-FFF2-40B4-BE49-F238E27FC236}">
                <a16:creationId xmlns:a16="http://schemas.microsoft.com/office/drawing/2014/main" id="{A17250E4-BF12-5E69-9471-36577D9E7093}"/>
              </a:ext>
            </a:extLst>
          </p:cNvPr>
          <p:cNvSpPr/>
          <p:nvPr/>
        </p:nvSpPr>
        <p:spPr>
          <a:xfrm>
            <a:off x="1631116" y="2956507"/>
            <a:ext cx="7610129" cy="253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50" b="1">
                <a:solidFill>
                  <a:srgbClr val="355E3B"/>
                </a:solidFill>
                <a:latin typeface="Segoe UI"/>
                <a:ea typeface="+mn-lt"/>
                <a:cs typeface="Segoe UI"/>
              </a:rPr>
              <a:t>Permissions</a:t>
            </a:r>
            <a:endParaRPr lang="de-DE"/>
          </a:p>
        </p:txBody>
      </p:sp>
      <p:sp>
        <p:nvSpPr>
          <p:cNvPr id="28" name="Text 12">
            <a:extLst>
              <a:ext uri="{FF2B5EF4-FFF2-40B4-BE49-F238E27FC236}">
                <a16:creationId xmlns:a16="http://schemas.microsoft.com/office/drawing/2014/main" id="{C24A89DB-F476-A98F-212C-28ACD57A7EBC}"/>
              </a:ext>
            </a:extLst>
          </p:cNvPr>
          <p:cNvSpPr/>
          <p:nvPr/>
        </p:nvSpPr>
        <p:spPr>
          <a:xfrm>
            <a:off x="7093132" y="2997491"/>
            <a:ext cx="426720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300">
                <a:solidFill>
                  <a:srgbClr val="5D5D5D"/>
                </a:solidFill>
                <a:latin typeface="Consolas"/>
                <a:ea typeface="Consolas" pitchFamily="34" charset="-122"/>
                <a:cs typeface="Consolas" pitchFamily="34" charset="-120"/>
              </a:rPr>
              <a:t>POST /</a:t>
            </a:r>
            <a:r>
              <a:rPr lang="en-US" sz="1300" err="1">
                <a:solidFill>
                  <a:srgbClr val="5D5D5D"/>
                </a:solidFill>
                <a:latin typeface="Consolas"/>
                <a:ea typeface="Consolas" pitchFamily="34" charset="-122"/>
                <a:cs typeface="Consolas" pitchFamily="34" charset="-120"/>
              </a:rPr>
              <a:t>api</a:t>
            </a:r>
            <a:r>
              <a:rPr lang="en-US" sz="1300">
                <a:solidFill>
                  <a:srgbClr val="5D5D5D"/>
                </a:solidFill>
                <a:latin typeface="Consolas"/>
                <a:ea typeface="Consolas" pitchFamily="34" charset="-122"/>
                <a:cs typeface="Consolas" pitchFamily="34" charset="-120"/>
              </a:rPr>
              <a:t>/authorization/grant</a:t>
            </a:r>
            <a:endParaRPr lang="en-US" sz="1300">
              <a:latin typeface="Consolas"/>
            </a:endParaRPr>
          </a:p>
        </p:txBody>
      </p:sp>
      <p:sp>
        <p:nvSpPr>
          <p:cNvPr id="30" name="Text 13">
            <a:extLst>
              <a:ext uri="{FF2B5EF4-FFF2-40B4-BE49-F238E27FC236}">
                <a16:creationId xmlns:a16="http://schemas.microsoft.com/office/drawing/2014/main" id="{23414624-800F-780A-BF60-B11ECCBE129F}"/>
              </a:ext>
            </a:extLst>
          </p:cNvPr>
          <p:cNvSpPr/>
          <p:nvPr/>
        </p:nvSpPr>
        <p:spPr>
          <a:xfrm>
            <a:off x="1631116" y="3205352"/>
            <a:ext cx="9753600" cy="438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50" err="1">
                <a:solidFill>
                  <a:srgbClr val="102313"/>
                </a:solidFill>
                <a:latin typeface="Segoe UI"/>
                <a:cs typeface="Segoe UI"/>
              </a:rPr>
              <a:t>Vergibt</a:t>
            </a:r>
            <a:r>
              <a:rPr lang="en-US" sz="1450">
                <a:solidFill>
                  <a:srgbClr val="102313"/>
                </a:solidFill>
                <a:latin typeface="Segoe UI"/>
                <a:cs typeface="Segoe UI"/>
              </a:rPr>
              <a:t> </a:t>
            </a:r>
            <a:r>
              <a:rPr lang="en-US" sz="1450" err="1">
                <a:solidFill>
                  <a:srgbClr val="102313"/>
                </a:solidFill>
                <a:latin typeface="Segoe UI"/>
                <a:cs typeface="Segoe UI"/>
              </a:rPr>
              <a:t>eine</a:t>
            </a:r>
            <a:r>
              <a:rPr lang="en-US" sz="1450">
                <a:solidFill>
                  <a:srgbClr val="102313"/>
                </a:solidFill>
                <a:latin typeface="Segoe UI"/>
                <a:cs typeface="Segoe UI"/>
              </a:rPr>
              <a:t> Custom-Permission auf </a:t>
            </a:r>
            <a:r>
              <a:rPr lang="en-US" sz="1450" err="1">
                <a:solidFill>
                  <a:srgbClr val="102313"/>
                </a:solidFill>
                <a:latin typeface="Segoe UI"/>
                <a:cs typeface="Segoe UI"/>
              </a:rPr>
              <a:t>eine</a:t>
            </a:r>
            <a:r>
              <a:rPr lang="en-US" sz="1450">
                <a:solidFill>
                  <a:srgbClr val="102313"/>
                </a:solidFill>
                <a:latin typeface="Segoe UI"/>
                <a:cs typeface="Segoe UI"/>
              </a:rPr>
              <a:t> </a:t>
            </a:r>
            <a:r>
              <a:rPr lang="en-US" sz="1450" err="1">
                <a:solidFill>
                  <a:srgbClr val="102313"/>
                </a:solidFill>
                <a:latin typeface="Segoe UI"/>
                <a:cs typeface="Segoe UI"/>
              </a:rPr>
              <a:t>Ressource</a:t>
            </a:r>
            <a:endParaRPr lang="de-DE" err="1"/>
          </a:p>
        </p:txBody>
      </p:sp>
      <p:sp>
        <p:nvSpPr>
          <p:cNvPr id="32" name="Accent920">
            <a:extLst>
              <a:ext uri="{FF2B5EF4-FFF2-40B4-BE49-F238E27FC236}">
                <a16:creationId xmlns:a16="http://schemas.microsoft.com/office/drawing/2014/main" id="{C2841842-8DAC-D03A-6936-16D5B9DCFBEA}"/>
              </a:ext>
            </a:extLst>
          </p:cNvPr>
          <p:cNvSpPr/>
          <p:nvPr/>
        </p:nvSpPr>
        <p:spPr>
          <a:xfrm>
            <a:off x="645886" y="2041870"/>
            <a:ext cx="73152" cy="670560"/>
          </a:xfrm>
          <a:prstGeom prst="roundRect">
            <a:avLst>
              <a:gd name="adj" fmla="val 45000"/>
            </a:avLst>
          </a:prstGeom>
          <a:solidFill>
            <a:srgbClr val="E8985E"/>
          </a:solidFill>
          <a:ln>
            <a:noFill/>
          </a:ln>
        </p:spPr>
        <p:txBody>
          <a:bodyPr/>
          <a:lstStyle/>
          <a:p>
            <a:endParaRPr lang="de-DE" sz="2400"/>
          </a:p>
        </p:txBody>
      </p:sp>
      <p:sp>
        <p:nvSpPr>
          <p:cNvPr id="34" name="Accent921">
            <a:extLst>
              <a:ext uri="{FF2B5EF4-FFF2-40B4-BE49-F238E27FC236}">
                <a16:creationId xmlns:a16="http://schemas.microsoft.com/office/drawing/2014/main" id="{853EE2E4-5EE2-C518-64B6-ED7D5629634F}"/>
              </a:ext>
            </a:extLst>
          </p:cNvPr>
          <p:cNvSpPr/>
          <p:nvPr/>
        </p:nvSpPr>
        <p:spPr>
          <a:xfrm>
            <a:off x="631372" y="2960915"/>
            <a:ext cx="73152" cy="670560"/>
          </a:xfrm>
          <a:prstGeom prst="roundRect">
            <a:avLst>
              <a:gd name="adj" fmla="val 45000"/>
            </a:avLst>
          </a:prstGeom>
          <a:solidFill>
            <a:srgbClr val="E8985E"/>
          </a:solidFill>
          <a:ln>
            <a:noFill/>
          </a:ln>
        </p:spPr>
        <p:txBody>
          <a:bodyPr/>
          <a:lstStyle/>
          <a:p>
            <a:endParaRPr lang="de-DE" sz="2400"/>
          </a:p>
        </p:txBody>
      </p:sp>
      <p:sp>
        <p:nvSpPr>
          <p:cNvPr id="7" name="Titel 1">
            <a:extLst>
              <a:ext uri="{FF2B5EF4-FFF2-40B4-BE49-F238E27FC236}">
                <a16:creationId xmlns:a16="http://schemas.microsoft.com/office/drawing/2014/main" id="{6C9AFFA9-81CC-57BC-652A-8792ABC66174}"/>
              </a:ext>
            </a:extLst>
          </p:cNvPr>
          <p:cNvSpPr txBox="1">
            <a:spLocks/>
          </p:cNvSpPr>
          <p:nvPr/>
        </p:nvSpPr>
        <p:spPr>
          <a:xfrm>
            <a:off x="1186543" y="1262743"/>
            <a:ext cx="9897291" cy="3548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7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/>
              <a:t>Port 3002 · intern</a:t>
            </a:r>
          </a:p>
        </p:txBody>
      </p:sp>
    </p:spTree>
    <p:extLst>
      <p:ext uri="{BB962C8B-B14F-4D97-AF65-F5344CB8AC3E}">
        <p14:creationId xmlns:p14="http://schemas.microsoft.com/office/powerpoint/2010/main" val="140395939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25D2C1-2314-52A1-D3DA-DFBF7D4BE1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53193AE-A1F7-7855-2406-8EDAFCCC20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1143" y="355600"/>
            <a:ext cx="9875520" cy="1356360"/>
          </a:xfrm>
        </p:spPr>
        <p:txBody>
          <a:bodyPr/>
          <a:lstStyle/>
          <a:p>
            <a:pPr algn="ctr"/>
            <a:r>
              <a:rPr lang="de-DE"/>
              <a:t>Funktionsplan: Login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1A5AB6E-EDAD-C761-0EEF-5298FE41A4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B865EA-22BB-42D2-888D-D775280CF897}" type="datetime1">
              <a:rPr lang="de-DE" smtClean="0"/>
              <a:t>15.07.2026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D0B55EA-707F-C7FE-FF70-F77144756D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Bekir, Avid, Alex, Darian, Lara P., Sheila</a:t>
            </a:r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A24E05A-A654-7374-ECDF-D788B20471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7EE8E-3513-4D7C-BF7B-7494C67953C0}" type="slidenum">
              <a:rPr lang="de-DE" smtClean="0"/>
              <a:t>23</a:t>
            </a:fld>
            <a:endParaRPr lang="de-DE"/>
          </a:p>
        </p:txBody>
      </p:sp>
      <p:sp>
        <p:nvSpPr>
          <p:cNvPr id="7" name="Rechteck: abgerundete Ecken 6">
            <a:extLst>
              <a:ext uri="{FF2B5EF4-FFF2-40B4-BE49-F238E27FC236}">
                <a16:creationId xmlns:a16="http://schemas.microsoft.com/office/drawing/2014/main" id="{899BA9FC-C2B1-58E1-3736-C69D271C4AB7}"/>
              </a:ext>
            </a:extLst>
          </p:cNvPr>
          <p:cNvSpPr/>
          <p:nvPr/>
        </p:nvSpPr>
        <p:spPr>
          <a:xfrm>
            <a:off x="1270497" y="2567339"/>
            <a:ext cx="3674301" cy="56198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b="1" u="sng" err="1"/>
              <a:t>auth</a:t>
            </a:r>
            <a:r>
              <a:rPr lang="de-DE" b="1" u="sng"/>
              <a:t>-service</a:t>
            </a:r>
            <a:endParaRPr lang="de-DE">
              <a:solidFill>
                <a:schemeClr val="tx1"/>
              </a:solidFill>
            </a:endParaRPr>
          </a:p>
        </p:txBody>
      </p:sp>
      <p:sp>
        <p:nvSpPr>
          <p:cNvPr id="8" name="Rechteck: abgerundete Ecken 7">
            <a:extLst>
              <a:ext uri="{FF2B5EF4-FFF2-40B4-BE49-F238E27FC236}">
                <a16:creationId xmlns:a16="http://schemas.microsoft.com/office/drawing/2014/main" id="{1FA7D870-25E4-2018-800E-7CEBB5FAB680}"/>
              </a:ext>
            </a:extLst>
          </p:cNvPr>
          <p:cNvSpPr/>
          <p:nvPr/>
        </p:nvSpPr>
        <p:spPr>
          <a:xfrm>
            <a:off x="7468096" y="2567338"/>
            <a:ext cx="3674301" cy="56198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de-DE" b="1" u="sng"/>
              <a:t>User</a:t>
            </a:r>
            <a:endParaRPr lang="de-DE"/>
          </a:p>
        </p:txBody>
      </p:sp>
      <p:sp>
        <p:nvSpPr>
          <p:cNvPr id="9" name="Rechteck: abgerundete Ecken 8">
            <a:extLst>
              <a:ext uri="{FF2B5EF4-FFF2-40B4-BE49-F238E27FC236}">
                <a16:creationId xmlns:a16="http://schemas.microsoft.com/office/drawing/2014/main" id="{7DC74579-3E05-12B6-9362-5F933815A740}"/>
              </a:ext>
            </a:extLst>
          </p:cNvPr>
          <p:cNvSpPr/>
          <p:nvPr/>
        </p:nvSpPr>
        <p:spPr>
          <a:xfrm>
            <a:off x="1270496" y="3329339"/>
            <a:ext cx="3674301" cy="1788438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de-DE"/>
              <a:t>klärt, wer der User ist (stimmen Anmeldedaten, existiert der User?) und stellt daraufhin ein 24h gültiges JWT für den User aus</a:t>
            </a:r>
          </a:p>
          <a:p>
            <a:pPr algn="ctr"/>
            <a:endParaRPr lang="de-DE"/>
          </a:p>
          <a:p>
            <a:pPr algn="ctr"/>
            <a:r>
              <a:rPr lang="de-DE"/>
              <a:t>POST /</a:t>
            </a:r>
            <a:r>
              <a:rPr lang="de-DE" err="1"/>
              <a:t>api</a:t>
            </a:r>
            <a:r>
              <a:rPr lang="de-DE"/>
              <a:t>/</a:t>
            </a:r>
            <a:r>
              <a:rPr lang="de-DE" err="1"/>
              <a:t>auth</a:t>
            </a:r>
            <a:r>
              <a:rPr lang="de-DE"/>
              <a:t>/</a:t>
            </a:r>
            <a:r>
              <a:rPr lang="de-DE" err="1"/>
              <a:t>login</a:t>
            </a:r>
            <a:endParaRPr lang="de-DE"/>
          </a:p>
        </p:txBody>
      </p:sp>
      <p:sp>
        <p:nvSpPr>
          <p:cNvPr id="10" name="Rechteck: abgerundete Ecken 9">
            <a:extLst>
              <a:ext uri="{FF2B5EF4-FFF2-40B4-BE49-F238E27FC236}">
                <a16:creationId xmlns:a16="http://schemas.microsoft.com/office/drawing/2014/main" id="{9A74AA67-9E35-D1DB-CE2C-0A87ADE22D16}"/>
              </a:ext>
            </a:extLst>
          </p:cNvPr>
          <p:cNvSpPr/>
          <p:nvPr/>
        </p:nvSpPr>
        <p:spPr>
          <a:xfrm>
            <a:off x="7468095" y="3329337"/>
            <a:ext cx="3674301" cy="130221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de-DE"/>
              <a:t>User speichert das JWT bei sich im Browser</a:t>
            </a:r>
          </a:p>
        </p:txBody>
      </p:sp>
      <p:sp>
        <p:nvSpPr>
          <p:cNvPr id="16" name="Titel 1">
            <a:extLst>
              <a:ext uri="{FF2B5EF4-FFF2-40B4-BE49-F238E27FC236}">
                <a16:creationId xmlns:a16="http://schemas.microsoft.com/office/drawing/2014/main" id="{7CA69153-C154-B143-13DF-7880C344FD9C}"/>
              </a:ext>
            </a:extLst>
          </p:cNvPr>
          <p:cNvSpPr txBox="1">
            <a:spLocks/>
          </p:cNvSpPr>
          <p:nvPr/>
        </p:nvSpPr>
        <p:spPr>
          <a:xfrm>
            <a:off x="5689600" y="3512457"/>
            <a:ext cx="840379" cy="5363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2000" b="1"/>
              <a:t>JWT</a:t>
            </a:r>
          </a:p>
        </p:txBody>
      </p:sp>
      <p:cxnSp>
        <p:nvCxnSpPr>
          <p:cNvPr id="3" name="Gerade Verbindung mit Pfeil 2">
            <a:extLst>
              <a:ext uri="{FF2B5EF4-FFF2-40B4-BE49-F238E27FC236}">
                <a16:creationId xmlns:a16="http://schemas.microsoft.com/office/drawing/2014/main" id="{05DB7D79-9C47-3130-79EE-AD966DF3C4A8}"/>
              </a:ext>
            </a:extLst>
          </p:cNvPr>
          <p:cNvCxnSpPr>
            <a:cxnSpLocks/>
          </p:cNvCxnSpPr>
          <p:nvPr/>
        </p:nvCxnSpPr>
        <p:spPr>
          <a:xfrm flipV="1">
            <a:off x="5089642" y="3943114"/>
            <a:ext cx="2194341" cy="97"/>
          </a:xfrm>
          <a:prstGeom prst="straightConnector1">
            <a:avLst/>
          </a:prstGeom>
          <a:ln w="571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1024742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CF1323-DFD8-DCFB-9590-2A14120866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8581A1E-D126-F506-4E1B-FFA0DE8B3A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0971" y="87085"/>
            <a:ext cx="9875520" cy="1356360"/>
          </a:xfrm>
        </p:spPr>
        <p:txBody>
          <a:bodyPr/>
          <a:lstStyle/>
          <a:p>
            <a:pPr algn="ctr"/>
            <a:r>
              <a:rPr lang="de-DE"/>
              <a:t>Funktionsplan: Interaktion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C2C5CFB-F474-0547-DB1C-0804EAE029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5F4C3E-2A1B-479C-9C92-30BEA5882872}" type="datetime1">
              <a:rPr lang="de-DE" smtClean="0"/>
              <a:t>15.07.2026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3CFBF13-2CDE-739E-D449-56ECDA901A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Bekir, Avid, Alex, Darian, Lara P., Sheila</a:t>
            </a:r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5B7D856-8F6F-3720-08FA-C2494C4834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7EE8E-3513-4D7C-BF7B-7494C67953C0}" type="slidenum">
              <a:rPr lang="de-DE" smtClean="0"/>
              <a:t>24</a:t>
            </a:fld>
            <a:endParaRPr lang="de-DE"/>
          </a:p>
        </p:txBody>
      </p:sp>
      <p:sp>
        <p:nvSpPr>
          <p:cNvPr id="7" name="Rechteck: abgerundete Ecken 6">
            <a:extLst>
              <a:ext uri="{FF2B5EF4-FFF2-40B4-BE49-F238E27FC236}">
                <a16:creationId xmlns:a16="http://schemas.microsoft.com/office/drawing/2014/main" id="{927A6781-8DC5-679B-17F2-CB9FAD907E6D}"/>
              </a:ext>
            </a:extLst>
          </p:cNvPr>
          <p:cNvSpPr/>
          <p:nvPr/>
        </p:nvSpPr>
        <p:spPr>
          <a:xfrm>
            <a:off x="1285011" y="2603624"/>
            <a:ext cx="3674301" cy="56198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b="1" u="sng" err="1"/>
              <a:t>auth</a:t>
            </a:r>
            <a:r>
              <a:rPr lang="de-DE" b="1" u="sng"/>
              <a:t>-service</a:t>
            </a:r>
            <a:endParaRPr lang="de-DE">
              <a:solidFill>
                <a:schemeClr val="tx1"/>
              </a:solidFill>
            </a:endParaRPr>
          </a:p>
        </p:txBody>
      </p:sp>
      <p:sp>
        <p:nvSpPr>
          <p:cNvPr id="8" name="Rechteck: abgerundete Ecken 7">
            <a:extLst>
              <a:ext uri="{FF2B5EF4-FFF2-40B4-BE49-F238E27FC236}">
                <a16:creationId xmlns:a16="http://schemas.microsoft.com/office/drawing/2014/main" id="{647BB1E5-A2F0-D084-A5E7-A679EA067073}"/>
              </a:ext>
            </a:extLst>
          </p:cNvPr>
          <p:cNvSpPr/>
          <p:nvPr/>
        </p:nvSpPr>
        <p:spPr>
          <a:xfrm>
            <a:off x="7482610" y="2603623"/>
            <a:ext cx="3674301" cy="56198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de-DE" b="1" u="sng" err="1"/>
              <a:t>authorization</a:t>
            </a:r>
            <a:r>
              <a:rPr lang="de-DE" b="1" u="sng"/>
              <a:t>-service</a:t>
            </a:r>
            <a:endParaRPr lang="de-DE"/>
          </a:p>
        </p:txBody>
      </p:sp>
      <p:sp>
        <p:nvSpPr>
          <p:cNvPr id="10" name="Rechteck: abgerundete Ecken 9">
            <a:extLst>
              <a:ext uri="{FF2B5EF4-FFF2-40B4-BE49-F238E27FC236}">
                <a16:creationId xmlns:a16="http://schemas.microsoft.com/office/drawing/2014/main" id="{B40EEDC2-8465-6EBB-58AB-DCBF3C3C1FE9}"/>
              </a:ext>
            </a:extLst>
          </p:cNvPr>
          <p:cNvSpPr/>
          <p:nvPr/>
        </p:nvSpPr>
        <p:spPr>
          <a:xfrm>
            <a:off x="7482609" y="3365622"/>
            <a:ext cx="3674301" cy="130221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de-DE"/>
              <a:t>kriegt durch Interaktionen des Users sein JWT und prüft beim </a:t>
            </a:r>
            <a:r>
              <a:rPr lang="de-DE" err="1"/>
              <a:t>auth</a:t>
            </a:r>
            <a:r>
              <a:rPr lang="de-DE"/>
              <a:t>-service nach Gültigkeit</a:t>
            </a:r>
          </a:p>
        </p:txBody>
      </p:sp>
      <p:cxnSp>
        <p:nvCxnSpPr>
          <p:cNvPr id="11" name="Gerade Verbindung mit Pfeil 10">
            <a:extLst>
              <a:ext uri="{FF2B5EF4-FFF2-40B4-BE49-F238E27FC236}">
                <a16:creationId xmlns:a16="http://schemas.microsoft.com/office/drawing/2014/main" id="{CD97B50D-5E6A-21CC-9705-79DED65B554C}"/>
              </a:ext>
            </a:extLst>
          </p:cNvPr>
          <p:cNvCxnSpPr/>
          <p:nvPr/>
        </p:nvCxnSpPr>
        <p:spPr>
          <a:xfrm flipH="1">
            <a:off x="5041526" y="4052069"/>
            <a:ext cx="2348631" cy="558703"/>
          </a:xfrm>
          <a:prstGeom prst="straightConnector1">
            <a:avLst/>
          </a:prstGeom>
          <a:ln w="571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hteck: abgerundete Ecken 11">
            <a:extLst>
              <a:ext uri="{FF2B5EF4-FFF2-40B4-BE49-F238E27FC236}">
                <a16:creationId xmlns:a16="http://schemas.microsoft.com/office/drawing/2014/main" id="{FD3273DF-E412-F5EE-2F6D-142A1582A32F}"/>
              </a:ext>
            </a:extLst>
          </p:cNvPr>
          <p:cNvSpPr/>
          <p:nvPr/>
        </p:nvSpPr>
        <p:spPr>
          <a:xfrm>
            <a:off x="1285009" y="4018766"/>
            <a:ext cx="3674301" cy="130221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de-DE"/>
              <a:t>POST /</a:t>
            </a:r>
            <a:r>
              <a:rPr lang="de-DE" err="1"/>
              <a:t>validate</a:t>
            </a:r>
            <a:r>
              <a:rPr lang="de-DE"/>
              <a:t> prüft, ob das JWT/User noch gültig ist und gibt dann </a:t>
            </a:r>
            <a:r>
              <a:rPr lang="de-DE" err="1"/>
              <a:t>userID</a:t>
            </a:r>
            <a:r>
              <a:rPr lang="de-DE"/>
              <a:t> + </a:t>
            </a:r>
            <a:r>
              <a:rPr lang="de-DE" err="1"/>
              <a:t>role</a:t>
            </a:r>
            <a:r>
              <a:rPr lang="de-DE"/>
              <a:t> zurück</a:t>
            </a:r>
          </a:p>
        </p:txBody>
      </p:sp>
      <p:sp>
        <p:nvSpPr>
          <p:cNvPr id="13" name="Rechteck: abgerundete Ecken 12">
            <a:extLst>
              <a:ext uri="{FF2B5EF4-FFF2-40B4-BE49-F238E27FC236}">
                <a16:creationId xmlns:a16="http://schemas.microsoft.com/office/drawing/2014/main" id="{4D0DABA5-7C83-50A6-9814-555ADF49B392}"/>
              </a:ext>
            </a:extLst>
          </p:cNvPr>
          <p:cNvSpPr/>
          <p:nvPr/>
        </p:nvSpPr>
        <p:spPr>
          <a:xfrm>
            <a:off x="7482608" y="4846078"/>
            <a:ext cx="3674301" cy="130221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de-DE"/>
              <a:t>entscheidet durch </a:t>
            </a:r>
            <a:r>
              <a:rPr lang="de-DE" err="1"/>
              <a:t>hardcodierte</a:t>
            </a:r>
            <a:r>
              <a:rPr lang="de-DE"/>
              <a:t> Regeln, ob der </a:t>
            </a:r>
            <a:r>
              <a:rPr lang="de-DE" err="1"/>
              <a:t>user</a:t>
            </a:r>
            <a:r>
              <a:rPr lang="de-DE"/>
              <a:t> diese Interaktion ausführen darf oder nicht</a:t>
            </a:r>
          </a:p>
        </p:txBody>
      </p:sp>
      <p:sp>
        <p:nvSpPr>
          <p:cNvPr id="16" name="Titel 1">
            <a:extLst>
              <a:ext uri="{FF2B5EF4-FFF2-40B4-BE49-F238E27FC236}">
                <a16:creationId xmlns:a16="http://schemas.microsoft.com/office/drawing/2014/main" id="{DFC5FB4D-88A8-8BFE-04FB-E7B2CCD25C08}"/>
              </a:ext>
            </a:extLst>
          </p:cNvPr>
          <p:cNvSpPr txBox="1">
            <a:spLocks/>
          </p:cNvSpPr>
          <p:nvPr/>
        </p:nvSpPr>
        <p:spPr>
          <a:xfrm>
            <a:off x="5769428" y="3483427"/>
            <a:ext cx="840379" cy="5363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2000" b="1"/>
              <a:t>JWT</a:t>
            </a:r>
          </a:p>
        </p:txBody>
      </p:sp>
      <p:cxnSp>
        <p:nvCxnSpPr>
          <p:cNvPr id="17" name="Gerade Verbindung mit Pfeil 16">
            <a:extLst>
              <a:ext uri="{FF2B5EF4-FFF2-40B4-BE49-F238E27FC236}">
                <a16:creationId xmlns:a16="http://schemas.microsoft.com/office/drawing/2014/main" id="{007A4C81-0B56-EB27-F39B-6A0ED81E6EDF}"/>
              </a:ext>
            </a:extLst>
          </p:cNvPr>
          <p:cNvCxnSpPr>
            <a:cxnSpLocks/>
          </p:cNvCxnSpPr>
          <p:nvPr/>
        </p:nvCxnSpPr>
        <p:spPr>
          <a:xfrm>
            <a:off x="5046100" y="4886640"/>
            <a:ext cx="2339482" cy="587731"/>
          </a:xfrm>
          <a:prstGeom prst="straightConnector1">
            <a:avLst/>
          </a:prstGeom>
          <a:ln w="571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itel 1">
            <a:extLst>
              <a:ext uri="{FF2B5EF4-FFF2-40B4-BE49-F238E27FC236}">
                <a16:creationId xmlns:a16="http://schemas.microsoft.com/office/drawing/2014/main" id="{8BD00EE8-9E80-4C63-DA7D-AE8A0DDD7799}"/>
              </a:ext>
            </a:extLst>
          </p:cNvPr>
          <p:cNvSpPr txBox="1">
            <a:spLocks/>
          </p:cNvSpPr>
          <p:nvPr/>
        </p:nvSpPr>
        <p:spPr>
          <a:xfrm>
            <a:off x="5203371" y="5261427"/>
            <a:ext cx="1783807" cy="4927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2000" b="1" err="1"/>
              <a:t>UserID</a:t>
            </a:r>
            <a:r>
              <a:rPr lang="de-DE" sz="2000" b="1"/>
              <a:t> + Rolle</a:t>
            </a:r>
            <a:endParaRPr lang="de-DE" err="1"/>
          </a:p>
        </p:txBody>
      </p:sp>
      <p:cxnSp>
        <p:nvCxnSpPr>
          <p:cNvPr id="19" name="Gerade Verbindung mit Pfeil 18">
            <a:extLst>
              <a:ext uri="{FF2B5EF4-FFF2-40B4-BE49-F238E27FC236}">
                <a16:creationId xmlns:a16="http://schemas.microsoft.com/office/drawing/2014/main" id="{28554839-E5CF-FDD0-E2C5-C738B158C548}"/>
              </a:ext>
            </a:extLst>
          </p:cNvPr>
          <p:cNvCxnSpPr>
            <a:cxnSpLocks/>
          </p:cNvCxnSpPr>
          <p:nvPr/>
        </p:nvCxnSpPr>
        <p:spPr>
          <a:xfrm>
            <a:off x="8123128" y="1649954"/>
            <a:ext cx="1330739" cy="812703"/>
          </a:xfrm>
          <a:prstGeom prst="straightConnector1">
            <a:avLst/>
          </a:prstGeom>
          <a:ln w="571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itel 1">
            <a:extLst>
              <a:ext uri="{FF2B5EF4-FFF2-40B4-BE49-F238E27FC236}">
                <a16:creationId xmlns:a16="http://schemas.microsoft.com/office/drawing/2014/main" id="{0601EA45-73CB-2FB1-B011-F573930B5F8F}"/>
              </a:ext>
            </a:extLst>
          </p:cNvPr>
          <p:cNvSpPr txBox="1">
            <a:spLocks/>
          </p:cNvSpPr>
          <p:nvPr/>
        </p:nvSpPr>
        <p:spPr>
          <a:xfrm>
            <a:off x="8258627" y="1618341"/>
            <a:ext cx="2894149" cy="54356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2000" b="1"/>
              <a:t>Interagiert mit der Website</a:t>
            </a:r>
            <a:endParaRPr lang="de-DE"/>
          </a:p>
        </p:txBody>
      </p:sp>
      <p:sp>
        <p:nvSpPr>
          <p:cNvPr id="21" name="Rechteck: abgerundete Ecken 20">
            <a:extLst>
              <a:ext uri="{FF2B5EF4-FFF2-40B4-BE49-F238E27FC236}">
                <a16:creationId xmlns:a16="http://schemas.microsoft.com/office/drawing/2014/main" id="{1AA46503-0449-E103-3F80-A702D0538866}"/>
              </a:ext>
            </a:extLst>
          </p:cNvPr>
          <p:cNvSpPr/>
          <p:nvPr/>
        </p:nvSpPr>
        <p:spPr>
          <a:xfrm>
            <a:off x="4260439" y="1420709"/>
            <a:ext cx="3674301" cy="56198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de-DE" b="1" u="sng"/>
              <a:t>User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1344224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A1F981-B796-367B-01DC-60A2BA9AEF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F7A1875-10F7-53DD-1968-AE113992D5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4972" y="355600"/>
            <a:ext cx="9875520" cy="1356360"/>
          </a:xfrm>
        </p:spPr>
        <p:txBody>
          <a:bodyPr/>
          <a:lstStyle/>
          <a:p>
            <a:pPr algn="ctr"/>
            <a:r>
              <a:rPr lang="de-DE"/>
              <a:t>Funktionsplan: Logout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0CA9BC4-71D0-78B6-7C42-18DD0DE147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A8EFA5-29D9-484D-83FC-66766A9B3B71}" type="datetime1">
              <a:rPr lang="de-DE" smtClean="0"/>
              <a:t>15.07.2026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1FC7178-7EB5-04C2-38C5-2CE96E5DAB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Bekir, Avid, Alex, Darian, Lara P., Sheila</a:t>
            </a:r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A290625-C723-73A1-B801-11DBCB1577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7EE8E-3513-4D7C-BF7B-7494C67953C0}" type="slidenum">
              <a:rPr lang="de-DE" smtClean="0"/>
              <a:t>25</a:t>
            </a:fld>
            <a:endParaRPr lang="de-DE"/>
          </a:p>
        </p:txBody>
      </p:sp>
      <p:sp>
        <p:nvSpPr>
          <p:cNvPr id="7" name="Rechteck: abgerundete Ecken 6">
            <a:extLst>
              <a:ext uri="{FF2B5EF4-FFF2-40B4-BE49-F238E27FC236}">
                <a16:creationId xmlns:a16="http://schemas.microsoft.com/office/drawing/2014/main" id="{F340CA4F-70F8-BAA8-E79F-431D497A75D0}"/>
              </a:ext>
            </a:extLst>
          </p:cNvPr>
          <p:cNvSpPr/>
          <p:nvPr/>
        </p:nvSpPr>
        <p:spPr>
          <a:xfrm>
            <a:off x="1110840" y="1914196"/>
            <a:ext cx="3674301" cy="56198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b="1" u="sng" err="1"/>
              <a:t>auth</a:t>
            </a:r>
            <a:r>
              <a:rPr lang="de-DE" b="1" u="sng"/>
              <a:t>-service</a:t>
            </a:r>
            <a:endParaRPr lang="de-DE">
              <a:solidFill>
                <a:schemeClr val="tx1"/>
              </a:solidFill>
            </a:endParaRPr>
          </a:p>
        </p:txBody>
      </p:sp>
      <p:sp>
        <p:nvSpPr>
          <p:cNvPr id="8" name="Rechteck: abgerundete Ecken 7">
            <a:extLst>
              <a:ext uri="{FF2B5EF4-FFF2-40B4-BE49-F238E27FC236}">
                <a16:creationId xmlns:a16="http://schemas.microsoft.com/office/drawing/2014/main" id="{84E07015-3F20-5499-9F70-66A7D60C252A}"/>
              </a:ext>
            </a:extLst>
          </p:cNvPr>
          <p:cNvSpPr/>
          <p:nvPr/>
        </p:nvSpPr>
        <p:spPr>
          <a:xfrm>
            <a:off x="7308439" y="1914195"/>
            <a:ext cx="3674301" cy="56198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de-DE" b="1" u="sng"/>
              <a:t>User</a:t>
            </a:r>
            <a:endParaRPr lang="de-DE"/>
          </a:p>
        </p:txBody>
      </p:sp>
      <p:sp>
        <p:nvSpPr>
          <p:cNvPr id="10" name="Rechteck: abgerundete Ecken 9">
            <a:extLst>
              <a:ext uri="{FF2B5EF4-FFF2-40B4-BE49-F238E27FC236}">
                <a16:creationId xmlns:a16="http://schemas.microsoft.com/office/drawing/2014/main" id="{4DB9886A-CE63-FD59-225A-FEA64666BF6D}"/>
              </a:ext>
            </a:extLst>
          </p:cNvPr>
          <p:cNvSpPr/>
          <p:nvPr/>
        </p:nvSpPr>
        <p:spPr>
          <a:xfrm>
            <a:off x="7308438" y="2676194"/>
            <a:ext cx="3674301" cy="130221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de-DE"/>
              <a:t>User loggt sich aus</a:t>
            </a:r>
          </a:p>
        </p:txBody>
      </p:sp>
      <p:cxnSp>
        <p:nvCxnSpPr>
          <p:cNvPr id="11" name="Gerade Verbindung mit Pfeil 10">
            <a:extLst>
              <a:ext uri="{FF2B5EF4-FFF2-40B4-BE49-F238E27FC236}">
                <a16:creationId xmlns:a16="http://schemas.microsoft.com/office/drawing/2014/main" id="{0933F136-ACB0-5C31-E35E-FD7CF9C24067}"/>
              </a:ext>
            </a:extLst>
          </p:cNvPr>
          <p:cNvCxnSpPr/>
          <p:nvPr/>
        </p:nvCxnSpPr>
        <p:spPr>
          <a:xfrm flipH="1">
            <a:off x="4860098" y="3362641"/>
            <a:ext cx="2290573" cy="311960"/>
          </a:xfrm>
          <a:prstGeom prst="straightConnector1">
            <a:avLst/>
          </a:prstGeom>
          <a:ln w="571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hteck: abgerundete Ecken 11">
            <a:extLst>
              <a:ext uri="{FF2B5EF4-FFF2-40B4-BE49-F238E27FC236}">
                <a16:creationId xmlns:a16="http://schemas.microsoft.com/office/drawing/2014/main" id="{04AEE6B0-E49D-F264-D75A-77FD23DCF658}"/>
              </a:ext>
            </a:extLst>
          </p:cNvPr>
          <p:cNvSpPr/>
          <p:nvPr/>
        </p:nvSpPr>
        <p:spPr>
          <a:xfrm>
            <a:off x="1110838" y="3176938"/>
            <a:ext cx="3674301" cy="130221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de-DE"/>
              <a:t>Setzt durch POST /</a:t>
            </a:r>
            <a:r>
              <a:rPr lang="de-DE" err="1"/>
              <a:t>api</a:t>
            </a:r>
            <a:r>
              <a:rPr lang="de-DE"/>
              <a:t>/</a:t>
            </a:r>
            <a:r>
              <a:rPr lang="de-DE" err="1"/>
              <a:t>auth</a:t>
            </a:r>
            <a:r>
              <a:rPr lang="de-DE"/>
              <a:t>/</a:t>
            </a:r>
            <a:r>
              <a:rPr lang="de-DE" err="1"/>
              <a:t>logout</a:t>
            </a:r>
            <a:endParaRPr lang="de-DE"/>
          </a:p>
          <a:p>
            <a:pPr algn="ctr"/>
            <a:r>
              <a:rPr lang="de-DE"/>
              <a:t>Das JWT auf eine </a:t>
            </a:r>
            <a:r>
              <a:rPr lang="de-DE" err="1"/>
              <a:t>black</a:t>
            </a:r>
            <a:r>
              <a:rPr lang="de-DE"/>
              <a:t>list</a:t>
            </a:r>
          </a:p>
        </p:txBody>
      </p:sp>
      <p:sp>
        <p:nvSpPr>
          <p:cNvPr id="16" name="Titel 1">
            <a:extLst>
              <a:ext uri="{FF2B5EF4-FFF2-40B4-BE49-F238E27FC236}">
                <a16:creationId xmlns:a16="http://schemas.microsoft.com/office/drawing/2014/main" id="{38DDB0AC-0236-BCE5-EB8B-7648CA06B5E5}"/>
              </a:ext>
            </a:extLst>
          </p:cNvPr>
          <p:cNvSpPr txBox="1">
            <a:spLocks/>
          </p:cNvSpPr>
          <p:nvPr/>
        </p:nvSpPr>
        <p:spPr>
          <a:xfrm>
            <a:off x="5588001" y="3055256"/>
            <a:ext cx="840379" cy="5363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2000" b="1"/>
              <a:t>JWT</a:t>
            </a:r>
          </a:p>
        </p:txBody>
      </p:sp>
      <p:sp>
        <p:nvSpPr>
          <p:cNvPr id="14" name="Rechteck: abgerundete Ecken 13">
            <a:extLst>
              <a:ext uri="{FF2B5EF4-FFF2-40B4-BE49-F238E27FC236}">
                <a16:creationId xmlns:a16="http://schemas.microsoft.com/office/drawing/2014/main" id="{A17BE8E8-820E-0873-7CD6-BE665C21217C}"/>
              </a:ext>
            </a:extLst>
          </p:cNvPr>
          <p:cNvSpPr/>
          <p:nvPr/>
        </p:nvSpPr>
        <p:spPr>
          <a:xfrm>
            <a:off x="7308437" y="4156650"/>
            <a:ext cx="3674301" cy="130221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de-DE"/>
              <a:t>Frontend löscht das Token aus dem Speicher des Browsers</a:t>
            </a:r>
          </a:p>
        </p:txBody>
      </p:sp>
      <p:cxnSp>
        <p:nvCxnSpPr>
          <p:cNvPr id="15" name="Gerade Verbindung mit Pfeil 14">
            <a:extLst>
              <a:ext uri="{FF2B5EF4-FFF2-40B4-BE49-F238E27FC236}">
                <a16:creationId xmlns:a16="http://schemas.microsoft.com/office/drawing/2014/main" id="{06AA04E8-80FA-96ED-5DC5-765B0D832BC2}"/>
              </a:ext>
            </a:extLst>
          </p:cNvPr>
          <p:cNvCxnSpPr>
            <a:cxnSpLocks/>
          </p:cNvCxnSpPr>
          <p:nvPr/>
        </p:nvCxnSpPr>
        <p:spPr>
          <a:xfrm>
            <a:off x="4864673" y="4001270"/>
            <a:ext cx="2288681" cy="841730"/>
          </a:xfrm>
          <a:prstGeom prst="straightConnector1">
            <a:avLst/>
          </a:prstGeom>
          <a:ln w="571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263695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9B97E4-9E0F-A84B-3536-A0BBD47687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F03DB99-9120-277F-DEA1-E9C0B71CEB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4771" y="203200"/>
            <a:ext cx="9875520" cy="1356360"/>
          </a:xfrm>
        </p:spPr>
        <p:txBody>
          <a:bodyPr/>
          <a:lstStyle/>
          <a:p>
            <a:r>
              <a:rPr lang="de-DE"/>
              <a:t>Grundregeln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F413B372-90DF-B742-9EE5-B3D6CDD6FA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7EF82-ED02-462F-BE0A-C16060A9F316}" type="datetime1">
              <a:rPr lang="de-DE" smtClean="0"/>
              <a:t>15.07.2026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CD33735C-72E2-A38F-553F-476D417FF8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Bekir, Avid, Alex, Darian, Lara P., Sheila</a:t>
            </a:r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13E422A-3935-9018-35F9-8DFFF5F7C7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7EE8E-3513-4D7C-BF7B-7494C67953C0}" type="slidenum">
              <a:rPr lang="de-DE" smtClean="0"/>
              <a:t>26</a:t>
            </a:fld>
            <a:endParaRPr lang="de-DE"/>
          </a:p>
        </p:txBody>
      </p:sp>
      <p:graphicFrame>
        <p:nvGraphicFramePr>
          <p:cNvPr id="9" name="Tabelle 8">
            <a:extLst>
              <a:ext uri="{FF2B5EF4-FFF2-40B4-BE49-F238E27FC236}">
                <a16:creationId xmlns:a16="http://schemas.microsoft.com/office/drawing/2014/main" id="{06638154-AF2F-8E60-2355-C24E6FDB89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2862364"/>
              </p:ext>
            </p:extLst>
          </p:nvPr>
        </p:nvGraphicFramePr>
        <p:xfrm>
          <a:off x="595085" y="1473200"/>
          <a:ext cx="11121504" cy="43159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0376">
                  <a:extLst>
                    <a:ext uri="{9D8B030D-6E8A-4147-A177-3AD203B41FA5}">
                      <a16:colId xmlns:a16="http://schemas.microsoft.com/office/drawing/2014/main" val="1155937931"/>
                    </a:ext>
                  </a:extLst>
                </a:gridCol>
                <a:gridCol w="2780376">
                  <a:extLst>
                    <a:ext uri="{9D8B030D-6E8A-4147-A177-3AD203B41FA5}">
                      <a16:colId xmlns:a16="http://schemas.microsoft.com/office/drawing/2014/main" val="2643985336"/>
                    </a:ext>
                  </a:extLst>
                </a:gridCol>
                <a:gridCol w="2780376">
                  <a:extLst>
                    <a:ext uri="{9D8B030D-6E8A-4147-A177-3AD203B41FA5}">
                      <a16:colId xmlns:a16="http://schemas.microsoft.com/office/drawing/2014/main" val="2565768030"/>
                    </a:ext>
                  </a:extLst>
                </a:gridCol>
                <a:gridCol w="2780376">
                  <a:extLst>
                    <a:ext uri="{9D8B030D-6E8A-4147-A177-3AD203B41FA5}">
                      <a16:colId xmlns:a16="http://schemas.microsoft.com/office/drawing/2014/main" val="976840282"/>
                    </a:ext>
                  </a:extLst>
                </a:gridCol>
              </a:tblGrid>
              <a:tr h="505959">
                <a:tc>
                  <a:txBody>
                    <a:bodyPr/>
                    <a:lstStyle/>
                    <a:p>
                      <a:r>
                        <a:rPr lang="de-DE"/>
                        <a:t>Rolle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Ressourcentyp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Aktion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Erlaubt?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0393668"/>
                  </a:ext>
                </a:extLst>
              </a:tr>
              <a:tr h="505959">
                <a:tc>
                  <a:txBody>
                    <a:bodyPr/>
                    <a:lstStyle/>
                    <a:p>
                      <a:r>
                        <a:rPr lang="de-DE"/>
                        <a:t>Admin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Alle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Alle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Ja, immer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3660560"/>
                  </a:ext>
                </a:extLst>
              </a:tr>
              <a:tr h="505959">
                <a:tc>
                  <a:txBody>
                    <a:bodyPr/>
                    <a:lstStyle/>
                    <a:p>
                      <a:r>
                        <a:rPr lang="de-DE"/>
                        <a:t>User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product</a:t>
                      </a:r>
                      <a:endParaRPr lang="de-DE" err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read</a:t>
                      </a:r>
                      <a:endParaRPr lang="de-DE" err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Ja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8713486"/>
                  </a:ext>
                </a:extLst>
              </a:tr>
              <a:tr h="505959">
                <a:tc>
                  <a:txBody>
                    <a:bodyPr/>
                    <a:lstStyle/>
                    <a:p>
                      <a:r>
                        <a:rPr lang="de-DE"/>
                        <a:t>User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product</a:t>
                      </a:r>
                      <a:endParaRPr lang="de-DE" err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write,delete</a:t>
                      </a:r>
                      <a:endParaRPr lang="de-DE" err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Nein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7716744"/>
                  </a:ext>
                </a:extLst>
              </a:tr>
              <a:tr h="505959">
                <a:tc>
                  <a:txBody>
                    <a:bodyPr/>
                    <a:lstStyle/>
                    <a:p>
                      <a:r>
                        <a:rPr lang="de-DE"/>
                        <a:t>User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user</a:t>
                      </a:r>
                      <a:endParaRPr lang="de-DE" err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read, write</a:t>
                      </a:r>
                      <a:endParaRPr lang="de-DE" err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Nur das eigene Profil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2575147"/>
                  </a:ext>
                </a:extLst>
              </a:tr>
              <a:tr h="505959">
                <a:tc>
                  <a:txBody>
                    <a:bodyPr/>
                    <a:lstStyle/>
                    <a:p>
                      <a:r>
                        <a:rPr lang="de-DE"/>
                        <a:t>User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user</a:t>
                      </a:r>
                      <a:endParaRPr lang="de-DE" err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delete</a:t>
                      </a:r>
                      <a:endParaRPr lang="de-DE" err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nein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6576355"/>
                  </a:ext>
                </a:extLst>
              </a:tr>
              <a:tr h="505959">
                <a:tc>
                  <a:txBody>
                    <a:bodyPr/>
                    <a:lstStyle/>
                    <a:p>
                      <a:r>
                        <a:rPr lang="de-DE"/>
                        <a:t>User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wishlist</a:t>
                      </a:r>
                      <a:endParaRPr lang="de-DE" err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Alle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Nur bei der eigenen wishlist</a:t>
                      </a:r>
                      <a:endParaRPr lang="de-DE" err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7804428"/>
                  </a:ext>
                </a:extLst>
              </a:tr>
              <a:tr h="505959">
                <a:tc>
                  <a:txBody>
                    <a:bodyPr/>
                    <a:lstStyle/>
                    <a:p>
                      <a:r>
                        <a:rPr lang="de-DE"/>
                        <a:t>User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wishlist</a:t>
                      </a:r>
                      <a:endParaRPr lang="de-DE" err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Alle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DB Lookup in Permission,</a:t>
                      </a:r>
                    </a:p>
                    <a:p>
                      <a:pPr lvl="0">
                        <a:buNone/>
                      </a:pPr>
                      <a:r>
                        <a:rPr lang="de-DE"/>
                        <a:t>Wenn nicht eigene wishlist</a:t>
                      </a:r>
                      <a:endParaRPr lang="de-DE" err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62528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2819041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A2794C-52A3-A7C5-5150-83DF197FA0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41AC104-2FC4-AA42-9298-268597A59E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457200"/>
            <a:ext cx="9810206" cy="1109618"/>
          </a:xfrm>
        </p:spPr>
        <p:txBody>
          <a:bodyPr/>
          <a:lstStyle/>
          <a:p>
            <a:r>
              <a:rPr lang="de-DE"/>
              <a:t>Custom </a:t>
            </a:r>
            <a:r>
              <a:rPr lang="de-DE" err="1"/>
              <a:t>Permissions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5C85A6B2-C995-E367-1B81-6C7B665F42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7EF82-ED02-462F-BE0A-C16060A9F316}" type="datetime1">
              <a:rPr lang="de-DE" smtClean="0"/>
              <a:t>15.07.2026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7849B12-B027-5184-DFED-A5D61E47DA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Bekir, Avid, Alex, Darian, Lara P., Sheila</a:t>
            </a:r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FD5E69F8-EF51-1DA8-345D-B753B1F1A7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7EE8E-3513-4D7C-BF7B-7494C67953C0}" type="slidenum">
              <a:rPr lang="de-DE" smtClean="0"/>
              <a:t>27</a:t>
            </a:fld>
            <a:endParaRPr lang="de-DE"/>
          </a:p>
        </p:txBody>
      </p:sp>
      <p:graphicFrame>
        <p:nvGraphicFramePr>
          <p:cNvPr id="7" name="Tabelle 6">
            <a:extLst>
              <a:ext uri="{FF2B5EF4-FFF2-40B4-BE49-F238E27FC236}">
                <a16:creationId xmlns:a16="http://schemas.microsoft.com/office/drawing/2014/main" id="{9CC9C870-F81E-31B7-D001-CBBD0E4967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160206"/>
              </p:ext>
            </p:extLst>
          </p:nvPr>
        </p:nvGraphicFramePr>
        <p:xfrm>
          <a:off x="1242423" y="1716605"/>
          <a:ext cx="9703156" cy="4116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5789">
                  <a:extLst>
                    <a:ext uri="{9D8B030D-6E8A-4147-A177-3AD203B41FA5}">
                      <a16:colId xmlns:a16="http://schemas.microsoft.com/office/drawing/2014/main" val="3763735357"/>
                    </a:ext>
                  </a:extLst>
                </a:gridCol>
                <a:gridCol w="2425789">
                  <a:extLst>
                    <a:ext uri="{9D8B030D-6E8A-4147-A177-3AD203B41FA5}">
                      <a16:colId xmlns:a16="http://schemas.microsoft.com/office/drawing/2014/main" val="2625676436"/>
                    </a:ext>
                  </a:extLst>
                </a:gridCol>
                <a:gridCol w="2425789">
                  <a:extLst>
                    <a:ext uri="{9D8B030D-6E8A-4147-A177-3AD203B41FA5}">
                      <a16:colId xmlns:a16="http://schemas.microsoft.com/office/drawing/2014/main" val="1914766896"/>
                    </a:ext>
                  </a:extLst>
                </a:gridCol>
                <a:gridCol w="2425789">
                  <a:extLst>
                    <a:ext uri="{9D8B030D-6E8A-4147-A177-3AD203B41FA5}">
                      <a16:colId xmlns:a16="http://schemas.microsoft.com/office/drawing/2014/main" val="517705156"/>
                    </a:ext>
                  </a:extLst>
                </a:gridCol>
              </a:tblGrid>
              <a:tr h="1029140">
                <a:tc>
                  <a:txBody>
                    <a:bodyPr/>
                    <a:lstStyle/>
                    <a:p>
                      <a:pPr algn="ctr"/>
                      <a:r>
                        <a:rPr lang="de-DE"/>
                        <a:t>Stufe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/>
                        <a:t>Kann lesen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/>
                        <a:t>Kann schreiben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Kann Rechte vergeben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5817557"/>
                  </a:ext>
                </a:extLst>
              </a:tr>
              <a:tr h="1029140">
                <a:tc>
                  <a:txBody>
                    <a:bodyPr/>
                    <a:lstStyle/>
                    <a:p>
                      <a:pPr algn="ctr"/>
                      <a:r>
                        <a:rPr lang="de-DE"/>
                        <a:t>read</a:t>
                      </a:r>
                      <a:endParaRPr lang="de-DE" err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Ja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Nein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Nein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4214195"/>
                  </a:ext>
                </a:extLst>
              </a:tr>
              <a:tr h="1029140">
                <a:tc>
                  <a:txBody>
                    <a:bodyPr/>
                    <a:lstStyle/>
                    <a:p>
                      <a:pPr algn="ctr"/>
                      <a:r>
                        <a:rPr lang="de-DE"/>
                        <a:t>write</a:t>
                      </a:r>
                      <a:endParaRPr lang="de-DE" err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Ja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Ja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Nein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7315187"/>
                  </a:ext>
                </a:extLst>
              </a:tr>
              <a:tr h="1029140">
                <a:tc>
                  <a:txBody>
                    <a:bodyPr/>
                    <a:lstStyle/>
                    <a:p>
                      <a:pPr algn="ctr"/>
                      <a:r>
                        <a:rPr lang="de-DE"/>
                        <a:t>owner</a:t>
                      </a:r>
                      <a:endParaRPr lang="de-DE" err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Ja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Ja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Ja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00439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7496596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9BD4C4-0B3C-9E43-7027-93D0FF8B03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4199BA15-70EF-3E4A-A958-4BE32E71C9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DE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20D743E-6385-D3E2-5FEB-8887A05D70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DE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AFA4557-46EB-CD28-2243-6406AB1710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93DC4E6-3DF4-783F-0688-51E97A7EC9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978660" y="5462458"/>
            <a:ext cx="82296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99DD74DB-8357-D53F-BEDA-B41E898E91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140" y="243841"/>
            <a:ext cx="11722100" cy="3964584"/>
          </a:xfrm>
          <a:prstGeom prst="rect">
            <a:avLst/>
          </a:prstGeom>
          <a:solidFill>
            <a:schemeClr val="bg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DE"/>
          </a:p>
        </p:txBody>
      </p:sp>
      <p:pic>
        <p:nvPicPr>
          <p:cNvPr id="7" name="Grafik 6" descr="Gruppe von Personen mit einfarbiger Füllung">
            <a:extLst>
              <a:ext uri="{FF2B5EF4-FFF2-40B4-BE49-F238E27FC236}">
                <a16:creationId xmlns:a16="http://schemas.microsoft.com/office/drawing/2014/main" id="{998ECA72-CD85-9DAF-5A73-98E10DE23D3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78531" y="712475"/>
            <a:ext cx="3027316" cy="3027316"/>
          </a:xfrm>
          <a:prstGeom prst="rect">
            <a:avLst/>
          </a:prstGeom>
        </p:spPr>
      </p:pic>
      <p:cxnSp>
        <p:nvCxnSpPr>
          <p:cNvPr id="9" name="Gerader Verbinder 8">
            <a:extLst>
              <a:ext uri="{FF2B5EF4-FFF2-40B4-BE49-F238E27FC236}">
                <a16:creationId xmlns:a16="http://schemas.microsoft.com/office/drawing/2014/main" id="{B76519A1-1AF4-6DCD-1F86-7EC7BF69333A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1978660" y="5462458"/>
            <a:ext cx="836320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el 1">
            <a:extLst>
              <a:ext uri="{FF2B5EF4-FFF2-40B4-BE49-F238E27FC236}">
                <a16:creationId xmlns:a16="http://schemas.microsoft.com/office/drawing/2014/main" id="{D12E25F0-6797-A21B-E0A7-99DB5F049A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8709" y="4632960"/>
            <a:ext cx="9966960" cy="132588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85000"/>
              </a:lnSpc>
            </a:pPr>
            <a:r>
              <a:rPr lang="en-US" sz="6600" b="1" u="sng" cap="all">
                <a:solidFill>
                  <a:srgbClr val="FFFFFF"/>
                </a:solidFill>
              </a:rPr>
              <a:t>User-Management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9EC046A2-4F93-0191-0521-15FE597401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C3DB7D-BD6B-467D-BAFC-591A07C05A53}" type="datetime1">
              <a:rPr lang="de-DE" smtClean="0"/>
              <a:t>15.07.2026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3FBC917-E2F0-AC40-4BF8-07E61B230B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Bekir, Avid, Alex, Darian, Lara P., Sheila</a:t>
            </a:r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5469AEC-0740-787C-DAAB-51C9C0ABB1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7EE8E-3513-4D7C-BF7B-7494C67953C0}" type="slidenum">
              <a:rPr lang="de-DE" smtClean="0"/>
              <a:t>28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7688779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65760"/>
            <a:ext cx="1097280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355E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 Management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33984" y="999744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i="1">
                <a:solidFill>
                  <a:srgbClr val="5D5D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user-service  ·  Port 3005  ·  Nutzt das bereits gezeigte Türsteher-Prinzip</a:t>
            </a:r>
            <a:endParaRPr lang="en-US" sz="1600"/>
          </a:p>
        </p:txBody>
      </p:sp>
      <p:sp>
        <p:nvSpPr>
          <p:cNvPr id="4" name="Shape 2"/>
          <p:cNvSpPr/>
          <p:nvPr/>
        </p:nvSpPr>
        <p:spPr>
          <a:xfrm>
            <a:off x="609600" y="1487424"/>
            <a:ext cx="10972800" cy="792480"/>
          </a:xfrm>
          <a:prstGeom prst="roundRect">
            <a:avLst>
              <a:gd name="adj" fmla="val 9231"/>
            </a:avLst>
          </a:prstGeom>
          <a:solidFill>
            <a:srgbClr val="F3F6F3"/>
          </a:solidFill>
          <a:ln w="12700">
            <a:solidFill>
              <a:srgbClr val="CED2CE"/>
            </a:solidFill>
            <a:prstDash val="solid"/>
          </a:ln>
        </p:spPr>
        <p:txBody>
          <a:bodyPr/>
          <a:lstStyle/>
          <a:p>
            <a:endParaRPr lang="de-DE" sz="2400"/>
          </a:p>
        </p:txBody>
      </p:sp>
      <p:sp>
        <p:nvSpPr>
          <p:cNvPr id="5" name="Shape 3"/>
          <p:cNvSpPr/>
          <p:nvPr/>
        </p:nvSpPr>
        <p:spPr>
          <a:xfrm>
            <a:off x="877824" y="1615440"/>
            <a:ext cx="536448" cy="536448"/>
          </a:xfrm>
          <a:prstGeom prst="ellipse">
            <a:avLst/>
          </a:prstGeom>
          <a:solidFill>
            <a:srgbClr val="E8985E"/>
          </a:solidFill>
          <a:ln/>
        </p:spPr>
        <p:txBody>
          <a:bodyPr/>
          <a:lstStyle/>
          <a:p>
            <a:endParaRPr lang="de-DE" sz="240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301" y="1754917"/>
            <a:ext cx="257495" cy="257495"/>
          </a:xfrm>
          <a:prstGeom prst="rect">
            <a:avLst/>
          </a:prstGeom>
        </p:spPr>
      </p:pic>
      <p:sp>
        <p:nvSpPr>
          <p:cNvPr id="700" name="RowHead700"/>
          <p:cNvSpPr/>
          <p:nvPr/>
        </p:nvSpPr>
        <p:spPr>
          <a:xfrm>
            <a:off x="1609344" y="1522205"/>
            <a:ext cx="5462016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spc="80">
                <a:solidFill>
                  <a:srgbClr val="E8985E"/>
                </a:solidFill>
                <a:latin typeface="Segoe UI" pitchFamily="34" charset="0"/>
                <a:cs typeface="Segoe UI" pitchFamily="34" charset="0"/>
              </a:rPr>
              <a:t>USER-1 </a:t>
            </a:r>
            <a:r>
              <a:rPr lang="en-US" sz="1867" b="1">
                <a:solidFill>
                  <a:srgbClr val="355E3B"/>
                </a:solidFill>
                <a:latin typeface="Segoe UI" pitchFamily="34" charset="0"/>
                <a:cs typeface="Segoe UI" pitchFamily="34" charset="0"/>
              </a:rPr>
              <a:t>Profil ansehen</a:t>
            </a:r>
          </a:p>
        </p:txBody>
      </p:sp>
      <p:sp>
        <p:nvSpPr>
          <p:cNvPr id="9" name="Text 6"/>
          <p:cNvSpPr/>
          <p:nvPr/>
        </p:nvSpPr>
        <p:spPr>
          <a:xfrm>
            <a:off x="7071360" y="1584960"/>
            <a:ext cx="426720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333">
                <a:solidFill>
                  <a:srgbClr val="5D5D5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/api/users/:id</a:t>
            </a:r>
            <a:endParaRPr lang="en-US" sz="1333"/>
          </a:p>
        </p:txBody>
      </p:sp>
      <p:sp>
        <p:nvSpPr>
          <p:cNvPr id="10" name="Text 7"/>
          <p:cNvSpPr/>
          <p:nvPr/>
        </p:nvSpPr>
        <p:spPr>
          <a:xfrm>
            <a:off x="1609344" y="1817817"/>
            <a:ext cx="9753600" cy="389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>
                <a:solidFill>
                  <a:srgbClr val="10231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Admin: </a:t>
            </a:r>
            <a:r>
              <a:rPr lang="en-US" sz="1467" err="1">
                <a:solidFill>
                  <a:srgbClr val="10231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jedes</a:t>
            </a:r>
            <a:r>
              <a:rPr lang="en-US" sz="1467">
                <a:solidFill>
                  <a:srgbClr val="10231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467" err="1">
                <a:solidFill>
                  <a:srgbClr val="10231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Profil</a:t>
            </a:r>
            <a:r>
              <a:rPr lang="en-US" sz="1467">
                <a:solidFill>
                  <a:srgbClr val="10231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</a:p>
          <a:p>
            <a:r>
              <a:rPr lang="en-US" sz="1467" b="1">
                <a:solidFill>
                  <a:srgbClr val="10231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User: </a:t>
            </a:r>
            <a:r>
              <a:rPr lang="en-US" sz="1467">
                <a:solidFill>
                  <a:srgbClr val="10231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nur eigenes (sonst 403)</a:t>
            </a:r>
            <a:endParaRPr lang="en-US" sz="1467"/>
          </a:p>
        </p:txBody>
      </p:sp>
      <p:sp>
        <p:nvSpPr>
          <p:cNvPr id="11" name="Shape 8"/>
          <p:cNvSpPr/>
          <p:nvPr/>
        </p:nvSpPr>
        <p:spPr>
          <a:xfrm>
            <a:off x="609600" y="2377440"/>
            <a:ext cx="10972800" cy="792480"/>
          </a:xfrm>
          <a:prstGeom prst="roundRect">
            <a:avLst>
              <a:gd name="adj" fmla="val 9231"/>
            </a:avLst>
          </a:prstGeom>
          <a:solidFill>
            <a:srgbClr val="F3F6F3"/>
          </a:solidFill>
          <a:ln w="12700">
            <a:solidFill>
              <a:srgbClr val="CED2CE"/>
            </a:solidFill>
            <a:prstDash val="solid"/>
          </a:ln>
        </p:spPr>
        <p:txBody>
          <a:bodyPr/>
          <a:lstStyle/>
          <a:p>
            <a:endParaRPr lang="de-DE" sz="2400"/>
          </a:p>
        </p:txBody>
      </p:sp>
      <p:sp>
        <p:nvSpPr>
          <p:cNvPr id="12" name="Shape 9"/>
          <p:cNvSpPr/>
          <p:nvPr/>
        </p:nvSpPr>
        <p:spPr>
          <a:xfrm>
            <a:off x="877824" y="2505456"/>
            <a:ext cx="536448" cy="536448"/>
          </a:xfrm>
          <a:prstGeom prst="ellipse">
            <a:avLst/>
          </a:prstGeom>
          <a:solidFill>
            <a:srgbClr val="E8985E"/>
          </a:solidFill>
          <a:ln/>
        </p:spPr>
        <p:txBody>
          <a:bodyPr/>
          <a:lstStyle/>
          <a:p>
            <a:endParaRPr lang="de-DE" sz="240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7301" y="2644933"/>
            <a:ext cx="257495" cy="257495"/>
          </a:xfrm>
          <a:prstGeom prst="rect">
            <a:avLst/>
          </a:prstGeom>
        </p:spPr>
      </p:pic>
      <p:sp>
        <p:nvSpPr>
          <p:cNvPr id="701" name="RowHead701"/>
          <p:cNvSpPr/>
          <p:nvPr/>
        </p:nvSpPr>
        <p:spPr>
          <a:xfrm>
            <a:off x="1609344" y="2412221"/>
            <a:ext cx="5462016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spc="80">
                <a:solidFill>
                  <a:srgbClr val="E8985E"/>
                </a:solidFill>
                <a:latin typeface="Segoe UI" pitchFamily="34" charset="0"/>
                <a:cs typeface="Segoe UI" pitchFamily="34" charset="0"/>
              </a:rPr>
              <a:t>USER-2 </a:t>
            </a:r>
            <a:r>
              <a:rPr lang="en-US" sz="1867" b="1">
                <a:solidFill>
                  <a:srgbClr val="355E3B"/>
                </a:solidFill>
                <a:latin typeface="Segoe UI" pitchFamily="34" charset="0"/>
                <a:cs typeface="Segoe UI" pitchFamily="34" charset="0"/>
              </a:rPr>
              <a:t>Account löschen</a:t>
            </a:r>
          </a:p>
        </p:txBody>
      </p:sp>
      <p:sp>
        <p:nvSpPr>
          <p:cNvPr id="16" name="Text 12"/>
          <p:cNvSpPr/>
          <p:nvPr/>
        </p:nvSpPr>
        <p:spPr>
          <a:xfrm>
            <a:off x="7071360" y="2474976"/>
            <a:ext cx="426720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333">
                <a:solidFill>
                  <a:srgbClr val="5D5D5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 /api/users/:id</a:t>
            </a:r>
            <a:endParaRPr lang="en-US" sz="1333"/>
          </a:p>
        </p:txBody>
      </p:sp>
      <p:sp>
        <p:nvSpPr>
          <p:cNvPr id="17" name="Text 13"/>
          <p:cNvSpPr/>
          <p:nvPr/>
        </p:nvSpPr>
        <p:spPr>
          <a:xfrm>
            <a:off x="1609344" y="2682837"/>
            <a:ext cx="9753600" cy="438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>
                <a:solidFill>
                  <a:srgbClr val="10231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User: </a:t>
            </a:r>
            <a:r>
              <a:rPr lang="en-US" sz="1467" err="1">
                <a:solidFill>
                  <a:srgbClr val="10231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eigenen</a:t>
            </a:r>
            <a:r>
              <a:rPr lang="en-US" sz="1467">
                <a:solidFill>
                  <a:srgbClr val="10231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Account</a:t>
            </a:r>
          </a:p>
          <a:p>
            <a:r>
              <a:rPr lang="en-US" sz="1467" b="1">
                <a:solidFill>
                  <a:srgbClr val="10231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Admin: </a:t>
            </a:r>
            <a:r>
              <a:rPr lang="en-US" sz="1467">
                <a:solidFill>
                  <a:srgbClr val="10231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alle </a:t>
            </a:r>
            <a:r>
              <a:rPr lang="en-US" sz="1467" err="1">
                <a:solidFill>
                  <a:srgbClr val="10231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anderen</a:t>
            </a:r>
            <a:r>
              <a:rPr lang="en-US" sz="1467">
                <a:solidFill>
                  <a:srgbClr val="10231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Accounts; nicht sich selbst (400)</a:t>
            </a:r>
            <a:endParaRPr lang="en-US" sz="1467"/>
          </a:p>
        </p:txBody>
      </p:sp>
      <p:sp>
        <p:nvSpPr>
          <p:cNvPr id="18" name="Shape 14"/>
          <p:cNvSpPr/>
          <p:nvPr/>
        </p:nvSpPr>
        <p:spPr>
          <a:xfrm>
            <a:off x="609600" y="3267456"/>
            <a:ext cx="10972800" cy="792480"/>
          </a:xfrm>
          <a:prstGeom prst="roundRect">
            <a:avLst>
              <a:gd name="adj" fmla="val 9231"/>
            </a:avLst>
          </a:prstGeom>
          <a:solidFill>
            <a:srgbClr val="F3F6F3"/>
          </a:solidFill>
          <a:ln w="12700">
            <a:solidFill>
              <a:srgbClr val="CED2CE"/>
            </a:solidFill>
            <a:prstDash val="solid"/>
          </a:ln>
        </p:spPr>
        <p:txBody>
          <a:bodyPr/>
          <a:lstStyle/>
          <a:p>
            <a:endParaRPr lang="de-DE" sz="2400"/>
          </a:p>
        </p:txBody>
      </p:sp>
      <p:sp>
        <p:nvSpPr>
          <p:cNvPr id="19" name="Shape 15"/>
          <p:cNvSpPr/>
          <p:nvPr/>
        </p:nvSpPr>
        <p:spPr>
          <a:xfrm>
            <a:off x="877824" y="3395472"/>
            <a:ext cx="536448" cy="536448"/>
          </a:xfrm>
          <a:prstGeom prst="ellipse">
            <a:avLst/>
          </a:prstGeom>
          <a:solidFill>
            <a:srgbClr val="E8985E"/>
          </a:solidFill>
          <a:ln/>
        </p:spPr>
        <p:txBody>
          <a:bodyPr/>
          <a:lstStyle/>
          <a:p>
            <a:endParaRPr lang="de-DE" sz="2400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7301" y="3534949"/>
            <a:ext cx="257495" cy="257495"/>
          </a:xfrm>
          <a:prstGeom prst="rect">
            <a:avLst/>
          </a:prstGeom>
        </p:spPr>
      </p:pic>
      <p:sp>
        <p:nvSpPr>
          <p:cNvPr id="702" name="RowHead702"/>
          <p:cNvSpPr/>
          <p:nvPr/>
        </p:nvSpPr>
        <p:spPr>
          <a:xfrm>
            <a:off x="1609344" y="3302237"/>
            <a:ext cx="5462016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spc="80">
                <a:solidFill>
                  <a:srgbClr val="E8985E"/>
                </a:solidFill>
                <a:latin typeface="Segoe UI" pitchFamily="34" charset="0"/>
                <a:cs typeface="Segoe UI" pitchFamily="34" charset="0"/>
              </a:rPr>
              <a:t>USER-3 </a:t>
            </a:r>
            <a:r>
              <a:rPr lang="en-US" sz="1867" b="1">
                <a:solidFill>
                  <a:srgbClr val="355E3B"/>
                </a:solidFill>
                <a:latin typeface="Segoe UI" pitchFamily="34" charset="0"/>
                <a:cs typeface="Segoe UI" pitchFamily="34" charset="0"/>
              </a:rPr>
              <a:t>Admin anlegen</a:t>
            </a:r>
          </a:p>
        </p:txBody>
      </p:sp>
      <p:sp>
        <p:nvSpPr>
          <p:cNvPr id="23" name="Text 18"/>
          <p:cNvSpPr/>
          <p:nvPr/>
        </p:nvSpPr>
        <p:spPr>
          <a:xfrm>
            <a:off x="7071360" y="3364992"/>
            <a:ext cx="426720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333">
                <a:solidFill>
                  <a:srgbClr val="5D5D5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/api/users/admin</a:t>
            </a:r>
            <a:endParaRPr lang="en-US" sz="1333"/>
          </a:p>
        </p:txBody>
      </p:sp>
      <p:sp>
        <p:nvSpPr>
          <p:cNvPr id="24" name="Text 19"/>
          <p:cNvSpPr/>
          <p:nvPr/>
        </p:nvSpPr>
        <p:spPr>
          <a:xfrm>
            <a:off x="1609344" y="3564725"/>
            <a:ext cx="9753600" cy="445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>
                <a:solidFill>
                  <a:srgbClr val="10231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Nur Admin</a:t>
            </a:r>
          </a:p>
          <a:p>
            <a:r>
              <a:rPr lang="en-US" sz="1467">
                <a:solidFill>
                  <a:srgbClr val="10231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E-Mail muss eindeutig sein (409 bei </a:t>
            </a:r>
            <a:r>
              <a:rPr lang="en-US" sz="1467" err="1">
                <a:solidFill>
                  <a:srgbClr val="10231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Duplikat</a:t>
            </a:r>
            <a:r>
              <a:rPr lang="en-US" sz="1467">
                <a:solidFill>
                  <a:srgbClr val="10231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)</a:t>
            </a:r>
            <a:endParaRPr lang="en-US" sz="1467"/>
          </a:p>
        </p:txBody>
      </p:sp>
      <p:sp>
        <p:nvSpPr>
          <p:cNvPr id="25" name="Shape 20"/>
          <p:cNvSpPr/>
          <p:nvPr/>
        </p:nvSpPr>
        <p:spPr>
          <a:xfrm>
            <a:off x="609600" y="4157472"/>
            <a:ext cx="10972800" cy="792480"/>
          </a:xfrm>
          <a:prstGeom prst="roundRect">
            <a:avLst>
              <a:gd name="adj" fmla="val 9231"/>
            </a:avLst>
          </a:prstGeom>
          <a:solidFill>
            <a:srgbClr val="F3F6F3"/>
          </a:solidFill>
          <a:ln w="12700">
            <a:solidFill>
              <a:srgbClr val="CED2CE"/>
            </a:solidFill>
            <a:prstDash val="solid"/>
          </a:ln>
        </p:spPr>
        <p:txBody>
          <a:bodyPr/>
          <a:lstStyle/>
          <a:p>
            <a:endParaRPr lang="de-DE" sz="2400"/>
          </a:p>
        </p:txBody>
      </p:sp>
      <p:sp>
        <p:nvSpPr>
          <p:cNvPr id="26" name="Shape 21"/>
          <p:cNvSpPr/>
          <p:nvPr/>
        </p:nvSpPr>
        <p:spPr>
          <a:xfrm>
            <a:off x="877824" y="4285488"/>
            <a:ext cx="536448" cy="536448"/>
          </a:xfrm>
          <a:prstGeom prst="ellipse">
            <a:avLst/>
          </a:prstGeom>
          <a:solidFill>
            <a:srgbClr val="E8985E"/>
          </a:solidFill>
          <a:ln/>
        </p:spPr>
        <p:txBody>
          <a:bodyPr/>
          <a:lstStyle/>
          <a:p>
            <a:endParaRPr lang="de-DE" sz="2400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7301" y="4424965"/>
            <a:ext cx="257495" cy="257495"/>
          </a:xfrm>
          <a:prstGeom prst="rect">
            <a:avLst/>
          </a:prstGeom>
        </p:spPr>
      </p:pic>
      <p:sp>
        <p:nvSpPr>
          <p:cNvPr id="703" name="RowHead703"/>
          <p:cNvSpPr/>
          <p:nvPr/>
        </p:nvSpPr>
        <p:spPr>
          <a:xfrm>
            <a:off x="1609344" y="4192253"/>
            <a:ext cx="5462016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spc="80">
                <a:solidFill>
                  <a:srgbClr val="E8985E"/>
                </a:solidFill>
                <a:latin typeface="Segoe UI" pitchFamily="34" charset="0"/>
                <a:cs typeface="Segoe UI" pitchFamily="34" charset="0"/>
              </a:rPr>
              <a:t>USER-4 </a:t>
            </a:r>
            <a:r>
              <a:rPr lang="en-US" sz="1867" b="1">
                <a:solidFill>
                  <a:srgbClr val="355E3B"/>
                </a:solidFill>
                <a:latin typeface="Segoe UI" pitchFamily="34" charset="0"/>
                <a:cs typeface="Segoe UI" pitchFamily="34" charset="0"/>
              </a:rPr>
              <a:t>Sperren / Entsperren</a:t>
            </a:r>
          </a:p>
        </p:txBody>
      </p:sp>
      <p:sp>
        <p:nvSpPr>
          <p:cNvPr id="30" name="Text 24"/>
          <p:cNvSpPr/>
          <p:nvPr/>
        </p:nvSpPr>
        <p:spPr>
          <a:xfrm>
            <a:off x="7071360" y="4255008"/>
            <a:ext cx="426720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333">
                <a:solidFill>
                  <a:srgbClr val="5D5D5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PUT /api/users/:id/lock · /unlock</a:t>
            </a:r>
            <a:endParaRPr lang="en-US" sz="1333"/>
          </a:p>
        </p:txBody>
      </p:sp>
      <p:sp>
        <p:nvSpPr>
          <p:cNvPr id="31" name="Text 25"/>
          <p:cNvSpPr/>
          <p:nvPr/>
        </p:nvSpPr>
        <p:spPr>
          <a:xfrm>
            <a:off x="1609344" y="4452695"/>
            <a:ext cx="9753600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>
                <a:solidFill>
                  <a:srgbClr val="10231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Nur Admin</a:t>
            </a:r>
          </a:p>
          <a:p>
            <a:r>
              <a:rPr lang="en-US" sz="1467">
                <a:solidFill>
                  <a:srgbClr val="10231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alle </a:t>
            </a:r>
            <a:r>
              <a:rPr lang="en-US" sz="1467" err="1">
                <a:solidFill>
                  <a:srgbClr val="10231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anderen</a:t>
            </a:r>
            <a:r>
              <a:rPr lang="en-US" sz="1467">
                <a:solidFill>
                  <a:srgbClr val="10231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Accounts; nicht </a:t>
            </a:r>
            <a:r>
              <a:rPr lang="en-US" sz="1467" err="1">
                <a:solidFill>
                  <a:srgbClr val="10231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sich</a:t>
            </a:r>
            <a:r>
              <a:rPr lang="en-US" sz="1467">
                <a:solidFill>
                  <a:srgbClr val="10231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467" err="1">
                <a:solidFill>
                  <a:srgbClr val="10231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selbst</a:t>
            </a:r>
            <a:r>
              <a:rPr lang="en-US" sz="1467">
                <a:solidFill>
                  <a:srgbClr val="10231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(400)</a:t>
            </a:r>
            <a:endParaRPr lang="en-US" sz="1467"/>
          </a:p>
        </p:txBody>
      </p:sp>
      <p:sp>
        <p:nvSpPr>
          <p:cNvPr id="32" name="Shape 26"/>
          <p:cNvSpPr/>
          <p:nvPr/>
        </p:nvSpPr>
        <p:spPr>
          <a:xfrm>
            <a:off x="609600" y="5145024"/>
            <a:ext cx="10972800" cy="792480"/>
          </a:xfrm>
          <a:prstGeom prst="roundRect">
            <a:avLst>
              <a:gd name="adj" fmla="val 9231"/>
            </a:avLst>
          </a:prstGeom>
          <a:solidFill>
            <a:srgbClr val="355E3B"/>
          </a:solidFill>
          <a:ln/>
        </p:spPr>
        <p:txBody>
          <a:bodyPr/>
          <a:lstStyle/>
          <a:p>
            <a:endParaRPr lang="de-DE" sz="2400"/>
          </a:p>
        </p:txBody>
      </p:sp>
      <p:sp>
        <p:nvSpPr>
          <p:cNvPr id="33" name="Text 27"/>
          <p:cNvSpPr/>
          <p:nvPr/>
        </p:nvSpPr>
        <p:spPr>
          <a:xfrm>
            <a:off x="853440" y="5193792"/>
            <a:ext cx="1048512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33">
                <a:solidFill>
                  <a:srgbClr val="DCE7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Admin darf alles.  User nur eigenes Profil (lesen + </a:t>
            </a:r>
            <a:r>
              <a:rPr lang="en-US" sz="1533" err="1">
                <a:solidFill>
                  <a:srgbClr val="DCE7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löschen</a:t>
            </a:r>
            <a:r>
              <a:rPr lang="en-US" sz="1533">
                <a:solidFill>
                  <a:srgbClr val="DCE7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)</a:t>
            </a:r>
            <a:endParaRPr lang="en-US" sz="1533"/>
          </a:p>
          <a:p>
            <a:pPr algn="ctr">
              <a:lnSpc>
                <a:spcPct val="120000"/>
              </a:lnSpc>
            </a:pPr>
            <a:r>
              <a:rPr lang="en-US" sz="1533">
                <a:solidFill>
                  <a:srgbClr val="DCE7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Regel liegt zentral im authorization-service – der user-service enthält null </a:t>
            </a:r>
            <a:r>
              <a:rPr lang="en-US" sz="1533" err="1">
                <a:solidFill>
                  <a:srgbClr val="DCE7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Zeilen</a:t>
            </a:r>
            <a:r>
              <a:rPr lang="en-US" sz="1533">
                <a:solidFill>
                  <a:srgbClr val="DCE7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533" err="1">
                <a:solidFill>
                  <a:srgbClr val="DCE7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Berechtigungslogik</a:t>
            </a:r>
            <a:endParaRPr lang="en-US" sz="1533"/>
          </a:p>
        </p:txBody>
      </p:sp>
      <p:sp>
        <p:nvSpPr>
          <p:cNvPr id="34" name="Text 28"/>
          <p:cNvSpPr/>
          <p:nvPr/>
        </p:nvSpPr>
        <p:spPr>
          <a:xfrm>
            <a:off x="609600" y="6315456"/>
            <a:ext cx="243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>
                <a:solidFill>
                  <a:srgbClr val="8A8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16.07.2026</a:t>
            </a:r>
            <a:endParaRPr lang="en-US" sz="1200"/>
          </a:p>
        </p:txBody>
      </p:sp>
      <p:sp>
        <p:nvSpPr>
          <p:cNvPr id="35" name="Text 29"/>
          <p:cNvSpPr/>
          <p:nvPr/>
        </p:nvSpPr>
        <p:spPr>
          <a:xfrm>
            <a:off x="3657600" y="6315456"/>
            <a:ext cx="487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>
                <a:solidFill>
                  <a:srgbClr val="8A8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Bekir, Avid, Alex, Darian, Lara P., Sheila</a:t>
            </a:r>
            <a:endParaRPr lang="en-US" sz="1200"/>
          </a:p>
        </p:txBody>
      </p:sp>
      <p:sp>
        <p:nvSpPr>
          <p:cNvPr id="36" name="Text 30"/>
          <p:cNvSpPr/>
          <p:nvPr/>
        </p:nvSpPr>
        <p:spPr>
          <a:xfrm>
            <a:off x="11216640" y="6315456"/>
            <a:ext cx="60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1200">
                <a:solidFill>
                  <a:srgbClr val="E8985E"/>
                </a:solidFill>
                <a:latin typeface="Segoe UI" pitchFamily="34" charset="0"/>
                <a:cs typeface="Segoe UI" pitchFamily="34" charset="-120"/>
              </a:rPr>
              <a:t>22</a:t>
            </a:r>
            <a:endParaRPr lang="en-US" sz="1200"/>
          </a:p>
        </p:txBody>
      </p:sp>
      <p:sp>
        <p:nvSpPr>
          <p:cNvPr id="900" name="Accent900"/>
          <p:cNvSpPr/>
          <p:nvPr/>
        </p:nvSpPr>
        <p:spPr>
          <a:xfrm>
            <a:off x="365760" y="365760"/>
            <a:ext cx="60960" cy="999744"/>
          </a:xfrm>
          <a:prstGeom prst="roundRect">
            <a:avLst>
              <a:gd name="adj" fmla="val 50000"/>
            </a:avLst>
          </a:prstGeom>
          <a:solidFill>
            <a:srgbClr val="E8985E"/>
          </a:solidFill>
          <a:ln>
            <a:noFill/>
          </a:ln>
        </p:spPr>
        <p:txBody>
          <a:bodyPr/>
          <a:lstStyle/>
          <a:p>
            <a:endParaRPr lang="de-DE" sz="2400"/>
          </a:p>
        </p:txBody>
      </p:sp>
      <p:sp>
        <p:nvSpPr>
          <p:cNvPr id="920" name="Accent920"/>
          <p:cNvSpPr/>
          <p:nvPr/>
        </p:nvSpPr>
        <p:spPr>
          <a:xfrm>
            <a:off x="609600" y="1548384"/>
            <a:ext cx="73152" cy="670560"/>
          </a:xfrm>
          <a:prstGeom prst="roundRect">
            <a:avLst>
              <a:gd name="adj" fmla="val 45000"/>
            </a:avLst>
          </a:prstGeom>
          <a:solidFill>
            <a:srgbClr val="E8985E"/>
          </a:solidFill>
          <a:ln>
            <a:noFill/>
          </a:ln>
        </p:spPr>
        <p:txBody>
          <a:bodyPr/>
          <a:lstStyle/>
          <a:p>
            <a:endParaRPr lang="de-DE" sz="2400"/>
          </a:p>
        </p:txBody>
      </p:sp>
      <p:sp>
        <p:nvSpPr>
          <p:cNvPr id="921" name="Accent921"/>
          <p:cNvSpPr/>
          <p:nvPr/>
        </p:nvSpPr>
        <p:spPr>
          <a:xfrm>
            <a:off x="609600" y="2438400"/>
            <a:ext cx="73152" cy="670560"/>
          </a:xfrm>
          <a:prstGeom prst="roundRect">
            <a:avLst>
              <a:gd name="adj" fmla="val 45000"/>
            </a:avLst>
          </a:prstGeom>
          <a:solidFill>
            <a:srgbClr val="E8985E"/>
          </a:solidFill>
          <a:ln>
            <a:noFill/>
          </a:ln>
        </p:spPr>
        <p:txBody>
          <a:bodyPr/>
          <a:lstStyle/>
          <a:p>
            <a:endParaRPr lang="de-DE" sz="2400"/>
          </a:p>
        </p:txBody>
      </p:sp>
      <p:sp>
        <p:nvSpPr>
          <p:cNvPr id="922" name="Accent922"/>
          <p:cNvSpPr/>
          <p:nvPr/>
        </p:nvSpPr>
        <p:spPr>
          <a:xfrm>
            <a:off x="609600" y="3328416"/>
            <a:ext cx="73152" cy="670560"/>
          </a:xfrm>
          <a:prstGeom prst="roundRect">
            <a:avLst>
              <a:gd name="adj" fmla="val 45000"/>
            </a:avLst>
          </a:prstGeom>
          <a:solidFill>
            <a:srgbClr val="E8985E"/>
          </a:solidFill>
          <a:ln>
            <a:noFill/>
          </a:ln>
        </p:spPr>
        <p:txBody>
          <a:bodyPr/>
          <a:lstStyle/>
          <a:p>
            <a:endParaRPr lang="de-DE" sz="2400"/>
          </a:p>
        </p:txBody>
      </p:sp>
      <p:sp>
        <p:nvSpPr>
          <p:cNvPr id="923" name="Accent923"/>
          <p:cNvSpPr/>
          <p:nvPr/>
        </p:nvSpPr>
        <p:spPr>
          <a:xfrm>
            <a:off x="609600" y="4218432"/>
            <a:ext cx="73152" cy="670560"/>
          </a:xfrm>
          <a:prstGeom prst="roundRect">
            <a:avLst>
              <a:gd name="adj" fmla="val 45000"/>
            </a:avLst>
          </a:prstGeom>
          <a:solidFill>
            <a:srgbClr val="E8985E"/>
          </a:solidFill>
          <a:ln>
            <a:noFill/>
          </a:ln>
        </p:spPr>
        <p:txBody>
          <a:bodyPr/>
          <a:lstStyle/>
          <a:p>
            <a:endParaRPr lang="de-DE" sz="2400"/>
          </a:p>
        </p:txBody>
      </p:sp>
      <p:sp>
        <p:nvSpPr>
          <p:cNvPr id="930" name="Hair930"/>
          <p:cNvSpPr/>
          <p:nvPr/>
        </p:nvSpPr>
        <p:spPr>
          <a:xfrm>
            <a:off x="609600" y="6233334"/>
            <a:ext cx="10972800" cy="12700"/>
          </a:xfrm>
          <a:prstGeom prst="rect">
            <a:avLst/>
          </a:prstGeom>
          <a:solidFill>
            <a:srgbClr val="DCE7DE"/>
          </a:solidFill>
          <a:ln>
            <a:noFill/>
          </a:ln>
        </p:spPr>
        <p:txBody>
          <a:bodyPr/>
          <a:lstStyle/>
          <a:p>
            <a:endParaRPr lang="de-DE" sz="24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65760"/>
            <a:ext cx="1097280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>
                <a:solidFill>
                  <a:srgbClr val="355E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Sicherheitsentscheidungen</a:t>
            </a:r>
            <a:endParaRPr lang="en-US" sz="3200"/>
          </a:p>
        </p:txBody>
      </p:sp>
      <p:sp>
        <p:nvSpPr>
          <p:cNvPr id="3" name="Text 1"/>
          <p:cNvSpPr/>
          <p:nvPr/>
        </p:nvSpPr>
        <p:spPr>
          <a:xfrm>
            <a:off x="633984" y="999744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i="1">
                <a:solidFill>
                  <a:srgbClr val="5D5D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Was unsere Umsetzung über die reine Anforderung hinaus absichert</a:t>
            </a:r>
            <a:endParaRPr lang="en-US" sz="1600"/>
          </a:p>
        </p:txBody>
      </p:sp>
      <p:sp>
        <p:nvSpPr>
          <p:cNvPr id="4" name="Shape 2"/>
          <p:cNvSpPr/>
          <p:nvPr/>
        </p:nvSpPr>
        <p:spPr>
          <a:xfrm>
            <a:off x="609600" y="1524000"/>
            <a:ext cx="10972800" cy="1280160"/>
          </a:xfrm>
          <a:prstGeom prst="roundRect">
            <a:avLst>
              <a:gd name="adj" fmla="val 7619"/>
            </a:avLst>
          </a:prstGeom>
          <a:solidFill>
            <a:srgbClr val="F3F6F3"/>
          </a:solidFill>
          <a:ln w="12700">
            <a:solidFill>
              <a:srgbClr val="CED2CE"/>
            </a:solidFill>
            <a:prstDash val="solid"/>
          </a:ln>
        </p:spPr>
        <p:txBody>
          <a:bodyPr/>
          <a:lstStyle/>
          <a:p>
            <a:endParaRPr lang="de-DE" sz="2400"/>
          </a:p>
        </p:txBody>
      </p:sp>
      <p:sp>
        <p:nvSpPr>
          <p:cNvPr id="5" name="Shape 3"/>
          <p:cNvSpPr/>
          <p:nvPr/>
        </p:nvSpPr>
        <p:spPr>
          <a:xfrm>
            <a:off x="914400" y="1773936"/>
            <a:ext cx="780288" cy="780288"/>
          </a:xfrm>
          <a:prstGeom prst="ellipse">
            <a:avLst/>
          </a:prstGeom>
          <a:solidFill>
            <a:srgbClr val="E8985E"/>
          </a:solidFill>
          <a:ln/>
        </p:spPr>
        <p:txBody>
          <a:bodyPr/>
          <a:lstStyle/>
          <a:p>
            <a:endParaRPr lang="de-DE" sz="240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7275" y="1976811"/>
            <a:ext cx="374539" cy="37453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89760" y="1645920"/>
            <a:ext cx="950976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355E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Self-Lockout-Schutz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889760" y="2036064"/>
            <a:ext cx="950976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0000"/>
              </a:lnSpc>
            </a:pPr>
            <a:r>
              <a:rPr lang="en-US" sz="1467" dirty="0">
                <a:solidFill>
                  <a:srgbClr val="10231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Ein Admin </a:t>
            </a:r>
            <a:r>
              <a:rPr lang="en-US" sz="1467" dirty="0" err="1">
                <a:solidFill>
                  <a:srgbClr val="10231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kann</a:t>
            </a:r>
            <a:r>
              <a:rPr lang="en-US" sz="1467" dirty="0">
                <a:solidFill>
                  <a:srgbClr val="10231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467" dirty="0" err="1">
                <a:solidFill>
                  <a:srgbClr val="10231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weder</a:t>
            </a:r>
            <a:r>
              <a:rPr lang="en-US" sz="1467" dirty="0">
                <a:solidFill>
                  <a:srgbClr val="10231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467" dirty="0" err="1">
                <a:solidFill>
                  <a:srgbClr val="10231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sich</a:t>
            </a:r>
            <a:r>
              <a:rPr lang="en-US" sz="1467" dirty="0">
                <a:solidFill>
                  <a:srgbClr val="10231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467" dirty="0" err="1">
                <a:solidFill>
                  <a:srgbClr val="10231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selbst</a:t>
            </a:r>
            <a:r>
              <a:rPr lang="en-US" sz="1467" dirty="0">
                <a:solidFill>
                  <a:srgbClr val="10231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467" dirty="0" err="1">
                <a:solidFill>
                  <a:srgbClr val="10231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löschen</a:t>
            </a:r>
            <a:r>
              <a:rPr lang="en-US" sz="1467" dirty="0">
                <a:solidFill>
                  <a:srgbClr val="10231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467" dirty="0" err="1">
                <a:solidFill>
                  <a:srgbClr val="10231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noch</a:t>
            </a:r>
            <a:r>
              <a:rPr lang="en-US" sz="1467" dirty="0">
                <a:solidFill>
                  <a:srgbClr val="10231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467" dirty="0" err="1">
                <a:solidFill>
                  <a:srgbClr val="10231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sich</a:t>
            </a:r>
            <a:r>
              <a:rPr lang="en-US" sz="1467" dirty="0">
                <a:solidFill>
                  <a:srgbClr val="10231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467" dirty="0" err="1">
                <a:solidFill>
                  <a:srgbClr val="10231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selbst</a:t>
            </a:r>
            <a:r>
              <a:rPr lang="en-US" sz="1467" dirty="0">
                <a:solidFill>
                  <a:srgbClr val="10231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467" dirty="0" err="1">
                <a:solidFill>
                  <a:srgbClr val="10231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sperren</a:t>
            </a:r>
            <a:r>
              <a:rPr lang="en-US" sz="1467" dirty="0">
                <a:solidFill>
                  <a:srgbClr val="10231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(</a:t>
            </a:r>
            <a:r>
              <a:rPr lang="en-US" sz="1467" dirty="0" err="1">
                <a:solidFill>
                  <a:srgbClr val="10231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beides</a:t>
            </a:r>
            <a:r>
              <a:rPr lang="en-US" sz="1467" dirty="0">
                <a:solidFill>
                  <a:srgbClr val="10231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467" dirty="0" err="1">
                <a:solidFill>
                  <a:srgbClr val="10231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gibt</a:t>
            </a:r>
            <a:r>
              <a:rPr lang="en-US" sz="1467" dirty="0">
                <a:solidFill>
                  <a:srgbClr val="10231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400). </a:t>
            </a:r>
            <a:r>
              <a:rPr lang="en-US" sz="1467" dirty="0" err="1">
                <a:solidFill>
                  <a:srgbClr val="10231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Verhindert</a:t>
            </a:r>
            <a:r>
              <a:rPr lang="en-US" sz="1467" dirty="0">
                <a:solidFill>
                  <a:srgbClr val="10231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</a:t>
            </a:r>
            <a:r>
              <a:rPr lang="en-US" sz="1467" dirty="0" err="1">
                <a:solidFill>
                  <a:srgbClr val="10231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dass</a:t>
            </a:r>
            <a:r>
              <a:rPr lang="en-US" sz="1467" dirty="0">
                <a:solidFill>
                  <a:srgbClr val="10231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467" dirty="0" err="1">
                <a:solidFill>
                  <a:srgbClr val="10231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sich</a:t>
            </a:r>
            <a:r>
              <a:rPr lang="en-US" sz="1467" dirty="0">
                <a:solidFill>
                  <a:srgbClr val="10231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das System </a:t>
            </a:r>
            <a:r>
              <a:rPr lang="en-US" sz="1467" dirty="0" err="1">
                <a:solidFill>
                  <a:srgbClr val="10231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ohne</a:t>
            </a:r>
            <a:r>
              <a:rPr lang="en-US" sz="1467" dirty="0">
                <a:solidFill>
                  <a:srgbClr val="10231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467" dirty="0" err="1">
                <a:solidFill>
                  <a:srgbClr val="10231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handlungsfähigen</a:t>
            </a:r>
            <a:r>
              <a:rPr lang="en-US" sz="1467" dirty="0">
                <a:solidFill>
                  <a:srgbClr val="10231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Admin-Account </a:t>
            </a:r>
            <a:r>
              <a:rPr lang="en-US" sz="1467" dirty="0" err="1">
                <a:solidFill>
                  <a:srgbClr val="10231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wiederfindet</a:t>
            </a:r>
            <a:r>
              <a:rPr lang="en-US" sz="1467" dirty="0">
                <a:solidFill>
                  <a:srgbClr val="10231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467" dirty="0"/>
          </a:p>
        </p:txBody>
      </p:sp>
      <p:sp>
        <p:nvSpPr>
          <p:cNvPr id="9" name="Shape 6"/>
          <p:cNvSpPr/>
          <p:nvPr/>
        </p:nvSpPr>
        <p:spPr>
          <a:xfrm>
            <a:off x="609600" y="2950464"/>
            <a:ext cx="10972800" cy="1280160"/>
          </a:xfrm>
          <a:prstGeom prst="roundRect">
            <a:avLst>
              <a:gd name="adj" fmla="val 7619"/>
            </a:avLst>
          </a:prstGeom>
          <a:solidFill>
            <a:srgbClr val="F3F6F3"/>
          </a:solidFill>
          <a:ln w="12700">
            <a:solidFill>
              <a:srgbClr val="CED2CE"/>
            </a:solidFill>
            <a:prstDash val="solid"/>
          </a:ln>
        </p:spPr>
        <p:txBody>
          <a:bodyPr/>
          <a:lstStyle/>
          <a:p>
            <a:endParaRPr lang="de-DE" sz="2400"/>
          </a:p>
        </p:txBody>
      </p:sp>
      <p:sp>
        <p:nvSpPr>
          <p:cNvPr id="10" name="Shape 7"/>
          <p:cNvSpPr/>
          <p:nvPr/>
        </p:nvSpPr>
        <p:spPr>
          <a:xfrm>
            <a:off x="914400" y="3200400"/>
            <a:ext cx="780288" cy="780288"/>
          </a:xfrm>
          <a:prstGeom prst="ellipse">
            <a:avLst/>
          </a:prstGeom>
          <a:solidFill>
            <a:srgbClr val="E8985E"/>
          </a:solidFill>
          <a:ln/>
        </p:spPr>
        <p:txBody>
          <a:bodyPr/>
          <a:lstStyle/>
          <a:p>
            <a:endParaRPr lang="de-DE" sz="240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7275" y="3403275"/>
            <a:ext cx="374539" cy="37453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89760" y="3072384"/>
            <a:ext cx="950976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>
                <a:solidFill>
                  <a:srgbClr val="355E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Sperrung wirkt sofort</a:t>
            </a:r>
            <a:endParaRPr lang="en-US" sz="2000"/>
          </a:p>
        </p:txBody>
      </p:sp>
      <p:sp>
        <p:nvSpPr>
          <p:cNvPr id="13" name="Text 9"/>
          <p:cNvSpPr/>
          <p:nvPr/>
        </p:nvSpPr>
        <p:spPr>
          <a:xfrm>
            <a:off x="1889760" y="3462528"/>
            <a:ext cx="950976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0000"/>
              </a:lnSpc>
            </a:pPr>
            <a:r>
              <a:rPr lang="en-US" sz="1467">
                <a:solidFill>
                  <a:srgbClr val="10231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Das locked-Flag wird bei jedem /validate-Aufruf im auth-service live aus der Datenbank geprüft. Ein gesperrter User wird sofort bei der nächsten Anfrage </a:t>
            </a:r>
            <a:r>
              <a:rPr lang="en-US" sz="1467" err="1">
                <a:solidFill>
                  <a:srgbClr val="10231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abgewiesen</a:t>
            </a:r>
            <a:r>
              <a:rPr lang="en-US" sz="1467">
                <a:solidFill>
                  <a:srgbClr val="10231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(</a:t>
            </a:r>
            <a:r>
              <a:rPr lang="en-US" sz="1467" err="1">
                <a:solidFill>
                  <a:srgbClr val="10231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auch</a:t>
            </a:r>
            <a:r>
              <a:rPr lang="en-US" sz="1467">
                <a:solidFill>
                  <a:srgbClr val="10231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mit noch </a:t>
            </a:r>
            <a:r>
              <a:rPr lang="en-US" sz="1467" err="1">
                <a:solidFill>
                  <a:srgbClr val="10231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gültigem</a:t>
            </a:r>
            <a:r>
              <a:rPr lang="en-US" sz="1467">
                <a:solidFill>
                  <a:srgbClr val="10231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Token</a:t>
            </a:r>
            <a:endParaRPr lang="en-US" sz="1467"/>
          </a:p>
        </p:txBody>
      </p:sp>
      <p:sp>
        <p:nvSpPr>
          <p:cNvPr id="14" name="Shape 10"/>
          <p:cNvSpPr/>
          <p:nvPr/>
        </p:nvSpPr>
        <p:spPr>
          <a:xfrm>
            <a:off x="609600" y="4376928"/>
            <a:ext cx="10972800" cy="1280160"/>
          </a:xfrm>
          <a:prstGeom prst="roundRect">
            <a:avLst>
              <a:gd name="adj" fmla="val 7619"/>
            </a:avLst>
          </a:prstGeom>
          <a:solidFill>
            <a:srgbClr val="F3F6F3"/>
          </a:solidFill>
          <a:ln w="12700">
            <a:solidFill>
              <a:srgbClr val="CED2CE"/>
            </a:solidFill>
            <a:prstDash val="solid"/>
          </a:ln>
        </p:spPr>
        <p:txBody>
          <a:bodyPr/>
          <a:lstStyle/>
          <a:p>
            <a:endParaRPr lang="de-DE" sz="2400"/>
          </a:p>
        </p:txBody>
      </p:sp>
      <p:sp>
        <p:nvSpPr>
          <p:cNvPr id="15" name="Shape 11"/>
          <p:cNvSpPr/>
          <p:nvPr/>
        </p:nvSpPr>
        <p:spPr>
          <a:xfrm>
            <a:off x="914400" y="4626864"/>
            <a:ext cx="780288" cy="780288"/>
          </a:xfrm>
          <a:prstGeom prst="ellipse">
            <a:avLst/>
          </a:prstGeom>
          <a:solidFill>
            <a:srgbClr val="E8985E"/>
          </a:solidFill>
          <a:ln/>
        </p:spPr>
        <p:txBody>
          <a:bodyPr/>
          <a:lstStyle/>
          <a:p>
            <a:endParaRPr lang="de-DE" sz="240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7275" y="4829739"/>
            <a:ext cx="374539" cy="37453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89760" y="4498848"/>
            <a:ext cx="950976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>
                <a:solidFill>
                  <a:srgbClr val="355E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Löschen mit Kaskade, aber Historie bleibt</a:t>
            </a:r>
            <a:endParaRPr lang="en-US" sz="2000"/>
          </a:p>
        </p:txBody>
      </p:sp>
      <p:sp>
        <p:nvSpPr>
          <p:cNvPr id="18" name="Text 13"/>
          <p:cNvSpPr/>
          <p:nvPr/>
        </p:nvSpPr>
        <p:spPr>
          <a:xfrm>
            <a:off x="1889760" y="4888992"/>
            <a:ext cx="950976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0000"/>
              </a:lnSpc>
            </a:pPr>
            <a:r>
              <a:rPr lang="en-US" sz="1467">
                <a:solidFill>
                  <a:srgbClr val="10231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Warenkorb, Tokens, Berechtigungen und Wunschlisten werden mit dem Account gelöscht (CASCADE). Aber orders.user_id wird auf NULL </a:t>
            </a:r>
            <a:r>
              <a:rPr lang="en-US" sz="1467" err="1">
                <a:solidFill>
                  <a:srgbClr val="10231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gesetzt</a:t>
            </a:r>
            <a:r>
              <a:rPr lang="en-US" sz="1467">
                <a:solidFill>
                  <a:srgbClr val="10231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; </a:t>
            </a:r>
            <a:r>
              <a:rPr lang="en-US" sz="1467" err="1">
                <a:solidFill>
                  <a:srgbClr val="10231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Kaufhistorie</a:t>
            </a:r>
            <a:r>
              <a:rPr lang="en-US" sz="1467">
                <a:solidFill>
                  <a:srgbClr val="10231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bleibt für Auswertungen erhalten.</a:t>
            </a:r>
            <a:endParaRPr lang="en-US" sz="1467"/>
          </a:p>
        </p:txBody>
      </p:sp>
      <p:sp>
        <p:nvSpPr>
          <p:cNvPr id="20" name="Text 15"/>
          <p:cNvSpPr/>
          <p:nvPr/>
        </p:nvSpPr>
        <p:spPr>
          <a:xfrm>
            <a:off x="609600" y="6315456"/>
            <a:ext cx="243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>
                <a:solidFill>
                  <a:srgbClr val="8A8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16.07.2026</a:t>
            </a:r>
            <a:endParaRPr lang="en-US" sz="1200"/>
          </a:p>
        </p:txBody>
      </p:sp>
      <p:sp>
        <p:nvSpPr>
          <p:cNvPr id="21" name="Text 16"/>
          <p:cNvSpPr/>
          <p:nvPr/>
        </p:nvSpPr>
        <p:spPr>
          <a:xfrm>
            <a:off x="3657600" y="6315456"/>
            <a:ext cx="487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>
                <a:solidFill>
                  <a:srgbClr val="8A8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Bekir, Avid, Alex, Darian, Lara P., Sheila</a:t>
            </a:r>
            <a:endParaRPr lang="en-US" sz="1200"/>
          </a:p>
        </p:txBody>
      </p:sp>
      <p:sp>
        <p:nvSpPr>
          <p:cNvPr id="22" name="Text 17"/>
          <p:cNvSpPr/>
          <p:nvPr/>
        </p:nvSpPr>
        <p:spPr>
          <a:xfrm>
            <a:off x="11216640" y="6315456"/>
            <a:ext cx="60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1200">
                <a:solidFill>
                  <a:srgbClr val="E8985E"/>
                </a:solidFill>
                <a:latin typeface="Segoe UI" pitchFamily="34" charset="0"/>
                <a:cs typeface="Segoe UI" pitchFamily="34" charset="-120"/>
              </a:rPr>
              <a:t>24</a:t>
            </a:r>
            <a:endParaRPr lang="en-US" sz="1200"/>
          </a:p>
        </p:txBody>
      </p:sp>
      <p:sp>
        <p:nvSpPr>
          <p:cNvPr id="900" name="Accent900"/>
          <p:cNvSpPr/>
          <p:nvPr/>
        </p:nvSpPr>
        <p:spPr>
          <a:xfrm>
            <a:off x="365760" y="365760"/>
            <a:ext cx="60960" cy="999744"/>
          </a:xfrm>
          <a:prstGeom prst="roundRect">
            <a:avLst>
              <a:gd name="adj" fmla="val 50000"/>
            </a:avLst>
          </a:prstGeom>
          <a:solidFill>
            <a:srgbClr val="E8985E"/>
          </a:solidFill>
          <a:ln>
            <a:noFill/>
          </a:ln>
        </p:spPr>
        <p:txBody>
          <a:bodyPr/>
          <a:lstStyle/>
          <a:p>
            <a:endParaRPr lang="de-DE" sz="2400"/>
          </a:p>
        </p:txBody>
      </p:sp>
      <p:sp>
        <p:nvSpPr>
          <p:cNvPr id="920" name="Accent920"/>
          <p:cNvSpPr/>
          <p:nvPr/>
        </p:nvSpPr>
        <p:spPr>
          <a:xfrm>
            <a:off x="609600" y="1584960"/>
            <a:ext cx="73152" cy="1158240"/>
          </a:xfrm>
          <a:prstGeom prst="roundRect">
            <a:avLst>
              <a:gd name="adj" fmla="val 45000"/>
            </a:avLst>
          </a:prstGeom>
          <a:solidFill>
            <a:srgbClr val="E8985E"/>
          </a:solidFill>
          <a:ln>
            <a:noFill/>
          </a:ln>
        </p:spPr>
        <p:txBody>
          <a:bodyPr/>
          <a:lstStyle/>
          <a:p>
            <a:endParaRPr lang="de-DE" sz="2400"/>
          </a:p>
        </p:txBody>
      </p:sp>
      <p:sp>
        <p:nvSpPr>
          <p:cNvPr id="921" name="Accent921"/>
          <p:cNvSpPr/>
          <p:nvPr/>
        </p:nvSpPr>
        <p:spPr>
          <a:xfrm>
            <a:off x="609600" y="3011424"/>
            <a:ext cx="73152" cy="1158240"/>
          </a:xfrm>
          <a:prstGeom prst="roundRect">
            <a:avLst>
              <a:gd name="adj" fmla="val 45000"/>
            </a:avLst>
          </a:prstGeom>
          <a:solidFill>
            <a:srgbClr val="E8985E"/>
          </a:solidFill>
          <a:ln>
            <a:noFill/>
          </a:ln>
        </p:spPr>
        <p:txBody>
          <a:bodyPr/>
          <a:lstStyle/>
          <a:p>
            <a:endParaRPr lang="de-DE" sz="2400"/>
          </a:p>
        </p:txBody>
      </p:sp>
      <p:sp>
        <p:nvSpPr>
          <p:cNvPr id="922" name="Accent922"/>
          <p:cNvSpPr/>
          <p:nvPr/>
        </p:nvSpPr>
        <p:spPr>
          <a:xfrm>
            <a:off x="609600" y="4437888"/>
            <a:ext cx="73152" cy="1158240"/>
          </a:xfrm>
          <a:prstGeom prst="roundRect">
            <a:avLst>
              <a:gd name="adj" fmla="val 45000"/>
            </a:avLst>
          </a:prstGeom>
          <a:solidFill>
            <a:srgbClr val="E8985E"/>
          </a:solidFill>
          <a:ln>
            <a:noFill/>
          </a:ln>
        </p:spPr>
        <p:txBody>
          <a:bodyPr/>
          <a:lstStyle/>
          <a:p>
            <a:endParaRPr lang="de-DE" sz="2400"/>
          </a:p>
        </p:txBody>
      </p:sp>
      <p:sp>
        <p:nvSpPr>
          <p:cNvPr id="930" name="Hair930"/>
          <p:cNvSpPr/>
          <p:nvPr/>
        </p:nvSpPr>
        <p:spPr>
          <a:xfrm>
            <a:off x="609600" y="6233334"/>
            <a:ext cx="10972800" cy="12700"/>
          </a:xfrm>
          <a:prstGeom prst="rect">
            <a:avLst/>
          </a:prstGeom>
          <a:solidFill>
            <a:srgbClr val="DCE7DE"/>
          </a:solidFill>
          <a:ln>
            <a:noFill/>
          </a:ln>
        </p:spPr>
        <p:txBody>
          <a:bodyPr/>
          <a:lstStyle/>
          <a:p>
            <a:endParaRPr lang="de-DE" sz="24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22F48E5-CD53-C880-BF4B-9E3DB1C63A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30BE191D-3C27-780F-EC09-A411C0A387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DE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791CC5F-67C0-74C3-2B5A-D5E8428FAA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DE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EA72F77-67A7-277C-A00C-83D9CE624C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B809BFC-62D6-7602-FDF0-BC2287C574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978660" y="5462458"/>
            <a:ext cx="82296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4D1B7E25-1337-ACC5-6530-D9B073229E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140" y="243841"/>
            <a:ext cx="11722100" cy="3964584"/>
          </a:xfrm>
          <a:prstGeom prst="rect">
            <a:avLst/>
          </a:prstGeom>
          <a:solidFill>
            <a:schemeClr val="bg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DE"/>
          </a:p>
        </p:txBody>
      </p:sp>
      <p:pic>
        <p:nvPicPr>
          <p:cNvPr id="7" name="Grafik 6" descr="Warenkorb mit einfarbiger Füllung">
            <a:extLst>
              <a:ext uri="{FF2B5EF4-FFF2-40B4-BE49-F238E27FC236}">
                <a16:creationId xmlns:a16="http://schemas.microsoft.com/office/drawing/2014/main" id="{6880A7EA-DB1C-ED01-4844-7F14B3DFCC5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78531" y="712475"/>
            <a:ext cx="3027316" cy="3027316"/>
          </a:xfrm>
          <a:prstGeom prst="rect">
            <a:avLst/>
          </a:prstGeom>
        </p:spPr>
      </p:pic>
      <p:cxnSp>
        <p:nvCxnSpPr>
          <p:cNvPr id="9" name="Gerader Verbinder 8">
            <a:extLst>
              <a:ext uri="{FF2B5EF4-FFF2-40B4-BE49-F238E27FC236}">
                <a16:creationId xmlns:a16="http://schemas.microsoft.com/office/drawing/2014/main" id="{F3222F84-DA92-B51F-9F1D-C02FF1673951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1978660" y="5462458"/>
            <a:ext cx="836320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el 1">
            <a:extLst>
              <a:ext uri="{FF2B5EF4-FFF2-40B4-BE49-F238E27FC236}">
                <a16:creationId xmlns:a16="http://schemas.microsoft.com/office/drawing/2014/main" id="{7B91BA28-374D-F8C2-87A1-4D5318AD31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8709" y="4632960"/>
            <a:ext cx="9966960" cy="132588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85000"/>
              </a:lnSpc>
            </a:pPr>
            <a:r>
              <a:rPr lang="en-US" sz="6600" b="1" u="sng" cap="all" err="1">
                <a:solidFill>
                  <a:srgbClr val="FFFFFF"/>
                </a:solidFill>
              </a:rPr>
              <a:t>Inventar</a:t>
            </a:r>
            <a:r>
              <a:rPr lang="en-US" sz="6600" b="1" u="sng" cap="all">
                <a:solidFill>
                  <a:srgbClr val="FFFFFF"/>
                </a:solidFill>
              </a:rPr>
              <a:t> / </a:t>
            </a:r>
            <a:r>
              <a:rPr lang="en-US" sz="6600" b="1" u="sng" cap="all" err="1">
                <a:solidFill>
                  <a:srgbClr val="FFFFFF"/>
                </a:solidFill>
              </a:rPr>
              <a:t>Warenkorb</a:t>
            </a:r>
            <a:endParaRPr lang="de-DE" err="1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3853AFD6-C469-68E1-2011-E7B9B63A0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0F45F-614B-4560-8D72-E8807B240FF1}" type="datetime1">
              <a:rPr lang="de-DE" smtClean="0"/>
              <a:t>15.07.2026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FAB2D34-1DA0-ECAF-DF9A-AB31B52FB6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Bekir, Avid, Alex, Darian, Lara P., Sheila</a:t>
            </a:r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3DBF2D8-5933-40F3-595E-75BEEF414D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7EE8E-3513-4D7C-BF7B-7494C67953C0}" type="slidenum">
              <a:rPr lang="de-DE" smtClean="0"/>
              <a:t>31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9453642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1F28F50-F71B-ADBE-3A3D-6D478DAF33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0" y="495300"/>
            <a:ext cx="9875520" cy="704850"/>
          </a:xfrm>
        </p:spPr>
        <p:txBody>
          <a:bodyPr>
            <a:normAutofit/>
          </a:bodyPr>
          <a:lstStyle/>
          <a:p>
            <a:r>
              <a:rPr lang="de-DE" sz="3600"/>
              <a:t>Systemarchitektur – Inventar/Warenkorb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8A9EBF5B-A6D7-E019-336D-896995304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AC6A7-8054-433B-9DB9-A324683B3D4E}" type="datetime1">
              <a:rPr lang="de-DE" smtClean="0"/>
              <a:t>15.07.2026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93AB5807-3314-5EFF-A8D7-EA65B17F48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Bekir, Avid, Alex, Darian, Lara P., Sheila</a:t>
            </a:r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31A473F-8E2F-C108-33C0-E8899F9F2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7EE8E-3513-4D7C-BF7B-7494C67953C0}" type="slidenum">
              <a:rPr lang="de-DE" smtClean="0"/>
              <a:t>32</a:t>
            </a:fld>
            <a:endParaRPr lang="de-DE"/>
          </a:p>
        </p:txBody>
      </p:sp>
      <p:sp>
        <p:nvSpPr>
          <p:cNvPr id="8" name="Rechteck: abgerundete Ecken 7">
            <a:extLst>
              <a:ext uri="{FF2B5EF4-FFF2-40B4-BE49-F238E27FC236}">
                <a16:creationId xmlns:a16="http://schemas.microsoft.com/office/drawing/2014/main" id="{669A4D3E-3421-8C7A-8DFF-FEFE7C81C6D4}"/>
              </a:ext>
            </a:extLst>
          </p:cNvPr>
          <p:cNvSpPr/>
          <p:nvPr/>
        </p:nvSpPr>
        <p:spPr>
          <a:xfrm>
            <a:off x="1238248" y="1673294"/>
            <a:ext cx="1952625" cy="9792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Authentication-Service</a:t>
            </a:r>
          </a:p>
          <a:p>
            <a:pPr algn="ctr"/>
            <a:r>
              <a:rPr lang="de-DE"/>
              <a:t>(Port 3001)</a:t>
            </a:r>
          </a:p>
        </p:txBody>
      </p:sp>
      <p:sp>
        <p:nvSpPr>
          <p:cNvPr id="11" name="Rechteck: abgerundete Ecken 10">
            <a:extLst>
              <a:ext uri="{FF2B5EF4-FFF2-40B4-BE49-F238E27FC236}">
                <a16:creationId xmlns:a16="http://schemas.microsoft.com/office/drawing/2014/main" id="{BCD5F34C-E44F-7BFD-8A9A-A34BDB2171A6}"/>
              </a:ext>
            </a:extLst>
          </p:cNvPr>
          <p:cNvSpPr/>
          <p:nvPr/>
        </p:nvSpPr>
        <p:spPr>
          <a:xfrm>
            <a:off x="9615007" y="1581896"/>
            <a:ext cx="1951200" cy="98062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err="1"/>
              <a:t>Authorization</a:t>
            </a:r>
            <a:r>
              <a:rPr lang="de-DE"/>
              <a:t>-Service</a:t>
            </a:r>
          </a:p>
          <a:p>
            <a:pPr algn="ctr"/>
            <a:r>
              <a:rPr lang="de-DE"/>
              <a:t>(Port 3002)</a:t>
            </a:r>
          </a:p>
        </p:txBody>
      </p:sp>
      <p:sp>
        <p:nvSpPr>
          <p:cNvPr id="12" name="Rechteck: abgerundete Ecken 11">
            <a:extLst>
              <a:ext uri="{FF2B5EF4-FFF2-40B4-BE49-F238E27FC236}">
                <a16:creationId xmlns:a16="http://schemas.microsoft.com/office/drawing/2014/main" id="{3D119365-BAF4-3B35-9AF2-A95BB415BC3A}"/>
              </a:ext>
            </a:extLst>
          </p:cNvPr>
          <p:cNvSpPr/>
          <p:nvPr/>
        </p:nvSpPr>
        <p:spPr>
          <a:xfrm>
            <a:off x="1238249" y="4791373"/>
            <a:ext cx="1952625" cy="9792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PostgreSQL </a:t>
            </a:r>
            <a:br>
              <a:rPr lang="de-DE"/>
            </a:br>
            <a:r>
              <a:rPr lang="de-DE"/>
              <a:t>DB</a:t>
            </a:r>
          </a:p>
        </p:txBody>
      </p:sp>
      <p:sp>
        <p:nvSpPr>
          <p:cNvPr id="13" name="Rechteck: abgerundete Ecken 12">
            <a:extLst>
              <a:ext uri="{FF2B5EF4-FFF2-40B4-BE49-F238E27FC236}">
                <a16:creationId xmlns:a16="http://schemas.microsoft.com/office/drawing/2014/main" id="{AFB526A2-8A69-2FAF-BC9F-1FD233F29E6B}"/>
              </a:ext>
            </a:extLst>
          </p:cNvPr>
          <p:cNvSpPr/>
          <p:nvPr/>
        </p:nvSpPr>
        <p:spPr>
          <a:xfrm>
            <a:off x="9613582" y="4861451"/>
            <a:ext cx="1952625" cy="9792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Mail-Infrastruktur</a:t>
            </a:r>
          </a:p>
          <a:p>
            <a:pPr algn="ctr"/>
            <a:r>
              <a:rPr lang="de-DE"/>
              <a:t>(</a:t>
            </a:r>
            <a:r>
              <a:rPr lang="de-DE" err="1"/>
              <a:t>Mailplit</a:t>
            </a:r>
            <a:r>
              <a:rPr lang="de-DE"/>
              <a:t>)</a:t>
            </a:r>
          </a:p>
        </p:txBody>
      </p:sp>
      <p:grpSp>
        <p:nvGrpSpPr>
          <p:cNvPr id="35" name="Gruppieren 34">
            <a:extLst>
              <a:ext uri="{FF2B5EF4-FFF2-40B4-BE49-F238E27FC236}">
                <a16:creationId xmlns:a16="http://schemas.microsoft.com/office/drawing/2014/main" id="{589AD332-5A4A-AE48-D6BF-147D2B225144}"/>
              </a:ext>
            </a:extLst>
          </p:cNvPr>
          <p:cNvGrpSpPr/>
          <p:nvPr/>
        </p:nvGrpSpPr>
        <p:grpSpPr>
          <a:xfrm>
            <a:off x="2359922" y="2072210"/>
            <a:ext cx="7896225" cy="3278841"/>
            <a:chOff x="2359922" y="2072210"/>
            <a:chExt cx="7896225" cy="3278841"/>
          </a:xfrm>
        </p:grpSpPr>
        <p:sp>
          <p:nvSpPr>
            <p:cNvPr id="7" name="Rechteck: abgerundete Ecken 6">
              <a:extLst>
                <a:ext uri="{FF2B5EF4-FFF2-40B4-BE49-F238E27FC236}">
                  <a16:creationId xmlns:a16="http://schemas.microsoft.com/office/drawing/2014/main" id="{358C5933-8967-86DA-1A5F-1198F0D92BDC}"/>
                </a:ext>
              </a:extLst>
            </p:cNvPr>
            <p:cNvSpPr/>
            <p:nvPr/>
          </p:nvSpPr>
          <p:spPr>
            <a:xfrm>
              <a:off x="2359922" y="3429000"/>
              <a:ext cx="7896225" cy="889229"/>
            </a:xfrm>
            <a:prstGeom prst="roundRect">
              <a:avLst>
                <a:gd name="adj" fmla="val 37019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de-DE" sz="2400" err="1"/>
                <a:t>Inventory</a:t>
              </a:r>
              <a:r>
                <a:rPr lang="de-DE" sz="2400"/>
                <a:t> – Service</a:t>
              </a:r>
            </a:p>
            <a:p>
              <a:pPr algn="ctr"/>
              <a:r>
                <a:rPr lang="de-DE" sz="2400"/>
                <a:t>(Port 3003) </a:t>
              </a:r>
            </a:p>
          </p:txBody>
        </p:sp>
        <p:cxnSp>
          <p:nvCxnSpPr>
            <p:cNvPr id="17" name="Verbinder: gewinkelt 16">
              <a:extLst>
                <a:ext uri="{FF2B5EF4-FFF2-40B4-BE49-F238E27FC236}">
                  <a16:creationId xmlns:a16="http://schemas.microsoft.com/office/drawing/2014/main" id="{ABAABFE3-811A-925D-1A38-87164B04A4BD}"/>
                </a:ext>
              </a:extLst>
            </p:cNvPr>
            <p:cNvCxnSpPr>
              <a:cxnSpLocks/>
              <a:endCxn id="8" idx="3"/>
            </p:cNvCxnSpPr>
            <p:nvPr/>
          </p:nvCxnSpPr>
          <p:spPr>
            <a:xfrm rot="10800000">
              <a:off x="3190873" y="2162895"/>
              <a:ext cx="2019302" cy="1336189"/>
            </a:xfrm>
            <a:prstGeom prst="bentConnector3">
              <a:avLst>
                <a:gd name="adj1" fmla="val 50000"/>
              </a:avLst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Verbinder: gewinkelt 20">
              <a:extLst>
                <a:ext uri="{FF2B5EF4-FFF2-40B4-BE49-F238E27FC236}">
                  <a16:creationId xmlns:a16="http://schemas.microsoft.com/office/drawing/2014/main" id="{D2B36262-DF89-C0E1-1D76-CFF824BF937F}"/>
                </a:ext>
              </a:extLst>
            </p:cNvPr>
            <p:cNvCxnSpPr>
              <a:cxnSpLocks/>
              <a:endCxn id="11" idx="1"/>
            </p:cNvCxnSpPr>
            <p:nvPr/>
          </p:nvCxnSpPr>
          <p:spPr>
            <a:xfrm flipV="1">
              <a:off x="6896100" y="2072210"/>
              <a:ext cx="2718907" cy="1566340"/>
            </a:xfrm>
            <a:prstGeom prst="bentConnector3">
              <a:avLst>
                <a:gd name="adj1" fmla="val 50000"/>
              </a:avLst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Verbinder: gewinkelt 28">
              <a:extLst>
                <a:ext uri="{FF2B5EF4-FFF2-40B4-BE49-F238E27FC236}">
                  <a16:creationId xmlns:a16="http://schemas.microsoft.com/office/drawing/2014/main" id="{E256FEC1-0535-1217-6ECA-A7B7AA509871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3190874" y="3499085"/>
              <a:ext cx="2188370" cy="1778812"/>
            </a:xfrm>
            <a:prstGeom prst="bentConnector3">
              <a:avLst>
                <a:gd name="adj1" fmla="val 53343"/>
              </a:avLst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Verbinder: gewinkelt 31">
              <a:extLst>
                <a:ext uri="{FF2B5EF4-FFF2-40B4-BE49-F238E27FC236}">
                  <a16:creationId xmlns:a16="http://schemas.microsoft.com/office/drawing/2014/main" id="{C48BA872-198B-6503-9F29-AB5FFEA6963E}"/>
                </a:ext>
              </a:extLst>
            </p:cNvPr>
            <p:cNvCxnSpPr>
              <a:cxnSpLocks/>
              <a:endCxn id="13" idx="1"/>
            </p:cNvCxnSpPr>
            <p:nvPr/>
          </p:nvCxnSpPr>
          <p:spPr>
            <a:xfrm>
              <a:off x="5979319" y="3477696"/>
              <a:ext cx="3634263" cy="1873355"/>
            </a:xfrm>
            <a:prstGeom prst="bentConnector3">
              <a:avLst>
                <a:gd name="adj1" fmla="val 62580"/>
              </a:avLst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2" name="Textfeld 41">
            <a:extLst>
              <a:ext uri="{FF2B5EF4-FFF2-40B4-BE49-F238E27FC236}">
                <a16:creationId xmlns:a16="http://schemas.microsoft.com/office/drawing/2014/main" id="{66B5F3C1-5B60-7F4A-651F-F10B9ACC7005}"/>
              </a:ext>
            </a:extLst>
          </p:cNvPr>
          <p:cNvSpPr txBox="1"/>
          <p:nvPr/>
        </p:nvSpPr>
        <p:spPr>
          <a:xfrm>
            <a:off x="4226051" y="2612106"/>
            <a:ext cx="17532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b="1">
                <a:solidFill>
                  <a:schemeClr val="accent1"/>
                </a:solidFill>
              </a:rPr>
              <a:t>(1) POST / </a:t>
            </a:r>
            <a:r>
              <a:rPr lang="de-DE" sz="1400" b="1" err="1">
                <a:solidFill>
                  <a:schemeClr val="accent1"/>
                </a:solidFill>
              </a:rPr>
              <a:t>Validate</a:t>
            </a:r>
            <a:endParaRPr lang="de-DE" sz="1400" b="1">
              <a:solidFill>
                <a:schemeClr val="accent1"/>
              </a:solidFill>
            </a:endParaRPr>
          </a:p>
        </p:txBody>
      </p:sp>
      <p:sp>
        <p:nvSpPr>
          <p:cNvPr id="44" name="Textfeld 43">
            <a:extLst>
              <a:ext uri="{FF2B5EF4-FFF2-40B4-BE49-F238E27FC236}">
                <a16:creationId xmlns:a16="http://schemas.microsoft.com/office/drawing/2014/main" id="{47B8A71B-C7C3-4F93-D60A-1823CBDC5B6B}"/>
              </a:ext>
            </a:extLst>
          </p:cNvPr>
          <p:cNvSpPr txBox="1"/>
          <p:nvPr/>
        </p:nvSpPr>
        <p:spPr>
          <a:xfrm>
            <a:off x="8265930" y="2650942"/>
            <a:ext cx="2885122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de-DE" sz="1400" b="1" dirty="0">
                <a:solidFill>
                  <a:schemeClr val="accent1"/>
                </a:solidFill>
              </a:rPr>
              <a:t>(2) POST /</a:t>
            </a:r>
            <a:r>
              <a:rPr lang="de-DE" sz="1400" b="1" dirty="0" err="1">
                <a:solidFill>
                  <a:schemeClr val="accent1"/>
                </a:solidFill>
              </a:rPr>
              <a:t>api</a:t>
            </a:r>
            <a:r>
              <a:rPr lang="de-DE" sz="1400" b="1" dirty="0">
                <a:solidFill>
                  <a:schemeClr val="accent1"/>
                </a:solidFill>
              </a:rPr>
              <a:t>/</a:t>
            </a:r>
            <a:r>
              <a:rPr lang="de-DE" sz="1400" b="1" dirty="0" err="1">
                <a:solidFill>
                  <a:schemeClr val="accent1"/>
                </a:solidFill>
              </a:rPr>
              <a:t>authorization</a:t>
            </a:r>
            <a:r>
              <a:rPr lang="de-DE" sz="1400" b="1" dirty="0">
                <a:solidFill>
                  <a:schemeClr val="accent1"/>
                </a:solidFill>
              </a:rPr>
              <a:t>/check</a:t>
            </a:r>
          </a:p>
        </p:txBody>
      </p:sp>
      <p:sp>
        <p:nvSpPr>
          <p:cNvPr id="46" name="Textfeld 45">
            <a:extLst>
              <a:ext uri="{FF2B5EF4-FFF2-40B4-BE49-F238E27FC236}">
                <a16:creationId xmlns:a16="http://schemas.microsoft.com/office/drawing/2014/main" id="{0E410D9B-4959-D311-0F71-53B487CF434B}"/>
              </a:ext>
            </a:extLst>
          </p:cNvPr>
          <p:cNvSpPr txBox="1"/>
          <p:nvPr/>
        </p:nvSpPr>
        <p:spPr>
          <a:xfrm>
            <a:off x="4309377" y="4701986"/>
            <a:ext cx="14478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b="1">
                <a:solidFill>
                  <a:schemeClr val="accent1"/>
                </a:solidFill>
              </a:rPr>
              <a:t>(3) SQL-Zugriff</a:t>
            </a:r>
          </a:p>
        </p:txBody>
      </p:sp>
      <p:sp>
        <p:nvSpPr>
          <p:cNvPr id="48" name="Textfeld 47">
            <a:extLst>
              <a:ext uri="{FF2B5EF4-FFF2-40B4-BE49-F238E27FC236}">
                <a16:creationId xmlns:a16="http://schemas.microsoft.com/office/drawing/2014/main" id="{589C68D1-FD5A-89E1-1AD2-1D201564E14F}"/>
              </a:ext>
            </a:extLst>
          </p:cNvPr>
          <p:cNvSpPr txBox="1"/>
          <p:nvPr/>
        </p:nvSpPr>
        <p:spPr>
          <a:xfrm>
            <a:off x="8255553" y="4641244"/>
            <a:ext cx="13144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b="1" dirty="0">
                <a:solidFill>
                  <a:schemeClr val="accent1"/>
                </a:solidFill>
              </a:rPr>
              <a:t>(4) SMTP </a:t>
            </a:r>
          </a:p>
        </p:txBody>
      </p:sp>
    </p:spTree>
    <p:extLst>
      <p:ext uri="{BB962C8B-B14F-4D97-AF65-F5344CB8AC3E}">
        <p14:creationId xmlns:p14="http://schemas.microsoft.com/office/powerpoint/2010/main" val="132240112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45E4BB-622B-25F0-6CBD-6DF366F465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CB61894-DC37-CD39-81C1-C5123717C94B}"/>
              </a:ext>
            </a:extLst>
          </p:cNvPr>
          <p:cNvSpPr/>
          <p:nvPr/>
        </p:nvSpPr>
        <p:spPr>
          <a:xfrm>
            <a:off x="609600" y="365760"/>
            <a:ext cx="1097280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 err="1">
                <a:solidFill>
                  <a:srgbClr val="355E3B"/>
                </a:solidFill>
                <a:latin typeface="Segoe UI" pitchFamily="34" charset="0"/>
                <a:cs typeface="Segoe UI" pitchFamily="34" charset="-120"/>
              </a:rPr>
              <a:t>Inventarsystem</a:t>
            </a:r>
            <a:endParaRPr lang="en-US" sz="3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FF5B086-8B74-AE47-F58A-5534B21BFC4B}"/>
              </a:ext>
            </a:extLst>
          </p:cNvPr>
          <p:cNvSpPr/>
          <p:nvPr/>
        </p:nvSpPr>
        <p:spPr>
          <a:xfrm>
            <a:off x="633984" y="999744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i="1" dirty="0">
                <a:solidFill>
                  <a:srgbClr val="5D5D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Inventory-service  ·  Port 3003  ·  </a:t>
            </a:r>
            <a:r>
              <a:rPr lang="en-US" sz="1600" i="1" dirty="0" err="1">
                <a:solidFill>
                  <a:srgbClr val="5D5D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Nutzt</a:t>
            </a:r>
            <a:r>
              <a:rPr lang="en-US" sz="1600" i="1" dirty="0">
                <a:solidFill>
                  <a:srgbClr val="5D5D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das </a:t>
            </a:r>
            <a:r>
              <a:rPr lang="en-US" sz="1600" i="1" dirty="0" err="1">
                <a:solidFill>
                  <a:srgbClr val="5D5D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ebenfalls</a:t>
            </a:r>
            <a:r>
              <a:rPr lang="en-US" sz="1600" i="1" dirty="0">
                <a:solidFill>
                  <a:srgbClr val="5D5D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das </a:t>
            </a:r>
            <a:r>
              <a:rPr lang="en-US" sz="1600" i="1" dirty="0" err="1">
                <a:solidFill>
                  <a:srgbClr val="5D5D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gezeigte</a:t>
            </a:r>
            <a:r>
              <a:rPr lang="en-US" sz="1600" i="1" dirty="0">
                <a:solidFill>
                  <a:srgbClr val="5D5D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600" i="1" dirty="0" err="1">
                <a:solidFill>
                  <a:srgbClr val="5D5D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Türsteher-Prinzip</a:t>
            </a:r>
            <a:endParaRPr lang="en-US" sz="16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DD8B932E-2BBD-C0D1-D9DD-DB388B685B15}"/>
              </a:ext>
            </a:extLst>
          </p:cNvPr>
          <p:cNvSpPr/>
          <p:nvPr/>
        </p:nvSpPr>
        <p:spPr>
          <a:xfrm>
            <a:off x="609600" y="1487424"/>
            <a:ext cx="10972800" cy="792480"/>
          </a:xfrm>
          <a:prstGeom prst="roundRect">
            <a:avLst>
              <a:gd name="adj" fmla="val 9231"/>
            </a:avLst>
          </a:prstGeom>
          <a:solidFill>
            <a:srgbClr val="F3F6F3"/>
          </a:solidFill>
          <a:ln w="12700">
            <a:solidFill>
              <a:srgbClr val="CED2CE"/>
            </a:solidFill>
            <a:prstDash val="solid"/>
          </a:ln>
        </p:spPr>
        <p:txBody>
          <a:bodyPr/>
          <a:lstStyle/>
          <a:p>
            <a:endParaRPr lang="de-DE" sz="240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22D2CF6B-17CC-E082-9D07-B218410445DA}"/>
              </a:ext>
            </a:extLst>
          </p:cNvPr>
          <p:cNvSpPr/>
          <p:nvPr/>
        </p:nvSpPr>
        <p:spPr>
          <a:xfrm>
            <a:off x="877824" y="1615440"/>
            <a:ext cx="536448" cy="536448"/>
          </a:xfrm>
          <a:prstGeom prst="ellipse">
            <a:avLst/>
          </a:prstGeom>
          <a:solidFill>
            <a:srgbClr val="E8985E"/>
          </a:solidFill>
          <a:ln/>
        </p:spPr>
        <p:txBody>
          <a:bodyPr/>
          <a:lstStyle/>
          <a:p>
            <a:endParaRPr lang="de-DE" sz="2400"/>
          </a:p>
        </p:txBody>
      </p:sp>
      <p:pic>
        <p:nvPicPr>
          <p:cNvPr id="6" name="Image 0" descr="preencoded.png">
            <a:extLst>
              <a:ext uri="{FF2B5EF4-FFF2-40B4-BE49-F238E27FC236}">
                <a16:creationId xmlns:a16="http://schemas.microsoft.com/office/drawing/2014/main" id="{AB8DA53A-956E-2A75-2B02-8A1ACE0F44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301" y="1754917"/>
            <a:ext cx="257495" cy="257495"/>
          </a:xfrm>
          <a:prstGeom prst="rect">
            <a:avLst/>
          </a:prstGeom>
        </p:spPr>
      </p:pic>
      <p:sp>
        <p:nvSpPr>
          <p:cNvPr id="700" name="RowHead700">
            <a:extLst>
              <a:ext uri="{FF2B5EF4-FFF2-40B4-BE49-F238E27FC236}">
                <a16:creationId xmlns:a16="http://schemas.microsoft.com/office/drawing/2014/main" id="{6F5CB1F7-DE67-6F61-CAEB-9F394149548E}"/>
              </a:ext>
            </a:extLst>
          </p:cNvPr>
          <p:cNvSpPr/>
          <p:nvPr/>
        </p:nvSpPr>
        <p:spPr>
          <a:xfrm>
            <a:off x="1609344" y="1522205"/>
            <a:ext cx="5462016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spc="80" dirty="0">
                <a:solidFill>
                  <a:srgbClr val="E8985E"/>
                </a:solidFill>
                <a:latin typeface="Segoe UI" pitchFamily="34" charset="0"/>
                <a:cs typeface="Segoe UI" pitchFamily="34" charset="0"/>
              </a:rPr>
              <a:t>INV-1 </a:t>
            </a:r>
            <a:r>
              <a:rPr lang="en-US" sz="1867" b="1" dirty="0" err="1">
                <a:solidFill>
                  <a:srgbClr val="355E3B"/>
                </a:solidFill>
                <a:latin typeface="Segoe UI" pitchFamily="34" charset="0"/>
                <a:cs typeface="Segoe UI" pitchFamily="34" charset="0"/>
              </a:rPr>
              <a:t>Gezielte</a:t>
            </a:r>
            <a:r>
              <a:rPr lang="en-US" sz="1867" b="1" dirty="0">
                <a:solidFill>
                  <a:srgbClr val="355E3B"/>
                </a:solidFill>
                <a:latin typeface="Segoe UI" pitchFamily="34" charset="0"/>
                <a:cs typeface="Segoe UI" pitchFamily="34" charset="0"/>
              </a:rPr>
              <a:t> </a:t>
            </a:r>
            <a:r>
              <a:rPr lang="en-US" sz="1867" b="1" dirty="0" err="1">
                <a:solidFill>
                  <a:srgbClr val="355E3B"/>
                </a:solidFill>
                <a:latin typeface="Segoe UI" pitchFamily="34" charset="0"/>
                <a:cs typeface="Segoe UI" pitchFamily="34" charset="0"/>
              </a:rPr>
              <a:t>Produktsuche</a:t>
            </a:r>
            <a:endParaRPr lang="en-US" sz="1867" b="1" dirty="0">
              <a:solidFill>
                <a:srgbClr val="355E3B"/>
              </a:solidFill>
              <a:latin typeface="Segoe UI" pitchFamily="34" charset="0"/>
              <a:cs typeface="Segoe UI" pitchFamily="34" charset="0"/>
            </a:endParaRPr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0879F0A4-9F0F-AD0B-4360-313713291D40}"/>
              </a:ext>
            </a:extLst>
          </p:cNvPr>
          <p:cNvSpPr/>
          <p:nvPr/>
        </p:nvSpPr>
        <p:spPr>
          <a:xfrm>
            <a:off x="7071360" y="1584960"/>
            <a:ext cx="426720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de-DE" sz="1333" dirty="0">
                <a:solidFill>
                  <a:srgbClr val="5D5D5D"/>
                </a:solidFill>
                <a:latin typeface="Consolas" pitchFamily="34" charset="0"/>
              </a:rPr>
              <a:t>GET /</a:t>
            </a:r>
            <a:r>
              <a:rPr lang="de-DE" sz="1333" dirty="0" err="1">
                <a:solidFill>
                  <a:srgbClr val="5D5D5D"/>
                </a:solidFill>
                <a:latin typeface="Consolas" pitchFamily="34" charset="0"/>
              </a:rPr>
              <a:t>api</a:t>
            </a:r>
            <a:r>
              <a:rPr lang="de-DE" sz="1333" dirty="0">
                <a:solidFill>
                  <a:srgbClr val="5D5D5D"/>
                </a:solidFill>
                <a:latin typeface="Consolas" pitchFamily="34" charset="0"/>
              </a:rPr>
              <a:t>/</a:t>
            </a:r>
            <a:r>
              <a:rPr lang="de-DE" sz="1333" dirty="0" err="1">
                <a:solidFill>
                  <a:srgbClr val="5D5D5D"/>
                </a:solidFill>
                <a:latin typeface="Consolas" pitchFamily="34" charset="0"/>
              </a:rPr>
              <a:t>products</a:t>
            </a:r>
            <a:r>
              <a:rPr lang="de-DE" sz="1333" dirty="0">
                <a:solidFill>
                  <a:srgbClr val="5D5D5D"/>
                </a:solidFill>
                <a:latin typeface="Consolas" pitchFamily="34" charset="0"/>
              </a:rPr>
              <a:t>/:</a:t>
            </a:r>
            <a:r>
              <a:rPr lang="de-DE" sz="1333" dirty="0" err="1">
                <a:solidFill>
                  <a:srgbClr val="5D5D5D"/>
                </a:solidFill>
                <a:latin typeface="Consolas" pitchFamily="34" charset="0"/>
              </a:rPr>
              <a:t>id</a:t>
            </a:r>
            <a:endParaRPr lang="en-US" sz="1333" dirty="0">
              <a:solidFill>
                <a:srgbClr val="5D5D5D"/>
              </a:solidFill>
              <a:latin typeface="Consolas" pitchFamily="34" charset="0"/>
            </a:endParaRPr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9512C65E-3637-E86F-4438-E28156CF623D}"/>
              </a:ext>
            </a:extLst>
          </p:cNvPr>
          <p:cNvSpPr/>
          <p:nvPr/>
        </p:nvSpPr>
        <p:spPr>
          <a:xfrm>
            <a:off x="1609344" y="1817817"/>
            <a:ext cx="9753600" cy="389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10231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Admin + User: </a:t>
            </a:r>
            <a:r>
              <a:rPr lang="en-US" sz="1467" dirty="0">
                <a:solidFill>
                  <a:srgbClr val="10231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Kann </a:t>
            </a:r>
            <a:r>
              <a:rPr lang="en-US" sz="1467" dirty="0" err="1">
                <a:solidFill>
                  <a:srgbClr val="10231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Produkte</a:t>
            </a:r>
            <a:r>
              <a:rPr lang="en-US" sz="1467" dirty="0">
                <a:solidFill>
                  <a:srgbClr val="10231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Suchen</a:t>
            </a:r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06EDBD70-3B9F-31FC-8970-804E2855A924}"/>
              </a:ext>
            </a:extLst>
          </p:cNvPr>
          <p:cNvSpPr/>
          <p:nvPr/>
        </p:nvSpPr>
        <p:spPr>
          <a:xfrm>
            <a:off x="609600" y="2377440"/>
            <a:ext cx="10972800" cy="792480"/>
          </a:xfrm>
          <a:prstGeom prst="roundRect">
            <a:avLst>
              <a:gd name="adj" fmla="val 9231"/>
            </a:avLst>
          </a:prstGeom>
          <a:solidFill>
            <a:srgbClr val="F3F6F3"/>
          </a:solidFill>
          <a:ln w="12700">
            <a:solidFill>
              <a:srgbClr val="CED2CE"/>
            </a:solidFill>
            <a:prstDash val="solid"/>
          </a:ln>
        </p:spPr>
        <p:txBody>
          <a:bodyPr/>
          <a:lstStyle/>
          <a:p>
            <a:endParaRPr lang="de-DE" sz="2400"/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40B2AA2F-9AEB-91DA-8886-0F5098475DBD}"/>
              </a:ext>
            </a:extLst>
          </p:cNvPr>
          <p:cNvSpPr/>
          <p:nvPr/>
        </p:nvSpPr>
        <p:spPr>
          <a:xfrm>
            <a:off x="877824" y="2505456"/>
            <a:ext cx="536448" cy="536448"/>
          </a:xfrm>
          <a:prstGeom prst="ellipse">
            <a:avLst/>
          </a:prstGeom>
          <a:solidFill>
            <a:srgbClr val="E8985E"/>
          </a:solidFill>
          <a:ln/>
        </p:spPr>
        <p:txBody>
          <a:bodyPr/>
          <a:lstStyle/>
          <a:p>
            <a:endParaRPr lang="de-DE" sz="2400"/>
          </a:p>
        </p:txBody>
      </p:sp>
      <p:sp>
        <p:nvSpPr>
          <p:cNvPr id="701" name="RowHead701">
            <a:extLst>
              <a:ext uri="{FF2B5EF4-FFF2-40B4-BE49-F238E27FC236}">
                <a16:creationId xmlns:a16="http://schemas.microsoft.com/office/drawing/2014/main" id="{B69E9001-0ED8-60F6-EBFD-951920FBC46D}"/>
              </a:ext>
            </a:extLst>
          </p:cNvPr>
          <p:cNvSpPr/>
          <p:nvPr/>
        </p:nvSpPr>
        <p:spPr>
          <a:xfrm>
            <a:off x="1609344" y="2412221"/>
            <a:ext cx="5462016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spc="80" dirty="0">
                <a:solidFill>
                  <a:srgbClr val="E8985E"/>
                </a:solidFill>
                <a:latin typeface="Segoe UI" pitchFamily="34" charset="0"/>
                <a:cs typeface="Segoe UI" pitchFamily="34" charset="0"/>
              </a:rPr>
              <a:t>INV-2 </a:t>
            </a:r>
            <a:r>
              <a:rPr lang="en-US" sz="1867" b="1" dirty="0" err="1">
                <a:solidFill>
                  <a:srgbClr val="355E3B"/>
                </a:solidFill>
                <a:latin typeface="Segoe UI" pitchFamily="34" charset="0"/>
                <a:cs typeface="Segoe UI" pitchFamily="34" charset="0"/>
              </a:rPr>
              <a:t>Produktsuche</a:t>
            </a:r>
            <a:r>
              <a:rPr lang="en-US" sz="1867" b="1" dirty="0">
                <a:solidFill>
                  <a:srgbClr val="355E3B"/>
                </a:solidFill>
                <a:latin typeface="Segoe UI" pitchFamily="34" charset="0"/>
                <a:cs typeface="Segoe UI" pitchFamily="34" charset="0"/>
              </a:rPr>
              <a:t> </a:t>
            </a:r>
            <a:r>
              <a:rPr lang="en-US" sz="1867" b="1" dirty="0" err="1">
                <a:solidFill>
                  <a:srgbClr val="355E3B"/>
                </a:solidFill>
                <a:latin typeface="Segoe UI" pitchFamily="34" charset="0"/>
                <a:cs typeface="Segoe UI" pitchFamily="34" charset="0"/>
              </a:rPr>
              <a:t>mit</a:t>
            </a:r>
            <a:r>
              <a:rPr lang="en-US" sz="1867" b="1" dirty="0">
                <a:solidFill>
                  <a:srgbClr val="355E3B"/>
                </a:solidFill>
                <a:latin typeface="Segoe UI" pitchFamily="34" charset="0"/>
                <a:cs typeface="Segoe UI" pitchFamily="34" charset="0"/>
              </a:rPr>
              <a:t> </a:t>
            </a:r>
            <a:r>
              <a:rPr lang="en-US" sz="1867" b="1" dirty="0" err="1">
                <a:solidFill>
                  <a:srgbClr val="355E3B"/>
                </a:solidFill>
                <a:latin typeface="Segoe UI" pitchFamily="34" charset="0"/>
                <a:cs typeface="Segoe UI" pitchFamily="34" charset="0"/>
              </a:rPr>
              <a:t>Suchkriterien</a:t>
            </a:r>
            <a:endParaRPr lang="en-US" sz="1867" b="1" dirty="0">
              <a:solidFill>
                <a:srgbClr val="355E3B"/>
              </a:solidFill>
              <a:latin typeface="Segoe UI" pitchFamily="34" charset="0"/>
              <a:cs typeface="Segoe UI" pitchFamily="34" charset="0"/>
            </a:endParaRPr>
          </a:p>
        </p:txBody>
      </p:sp>
      <p:sp>
        <p:nvSpPr>
          <p:cNvPr id="16" name="Text 12">
            <a:extLst>
              <a:ext uri="{FF2B5EF4-FFF2-40B4-BE49-F238E27FC236}">
                <a16:creationId xmlns:a16="http://schemas.microsoft.com/office/drawing/2014/main" id="{852ECDBA-0597-F298-FF6E-6536D6B39E6F}"/>
              </a:ext>
            </a:extLst>
          </p:cNvPr>
          <p:cNvSpPr/>
          <p:nvPr/>
        </p:nvSpPr>
        <p:spPr>
          <a:xfrm>
            <a:off x="7071360" y="2474976"/>
            <a:ext cx="426720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333" dirty="0">
                <a:solidFill>
                  <a:srgbClr val="5D5D5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</a:t>
            </a:r>
            <a:r>
              <a:rPr lang="en-US" sz="1333" dirty="0" err="1">
                <a:solidFill>
                  <a:srgbClr val="5D5D5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</a:t>
            </a:r>
            <a:r>
              <a:rPr lang="en-US" sz="1333" dirty="0">
                <a:solidFill>
                  <a:srgbClr val="5D5D5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/products</a:t>
            </a:r>
            <a:endParaRPr lang="en-US" sz="1333" dirty="0"/>
          </a:p>
        </p:txBody>
      </p:sp>
      <p:sp>
        <p:nvSpPr>
          <p:cNvPr id="17" name="Text 13">
            <a:extLst>
              <a:ext uri="{FF2B5EF4-FFF2-40B4-BE49-F238E27FC236}">
                <a16:creationId xmlns:a16="http://schemas.microsoft.com/office/drawing/2014/main" id="{3238AC1C-112E-0971-A5E5-10A05F4666BC}"/>
              </a:ext>
            </a:extLst>
          </p:cNvPr>
          <p:cNvSpPr/>
          <p:nvPr/>
        </p:nvSpPr>
        <p:spPr>
          <a:xfrm>
            <a:off x="1609344" y="2682837"/>
            <a:ext cx="9753600" cy="438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10231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Admin + User: </a:t>
            </a:r>
            <a:r>
              <a:rPr lang="en-US" sz="1467" dirty="0" err="1">
                <a:solidFill>
                  <a:srgbClr val="10231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Können</a:t>
            </a:r>
            <a:r>
              <a:rPr lang="en-US" sz="1467" dirty="0">
                <a:solidFill>
                  <a:srgbClr val="10231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467" dirty="0" err="1">
                <a:solidFill>
                  <a:srgbClr val="10231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mit</a:t>
            </a:r>
            <a:r>
              <a:rPr lang="en-US" sz="1467" dirty="0">
                <a:solidFill>
                  <a:srgbClr val="10231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Filter Suchen</a:t>
            </a:r>
          </a:p>
        </p:txBody>
      </p:sp>
      <p:sp>
        <p:nvSpPr>
          <p:cNvPr id="18" name="Shape 14">
            <a:extLst>
              <a:ext uri="{FF2B5EF4-FFF2-40B4-BE49-F238E27FC236}">
                <a16:creationId xmlns:a16="http://schemas.microsoft.com/office/drawing/2014/main" id="{9A8F2BC3-B981-75B9-D45D-8E5A791CBE42}"/>
              </a:ext>
            </a:extLst>
          </p:cNvPr>
          <p:cNvSpPr/>
          <p:nvPr/>
        </p:nvSpPr>
        <p:spPr>
          <a:xfrm>
            <a:off x="609600" y="3267456"/>
            <a:ext cx="10972800" cy="792480"/>
          </a:xfrm>
          <a:prstGeom prst="roundRect">
            <a:avLst>
              <a:gd name="adj" fmla="val 9231"/>
            </a:avLst>
          </a:prstGeom>
          <a:solidFill>
            <a:srgbClr val="F3F6F3"/>
          </a:solidFill>
          <a:ln w="12700">
            <a:solidFill>
              <a:srgbClr val="CED2CE"/>
            </a:solidFill>
            <a:prstDash val="solid"/>
          </a:ln>
        </p:spPr>
        <p:txBody>
          <a:bodyPr/>
          <a:lstStyle/>
          <a:p>
            <a:endParaRPr lang="de-DE" sz="2400"/>
          </a:p>
        </p:txBody>
      </p:sp>
      <p:sp>
        <p:nvSpPr>
          <p:cNvPr id="19" name="Shape 15">
            <a:extLst>
              <a:ext uri="{FF2B5EF4-FFF2-40B4-BE49-F238E27FC236}">
                <a16:creationId xmlns:a16="http://schemas.microsoft.com/office/drawing/2014/main" id="{8D20B664-6A86-A308-8FB1-3E5FF49B54F8}"/>
              </a:ext>
            </a:extLst>
          </p:cNvPr>
          <p:cNvSpPr/>
          <p:nvPr/>
        </p:nvSpPr>
        <p:spPr>
          <a:xfrm>
            <a:off x="877824" y="3395472"/>
            <a:ext cx="536448" cy="536448"/>
          </a:xfrm>
          <a:prstGeom prst="ellipse">
            <a:avLst/>
          </a:prstGeom>
          <a:solidFill>
            <a:srgbClr val="E8985E"/>
          </a:solidFill>
          <a:ln/>
        </p:spPr>
        <p:txBody>
          <a:bodyPr/>
          <a:lstStyle/>
          <a:p>
            <a:endParaRPr lang="de-DE" sz="2400"/>
          </a:p>
        </p:txBody>
      </p:sp>
      <p:sp>
        <p:nvSpPr>
          <p:cNvPr id="702" name="RowHead702">
            <a:extLst>
              <a:ext uri="{FF2B5EF4-FFF2-40B4-BE49-F238E27FC236}">
                <a16:creationId xmlns:a16="http://schemas.microsoft.com/office/drawing/2014/main" id="{6216332C-4A91-624C-1CE0-2CFAF40648EC}"/>
              </a:ext>
            </a:extLst>
          </p:cNvPr>
          <p:cNvSpPr/>
          <p:nvPr/>
        </p:nvSpPr>
        <p:spPr>
          <a:xfrm>
            <a:off x="1609344" y="3302237"/>
            <a:ext cx="5462016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spc="80" dirty="0">
                <a:solidFill>
                  <a:srgbClr val="E8985E"/>
                </a:solidFill>
                <a:latin typeface="Segoe UI" pitchFamily="34" charset="0"/>
                <a:cs typeface="Segoe UI" pitchFamily="34" charset="0"/>
              </a:rPr>
              <a:t>INV-3 </a:t>
            </a:r>
            <a:r>
              <a:rPr lang="en-US" sz="1867" b="1" dirty="0" err="1">
                <a:solidFill>
                  <a:srgbClr val="355E3B"/>
                </a:solidFill>
                <a:latin typeface="Segoe UI" pitchFamily="34" charset="0"/>
                <a:cs typeface="Segoe UI" pitchFamily="34" charset="0"/>
              </a:rPr>
              <a:t>Produkte</a:t>
            </a:r>
            <a:r>
              <a:rPr lang="en-US" sz="1867" b="1" dirty="0">
                <a:solidFill>
                  <a:srgbClr val="355E3B"/>
                </a:solidFill>
                <a:latin typeface="Segoe UI" pitchFamily="34" charset="0"/>
                <a:cs typeface="Segoe UI" pitchFamily="34" charset="0"/>
              </a:rPr>
              <a:t> </a:t>
            </a:r>
            <a:r>
              <a:rPr lang="en-US" sz="1867" b="1" dirty="0" err="1">
                <a:solidFill>
                  <a:srgbClr val="355E3B"/>
                </a:solidFill>
                <a:latin typeface="Segoe UI" pitchFamily="34" charset="0"/>
                <a:cs typeface="Segoe UI" pitchFamily="34" charset="0"/>
              </a:rPr>
              <a:t>Erstellen</a:t>
            </a:r>
            <a:endParaRPr lang="en-US" sz="1867" b="1" dirty="0">
              <a:solidFill>
                <a:srgbClr val="355E3B"/>
              </a:solidFill>
              <a:latin typeface="Segoe UI" pitchFamily="34" charset="0"/>
              <a:cs typeface="Segoe UI" pitchFamily="34" charset="0"/>
            </a:endParaRPr>
          </a:p>
        </p:txBody>
      </p:sp>
      <p:sp>
        <p:nvSpPr>
          <p:cNvPr id="23" name="Text 18">
            <a:extLst>
              <a:ext uri="{FF2B5EF4-FFF2-40B4-BE49-F238E27FC236}">
                <a16:creationId xmlns:a16="http://schemas.microsoft.com/office/drawing/2014/main" id="{D8E53B29-86FA-47E4-B04E-D2C217BAF70B}"/>
              </a:ext>
            </a:extLst>
          </p:cNvPr>
          <p:cNvSpPr/>
          <p:nvPr/>
        </p:nvSpPr>
        <p:spPr>
          <a:xfrm>
            <a:off x="7071360" y="3364992"/>
            <a:ext cx="426720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333" dirty="0">
                <a:solidFill>
                  <a:srgbClr val="5D5D5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</a:t>
            </a:r>
            <a:r>
              <a:rPr lang="en-US" sz="1333" dirty="0" err="1">
                <a:solidFill>
                  <a:srgbClr val="5D5D5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</a:t>
            </a:r>
            <a:r>
              <a:rPr lang="en-US" sz="1333" dirty="0">
                <a:solidFill>
                  <a:srgbClr val="5D5D5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/products</a:t>
            </a:r>
            <a:endParaRPr lang="en-US" sz="1333" dirty="0"/>
          </a:p>
        </p:txBody>
      </p:sp>
      <p:sp>
        <p:nvSpPr>
          <p:cNvPr id="24" name="Text 19">
            <a:extLst>
              <a:ext uri="{FF2B5EF4-FFF2-40B4-BE49-F238E27FC236}">
                <a16:creationId xmlns:a16="http://schemas.microsoft.com/office/drawing/2014/main" id="{E9A80EA6-1318-C676-010B-C9E4CB4B4763}"/>
              </a:ext>
            </a:extLst>
          </p:cNvPr>
          <p:cNvSpPr/>
          <p:nvPr/>
        </p:nvSpPr>
        <p:spPr>
          <a:xfrm>
            <a:off x="1609344" y="3564725"/>
            <a:ext cx="9753600" cy="445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10231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Nur Admin</a:t>
            </a:r>
          </a:p>
          <a:p>
            <a:r>
              <a:rPr lang="en-US" sz="1467" dirty="0" err="1">
                <a:solidFill>
                  <a:srgbClr val="10231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Mindestangaben</a:t>
            </a:r>
            <a:r>
              <a:rPr lang="en-US" sz="1467" dirty="0">
                <a:solidFill>
                  <a:srgbClr val="10231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467" dirty="0" err="1">
                <a:solidFill>
                  <a:srgbClr val="10231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sind</a:t>
            </a:r>
            <a:r>
              <a:rPr lang="en-US" sz="1467" dirty="0">
                <a:solidFill>
                  <a:srgbClr val="10231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467" dirty="0" err="1">
                <a:solidFill>
                  <a:srgbClr val="10231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erforderlich</a:t>
            </a:r>
            <a:r>
              <a:rPr lang="en-US" sz="1467" dirty="0">
                <a:solidFill>
                  <a:srgbClr val="10231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(ID, Name, </a:t>
            </a:r>
            <a:r>
              <a:rPr lang="en-US" sz="1467" dirty="0" err="1">
                <a:solidFill>
                  <a:srgbClr val="10231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Beschreibung</a:t>
            </a:r>
            <a:r>
              <a:rPr lang="en-US" sz="1467" dirty="0">
                <a:solidFill>
                  <a:srgbClr val="10231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Preis, Menge) (User ERROR 403) </a:t>
            </a:r>
            <a:endParaRPr lang="en-US" sz="1467" dirty="0"/>
          </a:p>
        </p:txBody>
      </p:sp>
      <p:sp>
        <p:nvSpPr>
          <p:cNvPr id="25" name="Shape 20">
            <a:extLst>
              <a:ext uri="{FF2B5EF4-FFF2-40B4-BE49-F238E27FC236}">
                <a16:creationId xmlns:a16="http://schemas.microsoft.com/office/drawing/2014/main" id="{04DCBD62-1FB8-4839-667E-96F5B6EBB881}"/>
              </a:ext>
            </a:extLst>
          </p:cNvPr>
          <p:cNvSpPr/>
          <p:nvPr/>
        </p:nvSpPr>
        <p:spPr>
          <a:xfrm>
            <a:off x="609600" y="4157472"/>
            <a:ext cx="10972800" cy="792480"/>
          </a:xfrm>
          <a:prstGeom prst="roundRect">
            <a:avLst>
              <a:gd name="adj" fmla="val 9231"/>
            </a:avLst>
          </a:prstGeom>
          <a:solidFill>
            <a:srgbClr val="F3F6F3"/>
          </a:solidFill>
          <a:ln w="12700">
            <a:solidFill>
              <a:srgbClr val="CED2CE"/>
            </a:solidFill>
            <a:prstDash val="solid"/>
          </a:ln>
        </p:spPr>
        <p:txBody>
          <a:bodyPr/>
          <a:lstStyle/>
          <a:p>
            <a:endParaRPr lang="de-DE" sz="2400"/>
          </a:p>
        </p:txBody>
      </p:sp>
      <p:sp>
        <p:nvSpPr>
          <p:cNvPr id="26" name="Shape 21">
            <a:extLst>
              <a:ext uri="{FF2B5EF4-FFF2-40B4-BE49-F238E27FC236}">
                <a16:creationId xmlns:a16="http://schemas.microsoft.com/office/drawing/2014/main" id="{1034EDDC-79F7-D101-4B0B-24C06C3CC59F}"/>
              </a:ext>
            </a:extLst>
          </p:cNvPr>
          <p:cNvSpPr/>
          <p:nvPr/>
        </p:nvSpPr>
        <p:spPr>
          <a:xfrm>
            <a:off x="877824" y="4285488"/>
            <a:ext cx="536448" cy="536448"/>
          </a:xfrm>
          <a:prstGeom prst="ellipse">
            <a:avLst/>
          </a:prstGeom>
          <a:solidFill>
            <a:srgbClr val="E8985E"/>
          </a:solidFill>
          <a:ln/>
        </p:spPr>
        <p:txBody>
          <a:bodyPr/>
          <a:lstStyle/>
          <a:p>
            <a:endParaRPr lang="de-DE" sz="2400"/>
          </a:p>
        </p:txBody>
      </p:sp>
      <p:sp>
        <p:nvSpPr>
          <p:cNvPr id="703" name="RowHead703">
            <a:extLst>
              <a:ext uri="{FF2B5EF4-FFF2-40B4-BE49-F238E27FC236}">
                <a16:creationId xmlns:a16="http://schemas.microsoft.com/office/drawing/2014/main" id="{0978034A-67CB-E1AE-569A-A89E8C68068B}"/>
              </a:ext>
            </a:extLst>
          </p:cNvPr>
          <p:cNvSpPr/>
          <p:nvPr/>
        </p:nvSpPr>
        <p:spPr>
          <a:xfrm>
            <a:off x="1609344" y="4192253"/>
            <a:ext cx="5462016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spc="80" dirty="0">
                <a:solidFill>
                  <a:srgbClr val="E8985E"/>
                </a:solidFill>
                <a:latin typeface="Segoe UI" pitchFamily="34" charset="0"/>
                <a:cs typeface="Segoe UI" pitchFamily="34" charset="0"/>
              </a:rPr>
              <a:t>INV-4 </a:t>
            </a:r>
            <a:r>
              <a:rPr lang="en-US" sz="1867" b="1" dirty="0" err="1">
                <a:solidFill>
                  <a:srgbClr val="355E3B"/>
                </a:solidFill>
                <a:latin typeface="Segoe UI" pitchFamily="34" charset="0"/>
                <a:cs typeface="Segoe UI" pitchFamily="34" charset="0"/>
              </a:rPr>
              <a:t>Produkte</a:t>
            </a:r>
            <a:r>
              <a:rPr lang="en-US" sz="1867" b="1" dirty="0">
                <a:solidFill>
                  <a:srgbClr val="355E3B"/>
                </a:solidFill>
                <a:latin typeface="Segoe UI" pitchFamily="34" charset="0"/>
                <a:cs typeface="Segoe UI" pitchFamily="34" charset="0"/>
              </a:rPr>
              <a:t> </a:t>
            </a:r>
            <a:r>
              <a:rPr lang="en-US" sz="1867" b="1" dirty="0" err="1">
                <a:solidFill>
                  <a:srgbClr val="355E3B"/>
                </a:solidFill>
                <a:latin typeface="Segoe UI" pitchFamily="34" charset="0"/>
                <a:cs typeface="Segoe UI" pitchFamily="34" charset="0"/>
              </a:rPr>
              <a:t>Löschen</a:t>
            </a:r>
            <a:endParaRPr lang="en-US" sz="1867" b="1" dirty="0">
              <a:solidFill>
                <a:srgbClr val="355E3B"/>
              </a:solidFill>
              <a:latin typeface="Segoe UI" pitchFamily="34" charset="0"/>
              <a:cs typeface="Segoe UI" pitchFamily="34" charset="0"/>
            </a:endParaRPr>
          </a:p>
        </p:txBody>
      </p:sp>
      <p:sp>
        <p:nvSpPr>
          <p:cNvPr id="30" name="Text 24">
            <a:extLst>
              <a:ext uri="{FF2B5EF4-FFF2-40B4-BE49-F238E27FC236}">
                <a16:creationId xmlns:a16="http://schemas.microsoft.com/office/drawing/2014/main" id="{1E463413-8DB6-68A8-AAAF-AF516FCE83BA}"/>
              </a:ext>
            </a:extLst>
          </p:cNvPr>
          <p:cNvSpPr/>
          <p:nvPr/>
        </p:nvSpPr>
        <p:spPr>
          <a:xfrm>
            <a:off x="7071360" y="4255008"/>
            <a:ext cx="426720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333" dirty="0">
                <a:solidFill>
                  <a:srgbClr val="5D5D5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 /</a:t>
            </a:r>
            <a:r>
              <a:rPr lang="en-US" sz="1333" dirty="0" err="1">
                <a:solidFill>
                  <a:srgbClr val="5D5D5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</a:t>
            </a:r>
            <a:r>
              <a:rPr lang="en-US" sz="1333" dirty="0">
                <a:solidFill>
                  <a:srgbClr val="5D5D5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/products/:id</a:t>
            </a:r>
            <a:endParaRPr lang="en-US" sz="1333" dirty="0"/>
          </a:p>
        </p:txBody>
      </p:sp>
      <p:sp>
        <p:nvSpPr>
          <p:cNvPr id="31" name="Text 25">
            <a:extLst>
              <a:ext uri="{FF2B5EF4-FFF2-40B4-BE49-F238E27FC236}">
                <a16:creationId xmlns:a16="http://schemas.microsoft.com/office/drawing/2014/main" id="{8CEEDA37-538E-D323-D98F-4417FDE689EE}"/>
              </a:ext>
            </a:extLst>
          </p:cNvPr>
          <p:cNvSpPr/>
          <p:nvPr/>
        </p:nvSpPr>
        <p:spPr>
          <a:xfrm>
            <a:off x="1609344" y="4452695"/>
            <a:ext cx="9753600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10231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Nur Admin</a:t>
            </a:r>
          </a:p>
          <a:p>
            <a:r>
              <a:rPr lang="en-US" sz="1467" dirty="0" err="1">
                <a:solidFill>
                  <a:srgbClr val="10231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Löscht</a:t>
            </a:r>
            <a:r>
              <a:rPr lang="en-US" sz="1467" dirty="0">
                <a:solidFill>
                  <a:srgbClr val="10231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467" dirty="0" err="1">
                <a:solidFill>
                  <a:srgbClr val="10231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Produkt</a:t>
            </a:r>
            <a:r>
              <a:rPr lang="en-US" sz="1467" dirty="0">
                <a:solidFill>
                  <a:srgbClr val="10231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per ID </a:t>
            </a:r>
            <a:r>
              <a:rPr lang="en-US" sz="1467" dirty="0" err="1">
                <a:solidFill>
                  <a:srgbClr val="10231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aus</a:t>
            </a:r>
            <a:r>
              <a:rPr lang="en-US" sz="1467" dirty="0">
                <a:solidFill>
                  <a:srgbClr val="10231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der </a:t>
            </a:r>
            <a:r>
              <a:rPr lang="en-US" sz="1467" dirty="0" err="1">
                <a:solidFill>
                  <a:srgbClr val="10231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Datenbank</a:t>
            </a:r>
            <a:r>
              <a:rPr lang="en-US" sz="1467" dirty="0">
                <a:solidFill>
                  <a:srgbClr val="10231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(Bei User ERROR 403)</a:t>
            </a:r>
            <a:endParaRPr lang="en-US" sz="1467" dirty="0"/>
          </a:p>
        </p:txBody>
      </p:sp>
      <p:sp>
        <p:nvSpPr>
          <p:cNvPr id="34" name="Text 28">
            <a:extLst>
              <a:ext uri="{FF2B5EF4-FFF2-40B4-BE49-F238E27FC236}">
                <a16:creationId xmlns:a16="http://schemas.microsoft.com/office/drawing/2014/main" id="{D8024620-25B8-6E98-CE8A-F3C2590E288D}"/>
              </a:ext>
            </a:extLst>
          </p:cNvPr>
          <p:cNvSpPr/>
          <p:nvPr/>
        </p:nvSpPr>
        <p:spPr>
          <a:xfrm>
            <a:off x="609600" y="6315456"/>
            <a:ext cx="243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>
                <a:solidFill>
                  <a:srgbClr val="8A8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16.07.2026</a:t>
            </a:r>
            <a:endParaRPr lang="en-US" sz="1200"/>
          </a:p>
        </p:txBody>
      </p:sp>
      <p:sp>
        <p:nvSpPr>
          <p:cNvPr id="35" name="Text 29">
            <a:extLst>
              <a:ext uri="{FF2B5EF4-FFF2-40B4-BE49-F238E27FC236}">
                <a16:creationId xmlns:a16="http://schemas.microsoft.com/office/drawing/2014/main" id="{979C4848-C87B-AFCB-189E-F29063C8FAD4}"/>
              </a:ext>
            </a:extLst>
          </p:cNvPr>
          <p:cNvSpPr/>
          <p:nvPr/>
        </p:nvSpPr>
        <p:spPr>
          <a:xfrm>
            <a:off x="3657600" y="6315456"/>
            <a:ext cx="487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>
                <a:solidFill>
                  <a:srgbClr val="8A8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Bekir, Avid, Alex, Darian, Lara P., Sheila</a:t>
            </a:r>
            <a:endParaRPr lang="en-US" sz="1200"/>
          </a:p>
        </p:txBody>
      </p:sp>
      <p:sp>
        <p:nvSpPr>
          <p:cNvPr id="36" name="Text 30">
            <a:extLst>
              <a:ext uri="{FF2B5EF4-FFF2-40B4-BE49-F238E27FC236}">
                <a16:creationId xmlns:a16="http://schemas.microsoft.com/office/drawing/2014/main" id="{6F4DE35E-68D8-D893-45D8-7D0FDE911427}"/>
              </a:ext>
            </a:extLst>
          </p:cNvPr>
          <p:cNvSpPr/>
          <p:nvPr/>
        </p:nvSpPr>
        <p:spPr>
          <a:xfrm>
            <a:off x="11216640" y="6315456"/>
            <a:ext cx="60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1200">
                <a:solidFill>
                  <a:srgbClr val="E8985E"/>
                </a:solidFill>
                <a:latin typeface="Segoe UI" pitchFamily="34" charset="0"/>
                <a:cs typeface="Segoe UI" pitchFamily="34" charset="-120"/>
              </a:rPr>
              <a:t>22</a:t>
            </a:r>
            <a:endParaRPr lang="en-US" sz="1200"/>
          </a:p>
        </p:txBody>
      </p:sp>
      <p:sp>
        <p:nvSpPr>
          <p:cNvPr id="900" name="Accent900">
            <a:extLst>
              <a:ext uri="{FF2B5EF4-FFF2-40B4-BE49-F238E27FC236}">
                <a16:creationId xmlns:a16="http://schemas.microsoft.com/office/drawing/2014/main" id="{95423FE7-6B8F-FB6C-3872-6D0E285B2C6A}"/>
              </a:ext>
            </a:extLst>
          </p:cNvPr>
          <p:cNvSpPr/>
          <p:nvPr/>
        </p:nvSpPr>
        <p:spPr>
          <a:xfrm>
            <a:off x="365760" y="365760"/>
            <a:ext cx="60960" cy="999744"/>
          </a:xfrm>
          <a:prstGeom prst="roundRect">
            <a:avLst>
              <a:gd name="adj" fmla="val 50000"/>
            </a:avLst>
          </a:prstGeom>
          <a:solidFill>
            <a:srgbClr val="E8985E"/>
          </a:solidFill>
          <a:ln>
            <a:noFill/>
          </a:ln>
        </p:spPr>
        <p:txBody>
          <a:bodyPr/>
          <a:lstStyle/>
          <a:p>
            <a:endParaRPr lang="de-DE" sz="2400"/>
          </a:p>
        </p:txBody>
      </p:sp>
      <p:sp>
        <p:nvSpPr>
          <p:cNvPr id="920" name="Accent920">
            <a:extLst>
              <a:ext uri="{FF2B5EF4-FFF2-40B4-BE49-F238E27FC236}">
                <a16:creationId xmlns:a16="http://schemas.microsoft.com/office/drawing/2014/main" id="{DFE6B151-93CA-69FE-79FA-E05E62FF2965}"/>
              </a:ext>
            </a:extLst>
          </p:cNvPr>
          <p:cNvSpPr/>
          <p:nvPr/>
        </p:nvSpPr>
        <p:spPr>
          <a:xfrm>
            <a:off x="609600" y="1548384"/>
            <a:ext cx="73152" cy="670560"/>
          </a:xfrm>
          <a:prstGeom prst="roundRect">
            <a:avLst>
              <a:gd name="adj" fmla="val 45000"/>
            </a:avLst>
          </a:prstGeom>
          <a:solidFill>
            <a:srgbClr val="E8985E"/>
          </a:solidFill>
          <a:ln>
            <a:noFill/>
          </a:ln>
        </p:spPr>
        <p:txBody>
          <a:bodyPr/>
          <a:lstStyle/>
          <a:p>
            <a:endParaRPr lang="de-DE" sz="2400"/>
          </a:p>
        </p:txBody>
      </p:sp>
      <p:sp>
        <p:nvSpPr>
          <p:cNvPr id="921" name="Accent921">
            <a:extLst>
              <a:ext uri="{FF2B5EF4-FFF2-40B4-BE49-F238E27FC236}">
                <a16:creationId xmlns:a16="http://schemas.microsoft.com/office/drawing/2014/main" id="{7D076ED0-A241-A6AA-C346-391203909A50}"/>
              </a:ext>
            </a:extLst>
          </p:cNvPr>
          <p:cNvSpPr/>
          <p:nvPr/>
        </p:nvSpPr>
        <p:spPr>
          <a:xfrm>
            <a:off x="609600" y="2438400"/>
            <a:ext cx="73152" cy="670560"/>
          </a:xfrm>
          <a:prstGeom prst="roundRect">
            <a:avLst>
              <a:gd name="adj" fmla="val 45000"/>
            </a:avLst>
          </a:prstGeom>
          <a:solidFill>
            <a:srgbClr val="E8985E"/>
          </a:solidFill>
          <a:ln>
            <a:noFill/>
          </a:ln>
        </p:spPr>
        <p:txBody>
          <a:bodyPr/>
          <a:lstStyle/>
          <a:p>
            <a:endParaRPr lang="de-DE" sz="2400"/>
          </a:p>
        </p:txBody>
      </p:sp>
      <p:sp>
        <p:nvSpPr>
          <p:cNvPr id="922" name="Accent922">
            <a:extLst>
              <a:ext uri="{FF2B5EF4-FFF2-40B4-BE49-F238E27FC236}">
                <a16:creationId xmlns:a16="http://schemas.microsoft.com/office/drawing/2014/main" id="{BDDF11FC-BD4F-9D48-ADE9-9693FE7C943C}"/>
              </a:ext>
            </a:extLst>
          </p:cNvPr>
          <p:cNvSpPr/>
          <p:nvPr/>
        </p:nvSpPr>
        <p:spPr>
          <a:xfrm>
            <a:off x="609600" y="3328416"/>
            <a:ext cx="73152" cy="670560"/>
          </a:xfrm>
          <a:prstGeom prst="roundRect">
            <a:avLst>
              <a:gd name="adj" fmla="val 45000"/>
            </a:avLst>
          </a:prstGeom>
          <a:solidFill>
            <a:srgbClr val="E8985E"/>
          </a:solidFill>
          <a:ln>
            <a:noFill/>
          </a:ln>
        </p:spPr>
        <p:txBody>
          <a:bodyPr/>
          <a:lstStyle/>
          <a:p>
            <a:endParaRPr lang="de-DE" sz="2400"/>
          </a:p>
        </p:txBody>
      </p:sp>
      <p:sp>
        <p:nvSpPr>
          <p:cNvPr id="923" name="Accent923">
            <a:extLst>
              <a:ext uri="{FF2B5EF4-FFF2-40B4-BE49-F238E27FC236}">
                <a16:creationId xmlns:a16="http://schemas.microsoft.com/office/drawing/2014/main" id="{7C2F490E-0945-8F27-9415-9F7B50F5660D}"/>
              </a:ext>
            </a:extLst>
          </p:cNvPr>
          <p:cNvSpPr/>
          <p:nvPr/>
        </p:nvSpPr>
        <p:spPr>
          <a:xfrm>
            <a:off x="609600" y="4218432"/>
            <a:ext cx="73152" cy="670560"/>
          </a:xfrm>
          <a:prstGeom prst="roundRect">
            <a:avLst>
              <a:gd name="adj" fmla="val 45000"/>
            </a:avLst>
          </a:prstGeom>
          <a:solidFill>
            <a:srgbClr val="E8985E"/>
          </a:solidFill>
          <a:ln>
            <a:noFill/>
          </a:ln>
        </p:spPr>
        <p:txBody>
          <a:bodyPr/>
          <a:lstStyle/>
          <a:p>
            <a:endParaRPr lang="de-DE" sz="2400"/>
          </a:p>
        </p:txBody>
      </p:sp>
      <p:sp>
        <p:nvSpPr>
          <p:cNvPr id="930" name="Hair930">
            <a:extLst>
              <a:ext uri="{FF2B5EF4-FFF2-40B4-BE49-F238E27FC236}">
                <a16:creationId xmlns:a16="http://schemas.microsoft.com/office/drawing/2014/main" id="{D578AE0A-A4EB-D1C8-6BDA-530AC75B1943}"/>
              </a:ext>
            </a:extLst>
          </p:cNvPr>
          <p:cNvSpPr/>
          <p:nvPr/>
        </p:nvSpPr>
        <p:spPr>
          <a:xfrm>
            <a:off x="609600" y="6233334"/>
            <a:ext cx="10972800" cy="12700"/>
          </a:xfrm>
          <a:prstGeom prst="rect">
            <a:avLst/>
          </a:prstGeom>
          <a:solidFill>
            <a:srgbClr val="DCE7DE"/>
          </a:solidFill>
          <a:ln>
            <a:noFill/>
          </a:ln>
        </p:spPr>
        <p:txBody>
          <a:bodyPr/>
          <a:lstStyle/>
          <a:p>
            <a:endParaRPr lang="de-DE" sz="2400"/>
          </a:p>
        </p:txBody>
      </p:sp>
      <p:sp>
        <p:nvSpPr>
          <p:cNvPr id="8" name="Shape 20">
            <a:extLst>
              <a:ext uri="{FF2B5EF4-FFF2-40B4-BE49-F238E27FC236}">
                <a16:creationId xmlns:a16="http://schemas.microsoft.com/office/drawing/2014/main" id="{0E66EBF8-5B4E-4223-CDC7-3FBFFE8B7F6C}"/>
              </a:ext>
            </a:extLst>
          </p:cNvPr>
          <p:cNvSpPr/>
          <p:nvPr/>
        </p:nvSpPr>
        <p:spPr>
          <a:xfrm>
            <a:off x="646176" y="5082378"/>
            <a:ext cx="10972800" cy="792480"/>
          </a:xfrm>
          <a:prstGeom prst="roundRect">
            <a:avLst>
              <a:gd name="adj" fmla="val 9231"/>
            </a:avLst>
          </a:prstGeom>
          <a:solidFill>
            <a:srgbClr val="F3F6F3"/>
          </a:solidFill>
          <a:ln w="12700">
            <a:solidFill>
              <a:srgbClr val="CED2CE"/>
            </a:solidFill>
            <a:prstDash val="solid"/>
          </a:ln>
        </p:spPr>
        <p:txBody>
          <a:bodyPr/>
          <a:lstStyle/>
          <a:p>
            <a:endParaRPr lang="de-DE" sz="2400" dirty="0"/>
          </a:p>
        </p:txBody>
      </p:sp>
      <p:sp>
        <p:nvSpPr>
          <p:cNvPr id="15" name="Shape 21">
            <a:extLst>
              <a:ext uri="{FF2B5EF4-FFF2-40B4-BE49-F238E27FC236}">
                <a16:creationId xmlns:a16="http://schemas.microsoft.com/office/drawing/2014/main" id="{A94F28D1-8758-CEE7-255E-E8F9F82966AC}"/>
              </a:ext>
            </a:extLst>
          </p:cNvPr>
          <p:cNvSpPr/>
          <p:nvPr/>
        </p:nvSpPr>
        <p:spPr>
          <a:xfrm>
            <a:off x="914400" y="5239945"/>
            <a:ext cx="536448" cy="536448"/>
          </a:xfrm>
          <a:prstGeom prst="ellipse">
            <a:avLst/>
          </a:prstGeom>
          <a:solidFill>
            <a:srgbClr val="E8985E"/>
          </a:solidFill>
          <a:ln/>
        </p:spPr>
        <p:txBody>
          <a:bodyPr/>
          <a:lstStyle/>
          <a:p>
            <a:endParaRPr lang="de-DE" sz="2400"/>
          </a:p>
        </p:txBody>
      </p:sp>
      <p:sp>
        <p:nvSpPr>
          <p:cNvPr id="22" name="RowHead703">
            <a:extLst>
              <a:ext uri="{FF2B5EF4-FFF2-40B4-BE49-F238E27FC236}">
                <a16:creationId xmlns:a16="http://schemas.microsoft.com/office/drawing/2014/main" id="{7A17642B-8048-C96F-F4D3-2F53F581AC9E}"/>
              </a:ext>
            </a:extLst>
          </p:cNvPr>
          <p:cNvSpPr/>
          <p:nvPr/>
        </p:nvSpPr>
        <p:spPr>
          <a:xfrm>
            <a:off x="1645920" y="5146710"/>
            <a:ext cx="5462016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spc="80" dirty="0">
                <a:solidFill>
                  <a:srgbClr val="E8985E"/>
                </a:solidFill>
                <a:latin typeface="Segoe UI" pitchFamily="34" charset="0"/>
                <a:cs typeface="Segoe UI" pitchFamily="34" charset="0"/>
              </a:rPr>
              <a:t>INV-5 </a:t>
            </a:r>
            <a:r>
              <a:rPr lang="en-US" sz="1867" b="1" dirty="0" err="1">
                <a:solidFill>
                  <a:srgbClr val="355E3B"/>
                </a:solidFill>
                <a:latin typeface="Segoe UI" pitchFamily="34" charset="0"/>
                <a:cs typeface="Segoe UI" pitchFamily="34" charset="0"/>
              </a:rPr>
              <a:t>Produkte</a:t>
            </a:r>
            <a:r>
              <a:rPr lang="en-US" sz="1867" b="1" dirty="0">
                <a:solidFill>
                  <a:srgbClr val="355E3B"/>
                </a:solidFill>
                <a:latin typeface="Segoe UI" pitchFamily="34" charset="0"/>
                <a:cs typeface="Segoe UI" pitchFamily="34" charset="0"/>
              </a:rPr>
              <a:t> Bearbeiten</a:t>
            </a:r>
          </a:p>
        </p:txBody>
      </p:sp>
      <p:sp>
        <p:nvSpPr>
          <p:cNvPr id="29" name="Text 24">
            <a:extLst>
              <a:ext uri="{FF2B5EF4-FFF2-40B4-BE49-F238E27FC236}">
                <a16:creationId xmlns:a16="http://schemas.microsoft.com/office/drawing/2014/main" id="{79A02B73-D9E9-2800-CB60-B8A3E4840840}"/>
              </a:ext>
            </a:extLst>
          </p:cNvPr>
          <p:cNvSpPr/>
          <p:nvPr/>
        </p:nvSpPr>
        <p:spPr>
          <a:xfrm>
            <a:off x="7107936" y="5209465"/>
            <a:ext cx="426720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333" dirty="0">
                <a:solidFill>
                  <a:srgbClr val="5D5D5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PUT /</a:t>
            </a:r>
            <a:r>
              <a:rPr lang="en-US" sz="1333" dirty="0" err="1">
                <a:solidFill>
                  <a:srgbClr val="5D5D5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</a:t>
            </a:r>
            <a:r>
              <a:rPr lang="en-US" sz="1333" dirty="0">
                <a:solidFill>
                  <a:srgbClr val="5D5D5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/products/:id</a:t>
            </a:r>
            <a:endParaRPr lang="en-US" sz="1333" dirty="0"/>
          </a:p>
        </p:txBody>
      </p:sp>
      <p:sp>
        <p:nvSpPr>
          <p:cNvPr id="38" name="Text 25">
            <a:extLst>
              <a:ext uri="{FF2B5EF4-FFF2-40B4-BE49-F238E27FC236}">
                <a16:creationId xmlns:a16="http://schemas.microsoft.com/office/drawing/2014/main" id="{842EE6AB-FFBA-DCED-F92A-091F8EE6888C}"/>
              </a:ext>
            </a:extLst>
          </p:cNvPr>
          <p:cNvSpPr/>
          <p:nvPr/>
        </p:nvSpPr>
        <p:spPr>
          <a:xfrm>
            <a:off x="1645920" y="5407152"/>
            <a:ext cx="9753600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10231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Nur Admin</a:t>
            </a:r>
          </a:p>
          <a:p>
            <a:r>
              <a:rPr lang="en-US" sz="1467" dirty="0" err="1">
                <a:solidFill>
                  <a:srgbClr val="10231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Gezielte</a:t>
            </a:r>
            <a:r>
              <a:rPr lang="en-US" sz="1467" dirty="0">
                <a:solidFill>
                  <a:srgbClr val="10231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467" dirty="0" err="1">
                <a:solidFill>
                  <a:srgbClr val="10231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Änderung</a:t>
            </a:r>
            <a:r>
              <a:rPr lang="en-US" sz="1467" dirty="0">
                <a:solidFill>
                  <a:srgbClr val="10231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der Attribute per ID </a:t>
            </a:r>
            <a:endParaRPr lang="en-US" sz="1467" dirty="0"/>
          </a:p>
        </p:txBody>
      </p:sp>
      <p:sp>
        <p:nvSpPr>
          <p:cNvPr id="40" name="Accent923">
            <a:extLst>
              <a:ext uri="{FF2B5EF4-FFF2-40B4-BE49-F238E27FC236}">
                <a16:creationId xmlns:a16="http://schemas.microsoft.com/office/drawing/2014/main" id="{74DA1C12-CD66-F654-209A-3919B5700A83}"/>
              </a:ext>
            </a:extLst>
          </p:cNvPr>
          <p:cNvSpPr/>
          <p:nvPr/>
        </p:nvSpPr>
        <p:spPr>
          <a:xfrm>
            <a:off x="646176" y="5172889"/>
            <a:ext cx="73152" cy="670560"/>
          </a:xfrm>
          <a:prstGeom prst="roundRect">
            <a:avLst>
              <a:gd name="adj" fmla="val 45000"/>
            </a:avLst>
          </a:prstGeom>
          <a:solidFill>
            <a:srgbClr val="E8985E"/>
          </a:solidFill>
          <a:ln>
            <a:noFill/>
          </a:ln>
        </p:spPr>
        <p:txBody>
          <a:bodyPr/>
          <a:lstStyle/>
          <a:p>
            <a:endParaRPr lang="de-DE" sz="2400"/>
          </a:p>
        </p:txBody>
      </p:sp>
      <p:pic>
        <p:nvPicPr>
          <p:cNvPr id="48" name="Grafik 47" descr="Filter mit einfarbiger Füllung">
            <a:extLst>
              <a:ext uri="{FF2B5EF4-FFF2-40B4-BE49-F238E27FC236}">
                <a16:creationId xmlns:a16="http://schemas.microsoft.com/office/drawing/2014/main" id="{F7816B47-06AE-3E67-8A61-C70DA1D584C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88178" y="2632304"/>
            <a:ext cx="315739" cy="315739"/>
          </a:xfrm>
          <a:prstGeom prst="rect">
            <a:avLst/>
          </a:prstGeom>
        </p:spPr>
      </p:pic>
      <p:pic>
        <p:nvPicPr>
          <p:cNvPr id="50" name="Grafik 49" descr="Hinzufügen mit einfarbiger Füllung">
            <a:extLst>
              <a:ext uri="{FF2B5EF4-FFF2-40B4-BE49-F238E27FC236}">
                <a16:creationId xmlns:a16="http://schemas.microsoft.com/office/drawing/2014/main" id="{F140A1C7-F18E-F0AE-821F-918BBF82139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85687" y="3503335"/>
            <a:ext cx="320722" cy="320722"/>
          </a:xfrm>
          <a:prstGeom prst="rect">
            <a:avLst/>
          </a:prstGeom>
        </p:spPr>
      </p:pic>
      <p:pic>
        <p:nvPicPr>
          <p:cNvPr id="52" name="Grafik 51" descr="Hinzufügen mit einfarbiger Füllung">
            <a:extLst>
              <a:ext uri="{FF2B5EF4-FFF2-40B4-BE49-F238E27FC236}">
                <a16:creationId xmlns:a16="http://schemas.microsoft.com/office/drawing/2014/main" id="{FA3D3379-CA78-A632-7DB0-B74BB6B252B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8938543">
            <a:off x="985686" y="4393351"/>
            <a:ext cx="320722" cy="320722"/>
          </a:xfrm>
          <a:prstGeom prst="rect">
            <a:avLst/>
          </a:prstGeom>
        </p:spPr>
      </p:pic>
      <p:pic>
        <p:nvPicPr>
          <p:cNvPr id="54" name="Grafik 53" descr="Bleistift mit einfarbiger Füllung">
            <a:extLst>
              <a:ext uri="{FF2B5EF4-FFF2-40B4-BE49-F238E27FC236}">
                <a16:creationId xmlns:a16="http://schemas.microsoft.com/office/drawing/2014/main" id="{1EF54F1D-7A17-4A67-201D-F3C85BB7C00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7301" y="5339837"/>
            <a:ext cx="345177" cy="345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048758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9242DA-B7E1-719E-A1EC-26AE77A109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F8F84A3-2113-B508-0C09-9CAB8699B3BF}"/>
              </a:ext>
            </a:extLst>
          </p:cNvPr>
          <p:cNvSpPr/>
          <p:nvPr/>
        </p:nvSpPr>
        <p:spPr>
          <a:xfrm>
            <a:off x="609600" y="365760"/>
            <a:ext cx="1097280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 err="1">
                <a:solidFill>
                  <a:srgbClr val="355E3B"/>
                </a:solidFill>
                <a:latin typeface="Segoe UI" pitchFamily="34" charset="0"/>
                <a:cs typeface="Segoe UI" pitchFamily="34" charset="-120"/>
              </a:rPr>
              <a:t>Warenkorb</a:t>
            </a:r>
            <a:endParaRPr lang="en-US" sz="3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144D890-89EA-7D22-4D85-4D935CBA8F00}"/>
              </a:ext>
            </a:extLst>
          </p:cNvPr>
          <p:cNvSpPr/>
          <p:nvPr/>
        </p:nvSpPr>
        <p:spPr>
          <a:xfrm>
            <a:off x="633984" y="999744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i="1" dirty="0">
                <a:solidFill>
                  <a:srgbClr val="5D5D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Inventory-service  ·  Port 3003  ·  </a:t>
            </a:r>
            <a:r>
              <a:rPr lang="en-US" sz="1600" i="1" dirty="0" err="1">
                <a:solidFill>
                  <a:srgbClr val="5D5D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Nutzt</a:t>
            </a:r>
            <a:r>
              <a:rPr lang="en-US" sz="1600" i="1" dirty="0">
                <a:solidFill>
                  <a:srgbClr val="5D5D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das </a:t>
            </a:r>
            <a:r>
              <a:rPr lang="en-US" sz="1600" i="1" dirty="0" err="1">
                <a:solidFill>
                  <a:srgbClr val="5D5D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ebenfalls</a:t>
            </a:r>
            <a:r>
              <a:rPr lang="en-US" sz="1600" i="1" dirty="0">
                <a:solidFill>
                  <a:srgbClr val="5D5D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das </a:t>
            </a:r>
            <a:r>
              <a:rPr lang="en-US" sz="1600" i="1" dirty="0" err="1">
                <a:solidFill>
                  <a:srgbClr val="5D5D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gezeigte</a:t>
            </a:r>
            <a:r>
              <a:rPr lang="en-US" sz="1600" i="1" dirty="0">
                <a:solidFill>
                  <a:srgbClr val="5D5D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600" i="1" dirty="0" err="1">
                <a:solidFill>
                  <a:srgbClr val="5D5D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Türsteher-Prinzip</a:t>
            </a:r>
            <a:endParaRPr lang="en-US" sz="16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BA26A7A3-7E41-4F53-4245-BD41E5CD3DCF}"/>
              </a:ext>
            </a:extLst>
          </p:cNvPr>
          <p:cNvSpPr/>
          <p:nvPr/>
        </p:nvSpPr>
        <p:spPr>
          <a:xfrm>
            <a:off x="609600" y="1487424"/>
            <a:ext cx="10972800" cy="792480"/>
          </a:xfrm>
          <a:prstGeom prst="roundRect">
            <a:avLst>
              <a:gd name="adj" fmla="val 9231"/>
            </a:avLst>
          </a:prstGeom>
          <a:solidFill>
            <a:srgbClr val="F3F6F3"/>
          </a:solidFill>
          <a:ln w="12700">
            <a:solidFill>
              <a:srgbClr val="CED2CE"/>
            </a:solidFill>
            <a:prstDash val="solid"/>
          </a:ln>
        </p:spPr>
        <p:txBody>
          <a:bodyPr/>
          <a:lstStyle/>
          <a:p>
            <a:endParaRPr lang="de-DE" sz="240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17E5AF03-5667-17E6-1DD5-49359BB6AB51}"/>
              </a:ext>
            </a:extLst>
          </p:cNvPr>
          <p:cNvSpPr/>
          <p:nvPr/>
        </p:nvSpPr>
        <p:spPr>
          <a:xfrm>
            <a:off x="877824" y="1615440"/>
            <a:ext cx="536448" cy="536448"/>
          </a:xfrm>
          <a:prstGeom prst="ellipse">
            <a:avLst/>
          </a:prstGeom>
          <a:solidFill>
            <a:srgbClr val="E8985E"/>
          </a:solidFill>
          <a:ln/>
        </p:spPr>
        <p:txBody>
          <a:bodyPr/>
          <a:lstStyle/>
          <a:p>
            <a:endParaRPr lang="de-DE" sz="2400"/>
          </a:p>
        </p:txBody>
      </p:sp>
      <p:sp>
        <p:nvSpPr>
          <p:cNvPr id="700" name="RowHead700">
            <a:extLst>
              <a:ext uri="{FF2B5EF4-FFF2-40B4-BE49-F238E27FC236}">
                <a16:creationId xmlns:a16="http://schemas.microsoft.com/office/drawing/2014/main" id="{3B5938CB-4E41-0670-90CD-E64AFA8C799B}"/>
              </a:ext>
            </a:extLst>
          </p:cNvPr>
          <p:cNvSpPr/>
          <p:nvPr/>
        </p:nvSpPr>
        <p:spPr>
          <a:xfrm>
            <a:off x="1609344" y="1522205"/>
            <a:ext cx="5462016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spc="80" dirty="0">
                <a:solidFill>
                  <a:srgbClr val="E8985E"/>
                </a:solidFill>
                <a:latin typeface="Segoe UI" pitchFamily="34" charset="0"/>
                <a:cs typeface="Segoe UI" pitchFamily="34" charset="0"/>
              </a:rPr>
              <a:t>INV-6 </a:t>
            </a:r>
            <a:r>
              <a:rPr lang="en-US" sz="1867" b="1" spc="80" dirty="0" err="1">
                <a:solidFill>
                  <a:srgbClr val="355E3B"/>
                </a:solidFill>
                <a:latin typeface="Segoe UI" pitchFamily="34" charset="0"/>
                <a:cs typeface="Segoe UI" pitchFamily="34" charset="0"/>
              </a:rPr>
              <a:t>Warenkorb</a:t>
            </a:r>
            <a:endParaRPr lang="en-US" sz="1867" b="1" dirty="0">
              <a:solidFill>
                <a:srgbClr val="355E3B"/>
              </a:solidFill>
              <a:latin typeface="Segoe UI" pitchFamily="34" charset="0"/>
              <a:cs typeface="Segoe UI" pitchFamily="34" charset="0"/>
            </a:endParaRPr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5CA7456D-1308-FD06-5705-D3551347DF1B}"/>
              </a:ext>
            </a:extLst>
          </p:cNvPr>
          <p:cNvSpPr/>
          <p:nvPr/>
        </p:nvSpPr>
        <p:spPr>
          <a:xfrm>
            <a:off x="7071360" y="1584959"/>
            <a:ext cx="4267200" cy="6220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333" dirty="0">
                <a:solidFill>
                  <a:srgbClr val="5D5D5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333" dirty="0" err="1">
                <a:solidFill>
                  <a:srgbClr val="5D5D5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Hinzufügen</a:t>
            </a:r>
            <a:r>
              <a:rPr lang="en-US" sz="1333" dirty="0">
                <a:solidFill>
                  <a:srgbClr val="5D5D5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POST /</a:t>
            </a:r>
            <a:r>
              <a:rPr lang="en-US" sz="1333" dirty="0" err="1">
                <a:solidFill>
                  <a:srgbClr val="5D5D5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</a:t>
            </a:r>
            <a:r>
              <a:rPr lang="en-US" sz="1333" dirty="0">
                <a:solidFill>
                  <a:srgbClr val="5D5D5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/cart/items</a:t>
            </a:r>
          </a:p>
          <a:p>
            <a:pPr algn="r"/>
            <a:r>
              <a:rPr lang="en-US" sz="1333" dirty="0">
                <a:solidFill>
                  <a:srgbClr val="5D5D5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(Entfernen) DELET /</a:t>
            </a:r>
            <a:r>
              <a:rPr lang="en-US" sz="1333" dirty="0" err="1">
                <a:solidFill>
                  <a:srgbClr val="5D5D5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</a:t>
            </a:r>
            <a:r>
              <a:rPr lang="en-US" sz="1333" dirty="0">
                <a:solidFill>
                  <a:srgbClr val="5D5D5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/cart/:</a:t>
            </a:r>
            <a:r>
              <a:rPr lang="en-US" sz="1333" dirty="0" err="1">
                <a:solidFill>
                  <a:srgbClr val="5D5D5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productId</a:t>
            </a:r>
            <a:endParaRPr lang="en-US" sz="1333" dirty="0">
              <a:solidFill>
                <a:srgbClr val="5D5D5D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algn="r"/>
            <a:endParaRPr lang="en-US" sz="1333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8BC512F0-3937-6A40-BF4F-C065A1576A71}"/>
              </a:ext>
            </a:extLst>
          </p:cNvPr>
          <p:cNvSpPr/>
          <p:nvPr/>
        </p:nvSpPr>
        <p:spPr>
          <a:xfrm>
            <a:off x="1609344" y="1817817"/>
            <a:ext cx="9753600" cy="389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10231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Nur User: </a:t>
            </a:r>
            <a:r>
              <a:rPr lang="en-US" sz="1467" dirty="0" err="1">
                <a:solidFill>
                  <a:srgbClr val="102313"/>
                </a:solidFill>
                <a:latin typeface="Segoe UI" pitchFamily="34" charset="0"/>
                <a:cs typeface="Segoe UI" pitchFamily="34" charset="-120"/>
              </a:rPr>
              <a:t>Produkt</a:t>
            </a:r>
            <a:r>
              <a:rPr lang="en-US" sz="1467" dirty="0">
                <a:solidFill>
                  <a:srgbClr val="102313"/>
                </a:solidFill>
                <a:latin typeface="Segoe UI" pitchFamily="34" charset="0"/>
                <a:cs typeface="Segoe UI" pitchFamily="34" charset="-120"/>
              </a:rPr>
              <a:t> </a:t>
            </a:r>
            <a:r>
              <a:rPr lang="en-US" sz="1467" dirty="0" err="1">
                <a:solidFill>
                  <a:srgbClr val="102313"/>
                </a:solidFill>
                <a:latin typeface="Segoe UI" pitchFamily="34" charset="0"/>
                <a:cs typeface="Segoe UI" pitchFamily="34" charset="-120"/>
              </a:rPr>
              <a:t>Hinzufügen</a:t>
            </a:r>
            <a:r>
              <a:rPr lang="en-US" sz="1467" dirty="0">
                <a:solidFill>
                  <a:srgbClr val="102313"/>
                </a:solidFill>
                <a:latin typeface="Segoe UI" pitchFamily="34" charset="0"/>
                <a:cs typeface="Segoe UI" pitchFamily="34" charset="-120"/>
              </a:rPr>
              <a:t> + Entfernen</a:t>
            </a:r>
            <a:br>
              <a:rPr lang="en-US" sz="1467" b="1" dirty="0">
                <a:solidFill>
                  <a:srgbClr val="10231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</a:br>
            <a:r>
              <a:rPr lang="de-DE" sz="1467" dirty="0">
                <a:solidFill>
                  <a:srgbClr val="10231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Validierung der Menge; (400), wenn Produkt nicht verfügbar ist.</a:t>
            </a:r>
            <a:endParaRPr lang="en-US" sz="1467" dirty="0"/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39523319-D4D8-6FB1-E06E-751EF8DFB40F}"/>
              </a:ext>
            </a:extLst>
          </p:cNvPr>
          <p:cNvSpPr/>
          <p:nvPr/>
        </p:nvSpPr>
        <p:spPr>
          <a:xfrm>
            <a:off x="609600" y="2377440"/>
            <a:ext cx="10972800" cy="792480"/>
          </a:xfrm>
          <a:prstGeom prst="roundRect">
            <a:avLst>
              <a:gd name="adj" fmla="val 9231"/>
            </a:avLst>
          </a:prstGeom>
          <a:solidFill>
            <a:srgbClr val="F3F6F3"/>
          </a:solidFill>
          <a:ln w="12700">
            <a:solidFill>
              <a:srgbClr val="CED2CE"/>
            </a:solidFill>
            <a:prstDash val="solid"/>
          </a:ln>
        </p:spPr>
        <p:txBody>
          <a:bodyPr/>
          <a:lstStyle/>
          <a:p>
            <a:endParaRPr lang="de-DE" sz="2400" dirty="0"/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665EFD2B-BC5C-BF87-9FB4-CAFAF99D3F90}"/>
              </a:ext>
            </a:extLst>
          </p:cNvPr>
          <p:cNvSpPr/>
          <p:nvPr/>
        </p:nvSpPr>
        <p:spPr>
          <a:xfrm>
            <a:off x="877824" y="2505456"/>
            <a:ext cx="536448" cy="536448"/>
          </a:xfrm>
          <a:prstGeom prst="ellipse">
            <a:avLst/>
          </a:prstGeom>
          <a:solidFill>
            <a:srgbClr val="E8985E"/>
          </a:solidFill>
          <a:ln/>
        </p:spPr>
        <p:txBody>
          <a:bodyPr/>
          <a:lstStyle/>
          <a:p>
            <a:endParaRPr lang="de-DE" sz="2400"/>
          </a:p>
        </p:txBody>
      </p:sp>
      <p:sp>
        <p:nvSpPr>
          <p:cNvPr id="701" name="RowHead701">
            <a:extLst>
              <a:ext uri="{FF2B5EF4-FFF2-40B4-BE49-F238E27FC236}">
                <a16:creationId xmlns:a16="http://schemas.microsoft.com/office/drawing/2014/main" id="{AB7E8130-01F5-6CDE-AEAA-2C253EA08F4F}"/>
              </a:ext>
            </a:extLst>
          </p:cNvPr>
          <p:cNvSpPr/>
          <p:nvPr/>
        </p:nvSpPr>
        <p:spPr>
          <a:xfrm>
            <a:off x="1609344" y="2412221"/>
            <a:ext cx="5462016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spc="80" dirty="0">
                <a:solidFill>
                  <a:srgbClr val="E8985E"/>
                </a:solidFill>
                <a:latin typeface="Segoe UI" pitchFamily="34" charset="0"/>
                <a:cs typeface="Segoe UI" pitchFamily="34" charset="0"/>
              </a:rPr>
              <a:t>INV-7 </a:t>
            </a:r>
            <a:r>
              <a:rPr lang="en-US" sz="1867" b="1" dirty="0" err="1">
                <a:solidFill>
                  <a:srgbClr val="355E3B"/>
                </a:solidFill>
                <a:latin typeface="Segoe UI" pitchFamily="34" charset="0"/>
                <a:cs typeface="Segoe UI" pitchFamily="34" charset="0"/>
              </a:rPr>
              <a:t>Produkt</a:t>
            </a:r>
            <a:r>
              <a:rPr lang="en-US" sz="1867" b="1" dirty="0">
                <a:solidFill>
                  <a:srgbClr val="355E3B"/>
                </a:solidFill>
                <a:latin typeface="Segoe UI" pitchFamily="34" charset="0"/>
                <a:cs typeface="Segoe UI" pitchFamily="34" charset="0"/>
              </a:rPr>
              <a:t> </a:t>
            </a:r>
            <a:r>
              <a:rPr lang="en-US" sz="1867" b="1" dirty="0" err="1">
                <a:solidFill>
                  <a:srgbClr val="355E3B"/>
                </a:solidFill>
                <a:latin typeface="Segoe UI" pitchFamily="34" charset="0"/>
                <a:cs typeface="Segoe UI" pitchFamily="34" charset="0"/>
              </a:rPr>
              <a:t>kaufen</a:t>
            </a:r>
            <a:endParaRPr lang="en-US" sz="1867" b="1" dirty="0">
              <a:solidFill>
                <a:srgbClr val="355E3B"/>
              </a:solidFill>
              <a:latin typeface="Segoe UI" pitchFamily="34" charset="0"/>
              <a:cs typeface="Segoe UI" pitchFamily="34" charset="0"/>
            </a:endParaRPr>
          </a:p>
        </p:txBody>
      </p:sp>
      <p:sp>
        <p:nvSpPr>
          <p:cNvPr id="16" name="Text 12">
            <a:extLst>
              <a:ext uri="{FF2B5EF4-FFF2-40B4-BE49-F238E27FC236}">
                <a16:creationId xmlns:a16="http://schemas.microsoft.com/office/drawing/2014/main" id="{0A508C70-563C-6CEA-6EA4-D70E1BF19F48}"/>
              </a:ext>
            </a:extLst>
          </p:cNvPr>
          <p:cNvSpPr/>
          <p:nvPr/>
        </p:nvSpPr>
        <p:spPr>
          <a:xfrm>
            <a:off x="7071360" y="2474976"/>
            <a:ext cx="426720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333" dirty="0">
                <a:solidFill>
                  <a:srgbClr val="5D5D5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</a:t>
            </a:r>
            <a:r>
              <a:rPr lang="en-US" sz="1333" dirty="0" err="1">
                <a:solidFill>
                  <a:srgbClr val="5D5D5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</a:t>
            </a:r>
            <a:r>
              <a:rPr lang="en-US" sz="1333" dirty="0">
                <a:solidFill>
                  <a:srgbClr val="5D5D5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/cart/checkout</a:t>
            </a:r>
            <a:endParaRPr lang="en-US" sz="1333" dirty="0"/>
          </a:p>
        </p:txBody>
      </p:sp>
      <p:sp>
        <p:nvSpPr>
          <p:cNvPr id="17" name="Text 13">
            <a:extLst>
              <a:ext uri="{FF2B5EF4-FFF2-40B4-BE49-F238E27FC236}">
                <a16:creationId xmlns:a16="http://schemas.microsoft.com/office/drawing/2014/main" id="{A13AC58E-EE2F-90CF-DD74-E3A7F42E59C0}"/>
              </a:ext>
            </a:extLst>
          </p:cNvPr>
          <p:cNvSpPr/>
          <p:nvPr/>
        </p:nvSpPr>
        <p:spPr>
          <a:xfrm>
            <a:off x="1609344" y="2682837"/>
            <a:ext cx="9753600" cy="438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10231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Nur User (</a:t>
            </a:r>
            <a:r>
              <a:rPr lang="en-US" sz="1467" b="1" dirty="0" err="1">
                <a:solidFill>
                  <a:srgbClr val="10231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verifiziert</a:t>
            </a:r>
            <a:r>
              <a:rPr lang="en-US" sz="1467" b="1" dirty="0">
                <a:solidFill>
                  <a:srgbClr val="10231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): </a:t>
            </a:r>
            <a:br>
              <a:rPr lang="en-US" sz="1467" b="1" dirty="0">
                <a:solidFill>
                  <a:srgbClr val="10231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</a:br>
            <a:r>
              <a:rPr lang="de-DE" sz="1467" dirty="0">
                <a:solidFill>
                  <a:srgbClr val="102313"/>
                </a:solidFill>
                <a:latin typeface="Segoe UI" pitchFamily="34" charset="0"/>
                <a:cs typeface="Segoe UI" pitchFamily="34" charset="-120"/>
              </a:rPr>
              <a:t>Kauf triggert die Anzeige der persönlichen Einkaufshistorie</a:t>
            </a:r>
            <a:r>
              <a:rPr lang="en-US" sz="1467" dirty="0">
                <a:solidFill>
                  <a:srgbClr val="102313"/>
                </a:solidFill>
                <a:latin typeface="Segoe UI" pitchFamily="34" charset="0"/>
                <a:cs typeface="Segoe UI" pitchFamily="34" charset="-120"/>
              </a:rPr>
              <a:t> </a:t>
            </a:r>
          </a:p>
        </p:txBody>
      </p:sp>
      <p:sp>
        <p:nvSpPr>
          <p:cNvPr id="18" name="Shape 14">
            <a:extLst>
              <a:ext uri="{FF2B5EF4-FFF2-40B4-BE49-F238E27FC236}">
                <a16:creationId xmlns:a16="http://schemas.microsoft.com/office/drawing/2014/main" id="{4B7C6597-4884-5324-D1AD-4069E38E27CD}"/>
              </a:ext>
            </a:extLst>
          </p:cNvPr>
          <p:cNvSpPr/>
          <p:nvPr/>
        </p:nvSpPr>
        <p:spPr>
          <a:xfrm>
            <a:off x="633984" y="4207164"/>
            <a:ext cx="10972800" cy="792480"/>
          </a:xfrm>
          <a:prstGeom prst="roundRect">
            <a:avLst>
              <a:gd name="adj" fmla="val 9231"/>
            </a:avLst>
          </a:prstGeom>
          <a:solidFill>
            <a:srgbClr val="F3F6F3"/>
          </a:solidFill>
          <a:ln w="12700">
            <a:solidFill>
              <a:srgbClr val="CED2CE"/>
            </a:solidFill>
            <a:prstDash val="solid"/>
          </a:ln>
        </p:spPr>
        <p:txBody>
          <a:bodyPr/>
          <a:lstStyle/>
          <a:p>
            <a:endParaRPr lang="de-DE" sz="2400" dirty="0"/>
          </a:p>
        </p:txBody>
      </p:sp>
      <p:sp>
        <p:nvSpPr>
          <p:cNvPr id="19" name="Shape 15">
            <a:extLst>
              <a:ext uri="{FF2B5EF4-FFF2-40B4-BE49-F238E27FC236}">
                <a16:creationId xmlns:a16="http://schemas.microsoft.com/office/drawing/2014/main" id="{1F761069-F076-3BD8-FDBB-976863ACDED3}"/>
              </a:ext>
            </a:extLst>
          </p:cNvPr>
          <p:cNvSpPr/>
          <p:nvPr/>
        </p:nvSpPr>
        <p:spPr>
          <a:xfrm>
            <a:off x="902208" y="4335180"/>
            <a:ext cx="536448" cy="536448"/>
          </a:xfrm>
          <a:prstGeom prst="ellipse">
            <a:avLst/>
          </a:prstGeom>
          <a:solidFill>
            <a:srgbClr val="E8985E"/>
          </a:solidFill>
          <a:ln/>
        </p:spPr>
        <p:txBody>
          <a:bodyPr/>
          <a:lstStyle/>
          <a:p>
            <a:endParaRPr lang="de-DE" sz="2400"/>
          </a:p>
        </p:txBody>
      </p:sp>
      <p:sp>
        <p:nvSpPr>
          <p:cNvPr id="702" name="RowHead702">
            <a:extLst>
              <a:ext uri="{FF2B5EF4-FFF2-40B4-BE49-F238E27FC236}">
                <a16:creationId xmlns:a16="http://schemas.microsoft.com/office/drawing/2014/main" id="{A3F640A7-150A-A1BA-278C-0CAB2D51451B}"/>
              </a:ext>
            </a:extLst>
          </p:cNvPr>
          <p:cNvSpPr/>
          <p:nvPr/>
        </p:nvSpPr>
        <p:spPr>
          <a:xfrm>
            <a:off x="1633728" y="4241945"/>
            <a:ext cx="5462016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spc="80" dirty="0">
                <a:solidFill>
                  <a:srgbClr val="E8985E"/>
                </a:solidFill>
                <a:latin typeface="Segoe UI" pitchFamily="34" charset="0"/>
                <a:cs typeface="Segoe UI" pitchFamily="34" charset="0"/>
              </a:rPr>
              <a:t>INV-8 </a:t>
            </a:r>
            <a:r>
              <a:rPr lang="en-US" sz="1867" b="1" dirty="0">
                <a:solidFill>
                  <a:srgbClr val="355E3B"/>
                </a:solidFill>
                <a:latin typeface="Segoe UI" pitchFamily="34" charset="0"/>
                <a:cs typeface="Segoe UI" pitchFamily="34" charset="0"/>
              </a:rPr>
              <a:t>Einkaufsbestätigung</a:t>
            </a:r>
          </a:p>
        </p:txBody>
      </p:sp>
      <p:sp>
        <p:nvSpPr>
          <p:cNvPr id="23" name="Text 18">
            <a:extLst>
              <a:ext uri="{FF2B5EF4-FFF2-40B4-BE49-F238E27FC236}">
                <a16:creationId xmlns:a16="http://schemas.microsoft.com/office/drawing/2014/main" id="{9E474B69-B10C-668A-D1EB-3343072A4F53}"/>
              </a:ext>
            </a:extLst>
          </p:cNvPr>
          <p:cNvSpPr/>
          <p:nvPr/>
        </p:nvSpPr>
        <p:spPr>
          <a:xfrm>
            <a:off x="7071360" y="3364992"/>
            <a:ext cx="426720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endParaRPr lang="en-US" sz="1333" dirty="0"/>
          </a:p>
        </p:txBody>
      </p:sp>
      <p:sp>
        <p:nvSpPr>
          <p:cNvPr id="24" name="Text 19">
            <a:extLst>
              <a:ext uri="{FF2B5EF4-FFF2-40B4-BE49-F238E27FC236}">
                <a16:creationId xmlns:a16="http://schemas.microsoft.com/office/drawing/2014/main" id="{5E331607-F960-C251-041F-EF300CE47D84}"/>
              </a:ext>
            </a:extLst>
          </p:cNvPr>
          <p:cNvSpPr/>
          <p:nvPr/>
        </p:nvSpPr>
        <p:spPr>
          <a:xfrm>
            <a:off x="1633728" y="4504433"/>
            <a:ext cx="9753600" cy="445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10231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Nur User: </a:t>
            </a:r>
            <a:r>
              <a:rPr lang="en-US" sz="1467" dirty="0" err="1">
                <a:solidFill>
                  <a:srgbClr val="102313"/>
                </a:solidFill>
                <a:latin typeface="Segoe UI" pitchFamily="34" charset="0"/>
                <a:cs typeface="Segoe UI" pitchFamily="34" charset="-120"/>
              </a:rPr>
              <a:t>bekommt</a:t>
            </a:r>
            <a:r>
              <a:rPr lang="en-US" sz="1467" dirty="0">
                <a:solidFill>
                  <a:srgbClr val="102313"/>
                </a:solidFill>
                <a:latin typeface="Segoe UI" pitchFamily="34" charset="0"/>
                <a:cs typeface="Segoe UI" pitchFamily="34" charset="-120"/>
              </a:rPr>
              <a:t> </a:t>
            </a:r>
            <a:r>
              <a:rPr lang="en-US" sz="1467" dirty="0" err="1">
                <a:solidFill>
                  <a:srgbClr val="102313"/>
                </a:solidFill>
                <a:latin typeface="Segoe UI" pitchFamily="34" charset="0"/>
                <a:cs typeface="Segoe UI" pitchFamily="34" charset="-120"/>
              </a:rPr>
              <a:t>eine</a:t>
            </a:r>
            <a:r>
              <a:rPr lang="en-US" sz="1467" dirty="0">
                <a:solidFill>
                  <a:srgbClr val="102313"/>
                </a:solidFill>
                <a:latin typeface="Segoe UI" pitchFamily="34" charset="0"/>
                <a:cs typeface="Segoe UI" pitchFamily="34" charset="-120"/>
              </a:rPr>
              <a:t> Mail </a:t>
            </a:r>
            <a:r>
              <a:rPr lang="en-US" sz="1467" dirty="0" err="1">
                <a:solidFill>
                  <a:srgbClr val="102313"/>
                </a:solidFill>
                <a:latin typeface="Segoe UI" pitchFamily="34" charset="0"/>
                <a:cs typeface="Segoe UI" pitchFamily="34" charset="-120"/>
              </a:rPr>
              <a:t>mit</a:t>
            </a:r>
            <a:r>
              <a:rPr lang="en-US" sz="1467" dirty="0">
                <a:solidFill>
                  <a:srgbClr val="102313"/>
                </a:solidFill>
                <a:latin typeface="Segoe UI" pitchFamily="34" charset="0"/>
                <a:cs typeface="Segoe UI" pitchFamily="34" charset="-120"/>
              </a:rPr>
              <a:t> </a:t>
            </a:r>
            <a:r>
              <a:rPr lang="en-US" sz="1467" dirty="0" err="1">
                <a:solidFill>
                  <a:srgbClr val="102313"/>
                </a:solidFill>
                <a:latin typeface="Segoe UI" pitchFamily="34" charset="0"/>
                <a:cs typeface="Segoe UI" pitchFamily="34" charset="-120"/>
              </a:rPr>
              <a:t>kaufbestätigung</a:t>
            </a:r>
            <a:endParaRPr lang="en-US" sz="1467" dirty="0">
              <a:solidFill>
                <a:srgbClr val="102313"/>
              </a:solidFill>
              <a:latin typeface="Segoe UI" pitchFamily="34" charset="0"/>
              <a:cs typeface="Segoe UI" pitchFamily="34" charset="-120"/>
            </a:endParaRPr>
          </a:p>
        </p:txBody>
      </p:sp>
      <p:sp>
        <p:nvSpPr>
          <p:cNvPr id="34" name="Text 28">
            <a:extLst>
              <a:ext uri="{FF2B5EF4-FFF2-40B4-BE49-F238E27FC236}">
                <a16:creationId xmlns:a16="http://schemas.microsoft.com/office/drawing/2014/main" id="{582CEE6E-298C-E60E-B8E4-81C09380D0F5}"/>
              </a:ext>
            </a:extLst>
          </p:cNvPr>
          <p:cNvSpPr/>
          <p:nvPr/>
        </p:nvSpPr>
        <p:spPr>
          <a:xfrm>
            <a:off x="609600" y="6315456"/>
            <a:ext cx="243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>
                <a:solidFill>
                  <a:srgbClr val="8A8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16.07.2026</a:t>
            </a:r>
            <a:endParaRPr lang="en-US" sz="1200"/>
          </a:p>
        </p:txBody>
      </p:sp>
      <p:sp>
        <p:nvSpPr>
          <p:cNvPr id="35" name="Text 29">
            <a:extLst>
              <a:ext uri="{FF2B5EF4-FFF2-40B4-BE49-F238E27FC236}">
                <a16:creationId xmlns:a16="http://schemas.microsoft.com/office/drawing/2014/main" id="{BD8EDD18-BA27-4F23-B056-19F1F895D8E0}"/>
              </a:ext>
            </a:extLst>
          </p:cNvPr>
          <p:cNvSpPr/>
          <p:nvPr/>
        </p:nvSpPr>
        <p:spPr>
          <a:xfrm>
            <a:off x="3657600" y="6315456"/>
            <a:ext cx="487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>
                <a:solidFill>
                  <a:srgbClr val="8A8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Bekir, Avid, Alex, Darian, Lara P., Sheila</a:t>
            </a:r>
            <a:endParaRPr lang="en-US" sz="1200"/>
          </a:p>
        </p:txBody>
      </p:sp>
      <p:sp>
        <p:nvSpPr>
          <p:cNvPr id="36" name="Text 30">
            <a:extLst>
              <a:ext uri="{FF2B5EF4-FFF2-40B4-BE49-F238E27FC236}">
                <a16:creationId xmlns:a16="http://schemas.microsoft.com/office/drawing/2014/main" id="{B1338F8A-55F9-1A5F-82A3-193AB45EC55C}"/>
              </a:ext>
            </a:extLst>
          </p:cNvPr>
          <p:cNvSpPr/>
          <p:nvPr/>
        </p:nvSpPr>
        <p:spPr>
          <a:xfrm>
            <a:off x="11216640" y="6315456"/>
            <a:ext cx="60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1200">
                <a:solidFill>
                  <a:srgbClr val="E8985E"/>
                </a:solidFill>
                <a:latin typeface="Segoe UI" pitchFamily="34" charset="0"/>
                <a:cs typeface="Segoe UI" pitchFamily="34" charset="-120"/>
              </a:rPr>
              <a:t>22</a:t>
            </a:r>
            <a:endParaRPr lang="en-US" sz="1200"/>
          </a:p>
        </p:txBody>
      </p:sp>
      <p:sp>
        <p:nvSpPr>
          <p:cNvPr id="900" name="Accent900">
            <a:extLst>
              <a:ext uri="{FF2B5EF4-FFF2-40B4-BE49-F238E27FC236}">
                <a16:creationId xmlns:a16="http://schemas.microsoft.com/office/drawing/2014/main" id="{49D6C173-6EDE-F42F-2BE5-3ADD6E03536E}"/>
              </a:ext>
            </a:extLst>
          </p:cNvPr>
          <p:cNvSpPr/>
          <p:nvPr/>
        </p:nvSpPr>
        <p:spPr>
          <a:xfrm>
            <a:off x="365760" y="365760"/>
            <a:ext cx="60960" cy="999744"/>
          </a:xfrm>
          <a:prstGeom prst="roundRect">
            <a:avLst>
              <a:gd name="adj" fmla="val 50000"/>
            </a:avLst>
          </a:prstGeom>
          <a:solidFill>
            <a:srgbClr val="E8985E"/>
          </a:solidFill>
          <a:ln>
            <a:noFill/>
          </a:ln>
        </p:spPr>
        <p:txBody>
          <a:bodyPr/>
          <a:lstStyle/>
          <a:p>
            <a:endParaRPr lang="de-DE" sz="2400"/>
          </a:p>
        </p:txBody>
      </p:sp>
      <p:sp>
        <p:nvSpPr>
          <p:cNvPr id="920" name="Accent920">
            <a:extLst>
              <a:ext uri="{FF2B5EF4-FFF2-40B4-BE49-F238E27FC236}">
                <a16:creationId xmlns:a16="http://schemas.microsoft.com/office/drawing/2014/main" id="{88D19AB0-EB9D-DD85-9886-2A2ECD250944}"/>
              </a:ext>
            </a:extLst>
          </p:cNvPr>
          <p:cNvSpPr/>
          <p:nvPr/>
        </p:nvSpPr>
        <p:spPr>
          <a:xfrm>
            <a:off x="609600" y="1548384"/>
            <a:ext cx="73152" cy="670560"/>
          </a:xfrm>
          <a:prstGeom prst="roundRect">
            <a:avLst>
              <a:gd name="adj" fmla="val 45000"/>
            </a:avLst>
          </a:prstGeom>
          <a:solidFill>
            <a:srgbClr val="E8985E"/>
          </a:solidFill>
          <a:ln>
            <a:noFill/>
          </a:ln>
        </p:spPr>
        <p:txBody>
          <a:bodyPr/>
          <a:lstStyle/>
          <a:p>
            <a:endParaRPr lang="de-DE" sz="2400"/>
          </a:p>
        </p:txBody>
      </p:sp>
      <p:sp>
        <p:nvSpPr>
          <p:cNvPr id="921" name="Accent921">
            <a:extLst>
              <a:ext uri="{FF2B5EF4-FFF2-40B4-BE49-F238E27FC236}">
                <a16:creationId xmlns:a16="http://schemas.microsoft.com/office/drawing/2014/main" id="{3B028D9C-6AD9-08F7-ED4D-4F1BC7F7AE3D}"/>
              </a:ext>
            </a:extLst>
          </p:cNvPr>
          <p:cNvSpPr/>
          <p:nvPr/>
        </p:nvSpPr>
        <p:spPr>
          <a:xfrm>
            <a:off x="609600" y="2438400"/>
            <a:ext cx="73152" cy="670560"/>
          </a:xfrm>
          <a:prstGeom prst="roundRect">
            <a:avLst>
              <a:gd name="adj" fmla="val 45000"/>
            </a:avLst>
          </a:prstGeom>
          <a:solidFill>
            <a:srgbClr val="E8985E"/>
          </a:solidFill>
          <a:ln>
            <a:noFill/>
          </a:ln>
        </p:spPr>
        <p:txBody>
          <a:bodyPr/>
          <a:lstStyle/>
          <a:p>
            <a:endParaRPr lang="de-DE" sz="2400"/>
          </a:p>
        </p:txBody>
      </p:sp>
      <p:sp>
        <p:nvSpPr>
          <p:cNvPr id="922" name="Accent922">
            <a:extLst>
              <a:ext uri="{FF2B5EF4-FFF2-40B4-BE49-F238E27FC236}">
                <a16:creationId xmlns:a16="http://schemas.microsoft.com/office/drawing/2014/main" id="{3927F3FF-EBF3-A406-2C33-293BD7CE49F2}"/>
              </a:ext>
            </a:extLst>
          </p:cNvPr>
          <p:cNvSpPr/>
          <p:nvPr/>
        </p:nvSpPr>
        <p:spPr>
          <a:xfrm>
            <a:off x="633984" y="4268124"/>
            <a:ext cx="73152" cy="670560"/>
          </a:xfrm>
          <a:prstGeom prst="roundRect">
            <a:avLst>
              <a:gd name="adj" fmla="val 45000"/>
            </a:avLst>
          </a:prstGeom>
          <a:solidFill>
            <a:srgbClr val="E8985E"/>
          </a:solidFill>
          <a:ln>
            <a:noFill/>
          </a:ln>
        </p:spPr>
        <p:txBody>
          <a:bodyPr/>
          <a:lstStyle/>
          <a:p>
            <a:endParaRPr lang="de-DE" sz="2400"/>
          </a:p>
        </p:txBody>
      </p:sp>
      <p:sp>
        <p:nvSpPr>
          <p:cNvPr id="930" name="Hair930">
            <a:extLst>
              <a:ext uri="{FF2B5EF4-FFF2-40B4-BE49-F238E27FC236}">
                <a16:creationId xmlns:a16="http://schemas.microsoft.com/office/drawing/2014/main" id="{20D0BE6D-FE36-6244-9FB2-DDE13B743013}"/>
              </a:ext>
            </a:extLst>
          </p:cNvPr>
          <p:cNvSpPr/>
          <p:nvPr/>
        </p:nvSpPr>
        <p:spPr>
          <a:xfrm>
            <a:off x="609600" y="6233334"/>
            <a:ext cx="10972800" cy="12700"/>
          </a:xfrm>
          <a:prstGeom prst="rect">
            <a:avLst/>
          </a:prstGeom>
          <a:solidFill>
            <a:srgbClr val="DCE7DE"/>
          </a:solidFill>
          <a:ln>
            <a:noFill/>
          </a:ln>
        </p:spPr>
        <p:txBody>
          <a:bodyPr/>
          <a:lstStyle/>
          <a:p>
            <a:endParaRPr lang="de-DE" sz="2400"/>
          </a:p>
        </p:txBody>
      </p:sp>
      <p:sp>
        <p:nvSpPr>
          <p:cNvPr id="14" name="Shape 14">
            <a:extLst>
              <a:ext uri="{FF2B5EF4-FFF2-40B4-BE49-F238E27FC236}">
                <a16:creationId xmlns:a16="http://schemas.microsoft.com/office/drawing/2014/main" id="{579A7A43-F4C0-27E8-AFDA-080197EC4EE6}"/>
              </a:ext>
            </a:extLst>
          </p:cNvPr>
          <p:cNvSpPr/>
          <p:nvPr/>
        </p:nvSpPr>
        <p:spPr>
          <a:xfrm>
            <a:off x="609600" y="3286668"/>
            <a:ext cx="10972800" cy="792480"/>
          </a:xfrm>
          <a:prstGeom prst="roundRect">
            <a:avLst>
              <a:gd name="adj" fmla="val 9231"/>
            </a:avLst>
          </a:prstGeom>
          <a:solidFill>
            <a:srgbClr val="F3F6F3"/>
          </a:solidFill>
          <a:ln w="12700">
            <a:solidFill>
              <a:srgbClr val="CED2CE"/>
            </a:solidFill>
            <a:prstDash val="solid"/>
          </a:ln>
        </p:spPr>
        <p:txBody>
          <a:bodyPr/>
          <a:lstStyle/>
          <a:p>
            <a:endParaRPr lang="de-DE" sz="2400"/>
          </a:p>
        </p:txBody>
      </p:sp>
      <p:sp>
        <p:nvSpPr>
          <p:cNvPr id="28" name="Shape 15">
            <a:extLst>
              <a:ext uri="{FF2B5EF4-FFF2-40B4-BE49-F238E27FC236}">
                <a16:creationId xmlns:a16="http://schemas.microsoft.com/office/drawing/2014/main" id="{0D4CFC40-2B27-2554-F8BB-7AA76F9DB755}"/>
              </a:ext>
            </a:extLst>
          </p:cNvPr>
          <p:cNvSpPr/>
          <p:nvPr/>
        </p:nvSpPr>
        <p:spPr>
          <a:xfrm>
            <a:off x="877824" y="3414684"/>
            <a:ext cx="536448" cy="536448"/>
          </a:xfrm>
          <a:prstGeom prst="ellipse">
            <a:avLst/>
          </a:prstGeom>
          <a:solidFill>
            <a:srgbClr val="E8985E"/>
          </a:solidFill>
          <a:ln/>
        </p:spPr>
        <p:txBody>
          <a:bodyPr/>
          <a:lstStyle/>
          <a:p>
            <a:endParaRPr lang="de-DE" sz="2400"/>
          </a:p>
        </p:txBody>
      </p:sp>
      <p:sp>
        <p:nvSpPr>
          <p:cNvPr id="33" name="RowHead702">
            <a:extLst>
              <a:ext uri="{FF2B5EF4-FFF2-40B4-BE49-F238E27FC236}">
                <a16:creationId xmlns:a16="http://schemas.microsoft.com/office/drawing/2014/main" id="{EA791FF3-7F5B-833C-5EDE-00F19D4AC776}"/>
              </a:ext>
            </a:extLst>
          </p:cNvPr>
          <p:cNvSpPr/>
          <p:nvPr/>
        </p:nvSpPr>
        <p:spPr>
          <a:xfrm>
            <a:off x="1609344" y="3321449"/>
            <a:ext cx="5462016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spc="80" dirty="0">
                <a:solidFill>
                  <a:srgbClr val="E8985E"/>
                </a:solidFill>
                <a:latin typeface="Segoe UI" pitchFamily="34" charset="0"/>
                <a:cs typeface="Segoe UI" pitchFamily="34" charset="0"/>
              </a:rPr>
              <a:t>INV-7 </a:t>
            </a:r>
            <a:r>
              <a:rPr lang="en-US" sz="1867" b="1" dirty="0" err="1">
                <a:solidFill>
                  <a:srgbClr val="355E3B"/>
                </a:solidFill>
                <a:latin typeface="Segoe UI" pitchFamily="34" charset="0"/>
                <a:cs typeface="Segoe UI" pitchFamily="34" charset="0"/>
              </a:rPr>
              <a:t>Bestell</a:t>
            </a:r>
            <a:r>
              <a:rPr lang="en-US" sz="1867" b="1" dirty="0">
                <a:solidFill>
                  <a:srgbClr val="355E3B"/>
                </a:solidFill>
                <a:latin typeface="Segoe UI" pitchFamily="34" charset="0"/>
                <a:cs typeface="Segoe UI" pitchFamily="34" charset="0"/>
              </a:rPr>
              <a:t> </a:t>
            </a:r>
            <a:r>
              <a:rPr lang="en-US" sz="1867" b="1" dirty="0" err="1">
                <a:solidFill>
                  <a:srgbClr val="355E3B"/>
                </a:solidFill>
                <a:latin typeface="Segoe UI" pitchFamily="34" charset="0"/>
                <a:cs typeface="Segoe UI" pitchFamily="34" charset="0"/>
              </a:rPr>
              <a:t>Historie</a:t>
            </a:r>
            <a:endParaRPr lang="en-US" sz="1867" b="1" dirty="0">
              <a:solidFill>
                <a:srgbClr val="355E3B"/>
              </a:solidFill>
              <a:latin typeface="Segoe UI" pitchFamily="34" charset="0"/>
              <a:cs typeface="Segoe UI" pitchFamily="34" charset="0"/>
            </a:endParaRPr>
          </a:p>
        </p:txBody>
      </p:sp>
      <p:sp>
        <p:nvSpPr>
          <p:cNvPr id="39" name="Text 19">
            <a:extLst>
              <a:ext uri="{FF2B5EF4-FFF2-40B4-BE49-F238E27FC236}">
                <a16:creationId xmlns:a16="http://schemas.microsoft.com/office/drawing/2014/main" id="{964FC36A-E6CF-2165-3E0E-D450C63EB754}"/>
              </a:ext>
            </a:extLst>
          </p:cNvPr>
          <p:cNvSpPr/>
          <p:nvPr/>
        </p:nvSpPr>
        <p:spPr>
          <a:xfrm>
            <a:off x="1609344" y="3583937"/>
            <a:ext cx="9753600" cy="445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10231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Nur User: </a:t>
            </a:r>
            <a:r>
              <a:rPr lang="en-US" sz="1467" dirty="0" err="1">
                <a:solidFill>
                  <a:srgbClr val="102313"/>
                </a:solidFill>
                <a:latin typeface="Segoe UI" pitchFamily="34" charset="0"/>
                <a:cs typeface="Segoe UI" pitchFamily="34" charset="-120"/>
              </a:rPr>
              <a:t>kann</a:t>
            </a:r>
            <a:r>
              <a:rPr lang="en-US" sz="1467" dirty="0">
                <a:solidFill>
                  <a:srgbClr val="102313"/>
                </a:solidFill>
                <a:latin typeface="Segoe UI" pitchFamily="34" charset="0"/>
                <a:cs typeface="Segoe UI" pitchFamily="34" charset="-120"/>
              </a:rPr>
              <a:t> </a:t>
            </a:r>
            <a:r>
              <a:rPr lang="en-US" sz="1467" dirty="0" err="1">
                <a:solidFill>
                  <a:srgbClr val="102313"/>
                </a:solidFill>
                <a:latin typeface="Segoe UI" pitchFamily="34" charset="0"/>
                <a:cs typeface="Segoe UI" pitchFamily="34" charset="-120"/>
              </a:rPr>
              <a:t>Bestellhistorie</a:t>
            </a:r>
            <a:r>
              <a:rPr lang="en-US" sz="1467" dirty="0">
                <a:solidFill>
                  <a:srgbClr val="102313"/>
                </a:solidFill>
                <a:latin typeface="Segoe UI" pitchFamily="34" charset="0"/>
                <a:cs typeface="Segoe UI" pitchFamily="34" charset="-120"/>
              </a:rPr>
              <a:t> </a:t>
            </a:r>
            <a:r>
              <a:rPr lang="en-US" sz="1467" dirty="0" err="1">
                <a:solidFill>
                  <a:srgbClr val="102313"/>
                </a:solidFill>
                <a:latin typeface="Segoe UI" pitchFamily="34" charset="0"/>
                <a:cs typeface="Segoe UI" pitchFamily="34" charset="-120"/>
              </a:rPr>
              <a:t>aufrufen</a:t>
            </a:r>
            <a:endParaRPr lang="en-US" sz="1467" dirty="0">
              <a:solidFill>
                <a:srgbClr val="102313"/>
              </a:solidFill>
              <a:latin typeface="Segoe UI" pitchFamily="34" charset="0"/>
              <a:cs typeface="Segoe UI" pitchFamily="34" charset="-120"/>
            </a:endParaRPr>
          </a:p>
        </p:txBody>
      </p:sp>
      <p:sp>
        <p:nvSpPr>
          <p:cNvPr id="42" name="Accent922">
            <a:extLst>
              <a:ext uri="{FF2B5EF4-FFF2-40B4-BE49-F238E27FC236}">
                <a16:creationId xmlns:a16="http://schemas.microsoft.com/office/drawing/2014/main" id="{6C52BC5C-4618-50AC-06C1-FD33F8F5D704}"/>
              </a:ext>
            </a:extLst>
          </p:cNvPr>
          <p:cNvSpPr/>
          <p:nvPr/>
        </p:nvSpPr>
        <p:spPr>
          <a:xfrm>
            <a:off x="609600" y="3347628"/>
            <a:ext cx="73152" cy="670560"/>
          </a:xfrm>
          <a:prstGeom prst="roundRect">
            <a:avLst>
              <a:gd name="adj" fmla="val 45000"/>
            </a:avLst>
          </a:prstGeom>
          <a:solidFill>
            <a:srgbClr val="E8985E"/>
          </a:solidFill>
          <a:ln>
            <a:noFill/>
          </a:ln>
        </p:spPr>
        <p:txBody>
          <a:bodyPr/>
          <a:lstStyle/>
          <a:p>
            <a:endParaRPr lang="de-DE" sz="2400"/>
          </a:p>
        </p:txBody>
      </p:sp>
      <p:sp>
        <p:nvSpPr>
          <p:cNvPr id="46" name="Text 12">
            <a:extLst>
              <a:ext uri="{FF2B5EF4-FFF2-40B4-BE49-F238E27FC236}">
                <a16:creationId xmlns:a16="http://schemas.microsoft.com/office/drawing/2014/main" id="{FFBF3C54-6604-A7EF-29EB-D6FC7A798FCB}"/>
              </a:ext>
            </a:extLst>
          </p:cNvPr>
          <p:cNvSpPr/>
          <p:nvPr/>
        </p:nvSpPr>
        <p:spPr>
          <a:xfrm>
            <a:off x="7120128" y="3364992"/>
            <a:ext cx="426720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333" dirty="0">
                <a:solidFill>
                  <a:srgbClr val="5D5D5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</a:t>
            </a:r>
            <a:r>
              <a:rPr lang="en-US" sz="1333" dirty="0" err="1">
                <a:solidFill>
                  <a:srgbClr val="5D5D5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</a:t>
            </a:r>
            <a:r>
              <a:rPr lang="en-US" sz="1333" dirty="0">
                <a:solidFill>
                  <a:srgbClr val="5D5D5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/orders</a:t>
            </a:r>
          </a:p>
        </p:txBody>
      </p:sp>
      <p:pic>
        <p:nvPicPr>
          <p:cNvPr id="48" name="Grafik 47" descr="E-Mail Silhouette">
            <a:extLst>
              <a:ext uri="{FF2B5EF4-FFF2-40B4-BE49-F238E27FC236}">
                <a16:creationId xmlns:a16="http://schemas.microsoft.com/office/drawing/2014/main" id="{BC153BB4-488B-85C9-88FE-0673A4E9842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5795" y="4448767"/>
            <a:ext cx="309273" cy="309273"/>
          </a:xfrm>
          <a:prstGeom prst="rect">
            <a:avLst/>
          </a:prstGeom>
        </p:spPr>
      </p:pic>
      <p:pic>
        <p:nvPicPr>
          <p:cNvPr id="50" name="Grafik 49" descr="Warenkorb Silhouette">
            <a:extLst>
              <a:ext uri="{FF2B5EF4-FFF2-40B4-BE49-F238E27FC236}">
                <a16:creationId xmlns:a16="http://schemas.microsoft.com/office/drawing/2014/main" id="{C4EEAF84-9B3A-4AF1-EBB9-544F0FAFB41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0796" y="1699292"/>
            <a:ext cx="374272" cy="374272"/>
          </a:xfrm>
          <a:prstGeom prst="rect">
            <a:avLst/>
          </a:prstGeom>
        </p:spPr>
      </p:pic>
      <p:pic>
        <p:nvPicPr>
          <p:cNvPr id="52" name="Grafik 51" descr="Bankscheck Silhouette">
            <a:extLst>
              <a:ext uri="{FF2B5EF4-FFF2-40B4-BE49-F238E27FC236}">
                <a16:creationId xmlns:a16="http://schemas.microsoft.com/office/drawing/2014/main" id="{ED619260-19A3-0C12-AF7C-AAC5409282C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0796" y="2578428"/>
            <a:ext cx="390504" cy="390504"/>
          </a:xfrm>
          <a:prstGeom prst="rect">
            <a:avLst/>
          </a:prstGeom>
        </p:spPr>
      </p:pic>
      <p:pic>
        <p:nvPicPr>
          <p:cNvPr id="56" name="Grafik 55" descr="Uhr mit einfarbiger Füllung">
            <a:extLst>
              <a:ext uri="{FF2B5EF4-FFF2-40B4-BE49-F238E27FC236}">
                <a16:creationId xmlns:a16="http://schemas.microsoft.com/office/drawing/2014/main" id="{98BEDB0B-1E76-B670-6670-1FB846698AE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50796" y="3490704"/>
            <a:ext cx="384408" cy="384408"/>
          </a:xfrm>
          <a:prstGeom prst="rect">
            <a:avLst/>
          </a:prstGeom>
        </p:spPr>
      </p:pic>
      <p:sp>
        <p:nvSpPr>
          <p:cNvPr id="7" name="Text 12">
            <a:extLst>
              <a:ext uri="{FF2B5EF4-FFF2-40B4-BE49-F238E27FC236}">
                <a16:creationId xmlns:a16="http://schemas.microsoft.com/office/drawing/2014/main" id="{AC4AF021-8CA3-8740-09B9-C3DC0D06F4B3}"/>
              </a:ext>
            </a:extLst>
          </p:cNvPr>
          <p:cNvSpPr/>
          <p:nvPr/>
        </p:nvSpPr>
        <p:spPr>
          <a:xfrm>
            <a:off x="7229856" y="4330458"/>
            <a:ext cx="426720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333" dirty="0" err="1">
                <a:solidFill>
                  <a:srgbClr val="5D5D5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Triggert</a:t>
            </a:r>
            <a:r>
              <a:rPr lang="en-US" sz="1333" dirty="0">
                <a:solidFill>
                  <a:srgbClr val="5D5D5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33" dirty="0" err="1">
                <a:solidFill>
                  <a:srgbClr val="5D5D5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automatisch</a:t>
            </a:r>
            <a:r>
              <a:rPr lang="en-US" sz="1333" dirty="0">
                <a:solidFill>
                  <a:srgbClr val="5D5D5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br>
              <a:rPr lang="en-US" sz="1333" dirty="0">
                <a:solidFill>
                  <a:srgbClr val="5D5D5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</a:br>
            <a:r>
              <a:rPr lang="en-US" sz="1333" dirty="0" err="1">
                <a:solidFill>
                  <a:srgbClr val="5D5D5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Datenbank</a:t>
            </a:r>
            <a:r>
              <a:rPr lang="en-US" sz="1333" dirty="0">
                <a:solidFill>
                  <a:srgbClr val="5D5D5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-&gt;(COMMIT)</a:t>
            </a:r>
          </a:p>
        </p:txBody>
      </p:sp>
    </p:spTree>
    <p:extLst>
      <p:ext uri="{BB962C8B-B14F-4D97-AF65-F5344CB8AC3E}">
        <p14:creationId xmlns:p14="http://schemas.microsoft.com/office/powerpoint/2010/main" val="423662721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1419CB4-8B07-3BB4-BA03-9AC3A98A1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560F1E49-419A-5CB6-7F69-1883129721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DE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3DC250A-6DC2-EE53-DFA3-1313B2163E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DE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D0809BF-9AF3-E67A-7426-979AB29954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8181CD10-CB13-5B5A-331C-0AC8313B06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978660" y="5462458"/>
            <a:ext cx="82296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5668269F-48CE-282A-5708-55F59F36BB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140" y="243841"/>
            <a:ext cx="11722100" cy="3964584"/>
          </a:xfrm>
          <a:prstGeom prst="rect">
            <a:avLst/>
          </a:prstGeom>
          <a:solidFill>
            <a:schemeClr val="bg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DE"/>
          </a:p>
        </p:txBody>
      </p:sp>
      <p:pic>
        <p:nvPicPr>
          <p:cNvPr id="7" name="Grafik 6" descr="Liste mit einfarbiger Füllung">
            <a:extLst>
              <a:ext uri="{FF2B5EF4-FFF2-40B4-BE49-F238E27FC236}">
                <a16:creationId xmlns:a16="http://schemas.microsoft.com/office/drawing/2014/main" id="{D6F83360-4D1B-7D58-9BFA-627DEC75787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78531" y="712475"/>
            <a:ext cx="3027316" cy="3027316"/>
          </a:xfrm>
          <a:prstGeom prst="rect">
            <a:avLst/>
          </a:prstGeom>
        </p:spPr>
      </p:pic>
      <p:cxnSp>
        <p:nvCxnSpPr>
          <p:cNvPr id="9" name="Gerader Verbinder 8">
            <a:extLst>
              <a:ext uri="{FF2B5EF4-FFF2-40B4-BE49-F238E27FC236}">
                <a16:creationId xmlns:a16="http://schemas.microsoft.com/office/drawing/2014/main" id="{7B21B3C4-BB33-B4AD-287C-24C8EBB98D54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1978660" y="5462458"/>
            <a:ext cx="836320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el 1">
            <a:extLst>
              <a:ext uri="{FF2B5EF4-FFF2-40B4-BE49-F238E27FC236}">
                <a16:creationId xmlns:a16="http://schemas.microsoft.com/office/drawing/2014/main" id="{2B2CF0B0-555E-E32A-C9F9-6B80860E8A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8709" y="4632960"/>
            <a:ext cx="9966960" cy="132588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85000"/>
              </a:lnSpc>
            </a:pPr>
            <a:r>
              <a:rPr lang="en-US" sz="6600" b="1" u="sng" cap="all">
                <a:solidFill>
                  <a:srgbClr val="FFFFFF"/>
                </a:solidFill>
              </a:rPr>
              <a:t>Wishlist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0274E5FC-E434-20E0-3268-56184A44D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3CC5F-B98A-4075-899A-6D94989E9217}" type="datetime1">
              <a:rPr lang="de-DE" smtClean="0"/>
              <a:t>15.07.2026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C71F980C-FA19-C046-B342-BD276C93AC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Bekir, Avid, Alex, Darian, Lara P., Sheila</a:t>
            </a:r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6111ACF-296F-BC7E-7E0E-283D8731CE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7EE8E-3513-4D7C-BF7B-7494C67953C0}" type="slidenum">
              <a:rPr lang="de-DE" smtClean="0"/>
              <a:t>35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7539230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8A03CA-AA9E-3D46-CEE2-3B93EC71D9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A11D53A-3191-B026-B040-64F4149E16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0" y="495300"/>
            <a:ext cx="9875520" cy="704850"/>
          </a:xfrm>
        </p:spPr>
        <p:txBody>
          <a:bodyPr>
            <a:normAutofit/>
          </a:bodyPr>
          <a:lstStyle/>
          <a:p>
            <a:r>
              <a:rPr lang="de-DE" sz="3600" dirty="0"/>
              <a:t>Systemarchitektur – </a:t>
            </a:r>
            <a:r>
              <a:rPr lang="de-DE" sz="3600" dirty="0" err="1"/>
              <a:t>Wishlist</a:t>
            </a:r>
            <a:endParaRPr lang="de-DE" sz="3600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7ED0AAA-869B-8CD1-DC21-9AC8862792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AC6A7-8054-433B-9DB9-A324683B3D4E}" type="datetime1">
              <a:rPr lang="de-DE" smtClean="0"/>
              <a:t>15.07.2026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294923E-E197-556E-49A4-47F156E1D3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Bekir, Avid, Alex, Darian, Lara P., Sheila</a:t>
            </a:r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03BD591-C115-DF9F-8CFE-FA8FF8C233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7EE8E-3513-4D7C-BF7B-7494C67953C0}" type="slidenum">
              <a:rPr lang="de-DE" smtClean="0"/>
              <a:t>36</a:t>
            </a:fld>
            <a:endParaRPr lang="de-DE"/>
          </a:p>
        </p:txBody>
      </p:sp>
      <p:sp>
        <p:nvSpPr>
          <p:cNvPr id="8" name="Rechteck: abgerundete Ecken 7">
            <a:extLst>
              <a:ext uri="{FF2B5EF4-FFF2-40B4-BE49-F238E27FC236}">
                <a16:creationId xmlns:a16="http://schemas.microsoft.com/office/drawing/2014/main" id="{59232F77-CCE3-2DA0-0126-73CE2E437BE0}"/>
              </a:ext>
            </a:extLst>
          </p:cNvPr>
          <p:cNvSpPr/>
          <p:nvPr/>
        </p:nvSpPr>
        <p:spPr>
          <a:xfrm>
            <a:off x="1238248" y="1673294"/>
            <a:ext cx="1952625" cy="9792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Authentication-Service</a:t>
            </a:r>
          </a:p>
          <a:p>
            <a:pPr algn="ctr"/>
            <a:r>
              <a:rPr lang="de-DE"/>
              <a:t>(Port 3001)</a:t>
            </a:r>
          </a:p>
        </p:txBody>
      </p:sp>
      <p:sp>
        <p:nvSpPr>
          <p:cNvPr id="11" name="Rechteck: abgerundete Ecken 10">
            <a:extLst>
              <a:ext uri="{FF2B5EF4-FFF2-40B4-BE49-F238E27FC236}">
                <a16:creationId xmlns:a16="http://schemas.microsoft.com/office/drawing/2014/main" id="{8115BDE3-4E53-730F-17E8-F8BAEF37F13D}"/>
              </a:ext>
            </a:extLst>
          </p:cNvPr>
          <p:cNvSpPr/>
          <p:nvPr/>
        </p:nvSpPr>
        <p:spPr>
          <a:xfrm>
            <a:off x="9615007" y="1581896"/>
            <a:ext cx="1951200" cy="98062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err="1"/>
              <a:t>Authorization</a:t>
            </a:r>
            <a:r>
              <a:rPr lang="de-DE"/>
              <a:t>-Service</a:t>
            </a:r>
          </a:p>
          <a:p>
            <a:pPr algn="ctr"/>
            <a:r>
              <a:rPr lang="de-DE"/>
              <a:t>(Port 3002)</a:t>
            </a:r>
          </a:p>
        </p:txBody>
      </p:sp>
      <p:sp>
        <p:nvSpPr>
          <p:cNvPr id="12" name="Rechteck: abgerundete Ecken 11">
            <a:extLst>
              <a:ext uri="{FF2B5EF4-FFF2-40B4-BE49-F238E27FC236}">
                <a16:creationId xmlns:a16="http://schemas.microsoft.com/office/drawing/2014/main" id="{09C201A0-937E-125D-95CC-7E903124322C}"/>
              </a:ext>
            </a:extLst>
          </p:cNvPr>
          <p:cNvSpPr/>
          <p:nvPr/>
        </p:nvSpPr>
        <p:spPr>
          <a:xfrm>
            <a:off x="1238249" y="4791373"/>
            <a:ext cx="1952625" cy="9792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PostgreSQL </a:t>
            </a:r>
            <a:br>
              <a:rPr lang="de-DE"/>
            </a:br>
            <a:r>
              <a:rPr lang="de-DE"/>
              <a:t>DB</a:t>
            </a:r>
          </a:p>
        </p:txBody>
      </p:sp>
      <p:grpSp>
        <p:nvGrpSpPr>
          <p:cNvPr id="35" name="Gruppieren 34">
            <a:extLst>
              <a:ext uri="{FF2B5EF4-FFF2-40B4-BE49-F238E27FC236}">
                <a16:creationId xmlns:a16="http://schemas.microsoft.com/office/drawing/2014/main" id="{761CF97E-7758-F446-D973-02E7A8549307}"/>
              </a:ext>
            </a:extLst>
          </p:cNvPr>
          <p:cNvGrpSpPr/>
          <p:nvPr/>
        </p:nvGrpSpPr>
        <p:grpSpPr>
          <a:xfrm>
            <a:off x="2359922" y="2072210"/>
            <a:ext cx="7896225" cy="3205687"/>
            <a:chOff x="2359922" y="2072210"/>
            <a:chExt cx="7896225" cy="3205687"/>
          </a:xfrm>
        </p:grpSpPr>
        <p:sp>
          <p:nvSpPr>
            <p:cNvPr id="7" name="Rechteck: abgerundete Ecken 6">
              <a:extLst>
                <a:ext uri="{FF2B5EF4-FFF2-40B4-BE49-F238E27FC236}">
                  <a16:creationId xmlns:a16="http://schemas.microsoft.com/office/drawing/2014/main" id="{DD033224-957F-9657-6AE5-3B173168DB4D}"/>
                </a:ext>
              </a:extLst>
            </p:cNvPr>
            <p:cNvSpPr/>
            <p:nvPr/>
          </p:nvSpPr>
          <p:spPr>
            <a:xfrm>
              <a:off x="2359922" y="3429000"/>
              <a:ext cx="7896225" cy="889229"/>
            </a:xfrm>
            <a:prstGeom prst="roundRect">
              <a:avLst>
                <a:gd name="adj" fmla="val 37019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de-DE" sz="2400" dirty="0" err="1"/>
                <a:t>Wishlist</a:t>
              </a:r>
              <a:r>
                <a:rPr lang="de-DE" sz="2400" dirty="0"/>
                <a:t> – Service</a:t>
              </a:r>
            </a:p>
            <a:p>
              <a:pPr algn="ctr"/>
              <a:r>
                <a:rPr lang="de-DE" sz="2400" dirty="0"/>
                <a:t>(Port 3004) </a:t>
              </a:r>
            </a:p>
          </p:txBody>
        </p:sp>
        <p:cxnSp>
          <p:nvCxnSpPr>
            <p:cNvPr id="17" name="Verbinder: gewinkelt 16">
              <a:extLst>
                <a:ext uri="{FF2B5EF4-FFF2-40B4-BE49-F238E27FC236}">
                  <a16:creationId xmlns:a16="http://schemas.microsoft.com/office/drawing/2014/main" id="{CDA74A17-8663-EC19-3E87-7EC6CA4D083A}"/>
                </a:ext>
              </a:extLst>
            </p:cNvPr>
            <p:cNvCxnSpPr>
              <a:cxnSpLocks/>
              <a:endCxn id="8" idx="3"/>
            </p:cNvCxnSpPr>
            <p:nvPr/>
          </p:nvCxnSpPr>
          <p:spPr>
            <a:xfrm rot="10800000">
              <a:off x="3190873" y="2162895"/>
              <a:ext cx="2019302" cy="1336189"/>
            </a:xfrm>
            <a:prstGeom prst="bentConnector3">
              <a:avLst>
                <a:gd name="adj1" fmla="val 50000"/>
              </a:avLst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Verbinder: gewinkelt 20">
              <a:extLst>
                <a:ext uri="{FF2B5EF4-FFF2-40B4-BE49-F238E27FC236}">
                  <a16:creationId xmlns:a16="http://schemas.microsoft.com/office/drawing/2014/main" id="{C3972B35-D8B3-FE9D-1624-32C2BAEA37A1}"/>
                </a:ext>
              </a:extLst>
            </p:cNvPr>
            <p:cNvCxnSpPr>
              <a:cxnSpLocks/>
              <a:endCxn id="11" idx="1"/>
            </p:cNvCxnSpPr>
            <p:nvPr/>
          </p:nvCxnSpPr>
          <p:spPr>
            <a:xfrm flipV="1">
              <a:off x="6896100" y="2072210"/>
              <a:ext cx="2718907" cy="1566340"/>
            </a:xfrm>
            <a:prstGeom prst="bentConnector3">
              <a:avLst>
                <a:gd name="adj1" fmla="val 50000"/>
              </a:avLst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Verbinder: gewinkelt 28">
              <a:extLst>
                <a:ext uri="{FF2B5EF4-FFF2-40B4-BE49-F238E27FC236}">
                  <a16:creationId xmlns:a16="http://schemas.microsoft.com/office/drawing/2014/main" id="{198E0F41-A9C6-F8F1-79FE-71A634748D7D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3190874" y="3499085"/>
              <a:ext cx="2188370" cy="1778812"/>
            </a:xfrm>
            <a:prstGeom prst="bentConnector3">
              <a:avLst>
                <a:gd name="adj1" fmla="val 53343"/>
              </a:avLst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2" name="Textfeld 41">
            <a:extLst>
              <a:ext uri="{FF2B5EF4-FFF2-40B4-BE49-F238E27FC236}">
                <a16:creationId xmlns:a16="http://schemas.microsoft.com/office/drawing/2014/main" id="{B93801A5-B39A-09F4-3344-8BA221C0E0B3}"/>
              </a:ext>
            </a:extLst>
          </p:cNvPr>
          <p:cNvSpPr txBox="1"/>
          <p:nvPr/>
        </p:nvSpPr>
        <p:spPr>
          <a:xfrm>
            <a:off x="4226051" y="2612106"/>
            <a:ext cx="25009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b="1" dirty="0">
                <a:solidFill>
                  <a:schemeClr val="accent1"/>
                </a:solidFill>
              </a:rPr>
              <a:t>(1) POST /</a:t>
            </a:r>
            <a:r>
              <a:rPr lang="de-DE" sz="1400" b="1" dirty="0" err="1">
                <a:solidFill>
                  <a:schemeClr val="accent1"/>
                </a:solidFill>
              </a:rPr>
              <a:t>api</a:t>
            </a:r>
            <a:r>
              <a:rPr lang="de-DE" sz="1400" b="1" dirty="0">
                <a:solidFill>
                  <a:schemeClr val="accent1"/>
                </a:solidFill>
              </a:rPr>
              <a:t>/</a:t>
            </a:r>
            <a:r>
              <a:rPr lang="de-DE" sz="1400" b="1" dirty="0" err="1">
                <a:solidFill>
                  <a:schemeClr val="accent1"/>
                </a:solidFill>
              </a:rPr>
              <a:t>auth</a:t>
            </a:r>
            <a:r>
              <a:rPr lang="de-DE" sz="1400" b="1" dirty="0">
                <a:solidFill>
                  <a:schemeClr val="accent1"/>
                </a:solidFill>
              </a:rPr>
              <a:t>/</a:t>
            </a:r>
            <a:r>
              <a:rPr lang="de-DE" sz="1400" b="1" dirty="0" err="1">
                <a:solidFill>
                  <a:schemeClr val="accent1"/>
                </a:solidFill>
              </a:rPr>
              <a:t>validate</a:t>
            </a:r>
            <a:endParaRPr lang="de-DE" sz="1400" b="1" dirty="0">
              <a:solidFill>
                <a:schemeClr val="accent1"/>
              </a:solidFill>
            </a:endParaRPr>
          </a:p>
        </p:txBody>
      </p:sp>
      <p:sp>
        <p:nvSpPr>
          <p:cNvPr id="44" name="Textfeld 43">
            <a:extLst>
              <a:ext uri="{FF2B5EF4-FFF2-40B4-BE49-F238E27FC236}">
                <a16:creationId xmlns:a16="http://schemas.microsoft.com/office/drawing/2014/main" id="{FB5E81AD-9BEC-0DA8-4C19-6AFCD5451837}"/>
              </a:ext>
            </a:extLst>
          </p:cNvPr>
          <p:cNvSpPr txBox="1"/>
          <p:nvPr/>
        </p:nvSpPr>
        <p:spPr>
          <a:xfrm>
            <a:off x="8287700" y="2650942"/>
            <a:ext cx="320630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b="1" dirty="0">
                <a:solidFill>
                  <a:schemeClr val="accent1"/>
                </a:solidFill>
              </a:rPr>
              <a:t>(2) POST /</a:t>
            </a:r>
            <a:r>
              <a:rPr lang="de-DE" sz="1400" b="1" dirty="0" err="1">
                <a:solidFill>
                  <a:schemeClr val="accent1"/>
                </a:solidFill>
              </a:rPr>
              <a:t>api</a:t>
            </a:r>
            <a:r>
              <a:rPr lang="de-DE" sz="1400" b="1" dirty="0">
                <a:solidFill>
                  <a:schemeClr val="accent1"/>
                </a:solidFill>
              </a:rPr>
              <a:t>/</a:t>
            </a:r>
            <a:r>
              <a:rPr lang="de-DE" sz="1400" b="1" dirty="0" err="1">
                <a:solidFill>
                  <a:schemeClr val="accent1"/>
                </a:solidFill>
              </a:rPr>
              <a:t>authorization</a:t>
            </a:r>
            <a:r>
              <a:rPr lang="de-DE" sz="1400" b="1" dirty="0">
                <a:solidFill>
                  <a:schemeClr val="accent1"/>
                </a:solidFill>
              </a:rPr>
              <a:t>/check</a:t>
            </a:r>
          </a:p>
        </p:txBody>
      </p:sp>
      <p:sp>
        <p:nvSpPr>
          <p:cNvPr id="46" name="Textfeld 45">
            <a:extLst>
              <a:ext uri="{FF2B5EF4-FFF2-40B4-BE49-F238E27FC236}">
                <a16:creationId xmlns:a16="http://schemas.microsoft.com/office/drawing/2014/main" id="{9D582592-9E75-D4EF-628F-045FF71CC274}"/>
              </a:ext>
            </a:extLst>
          </p:cNvPr>
          <p:cNvSpPr txBox="1"/>
          <p:nvPr/>
        </p:nvSpPr>
        <p:spPr>
          <a:xfrm>
            <a:off x="4309377" y="4701986"/>
            <a:ext cx="14478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b="1" dirty="0">
                <a:solidFill>
                  <a:schemeClr val="accent1"/>
                </a:solidFill>
              </a:rPr>
              <a:t>(3) SQL-Zugriff</a:t>
            </a:r>
          </a:p>
        </p:txBody>
      </p:sp>
    </p:spTree>
    <p:extLst>
      <p:ext uri="{BB962C8B-B14F-4D97-AF65-F5344CB8AC3E}">
        <p14:creationId xmlns:p14="http://schemas.microsoft.com/office/powerpoint/2010/main" val="21517130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8DD07A-9A75-6777-38B8-DC81735048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BE4B5CD-3FFD-B64B-5CD2-6786ADFB8D7A}"/>
              </a:ext>
            </a:extLst>
          </p:cNvPr>
          <p:cNvSpPr/>
          <p:nvPr/>
        </p:nvSpPr>
        <p:spPr>
          <a:xfrm>
            <a:off x="609600" y="365760"/>
            <a:ext cx="1097280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355E3B"/>
                </a:solidFill>
                <a:latin typeface="Segoe UI" pitchFamily="34" charset="0"/>
                <a:cs typeface="Segoe UI" pitchFamily="34" charset="-120"/>
              </a:rPr>
              <a:t>Wishlist</a:t>
            </a:r>
            <a:endParaRPr lang="en-US" sz="3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27292DC-5F5A-09EB-BF13-2E69FA97C7E0}"/>
              </a:ext>
            </a:extLst>
          </p:cNvPr>
          <p:cNvSpPr/>
          <p:nvPr/>
        </p:nvSpPr>
        <p:spPr>
          <a:xfrm>
            <a:off x="633984" y="999744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i="1" dirty="0">
                <a:solidFill>
                  <a:srgbClr val="5D5D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Wishlist-Service  ·  Port 3004  ·  </a:t>
            </a:r>
            <a:r>
              <a:rPr lang="en-US" sz="1600" i="1" dirty="0" err="1">
                <a:solidFill>
                  <a:srgbClr val="5D5D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Nutzt</a:t>
            </a:r>
            <a:r>
              <a:rPr lang="en-US" sz="1600" i="1" dirty="0">
                <a:solidFill>
                  <a:srgbClr val="5D5D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600" i="1" dirty="0" err="1">
                <a:solidFill>
                  <a:srgbClr val="5D5D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ebenfalls</a:t>
            </a:r>
            <a:r>
              <a:rPr lang="en-US" sz="1600" i="1" dirty="0">
                <a:solidFill>
                  <a:srgbClr val="5D5D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das </a:t>
            </a:r>
            <a:r>
              <a:rPr lang="en-US" sz="1600" i="1" dirty="0" err="1">
                <a:solidFill>
                  <a:srgbClr val="5D5D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gezeigte</a:t>
            </a:r>
            <a:r>
              <a:rPr lang="en-US" sz="1600" i="1" dirty="0">
                <a:solidFill>
                  <a:srgbClr val="5D5D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600" i="1" dirty="0" err="1">
                <a:solidFill>
                  <a:srgbClr val="5D5D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Türsteher-Prinzip</a:t>
            </a:r>
            <a:endParaRPr lang="en-US" sz="16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235463EB-EBDF-7499-D981-E4A668366F2C}"/>
              </a:ext>
            </a:extLst>
          </p:cNvPr>
          <p:cNvSpPr/>
          <p:nvPr/>
        </p:nvSpPr>
        <p:spPr>
          <a:xfrm>
            <a:off x="609600" y="1487424"/>
            <a:ext cx="10972800" cy="792480"/>
          </a:xfrm>
          <a:prstGeom prst="roundRect">
            <a:avLst>
              <a:gd name="adj" fmla="val 9231"/>
            </a:avLst>
          </a:prstGeom>
          <a:solidFill>
            <a:srgbClr val="F3F6F3"/>
          </a:solidFill>
          <a:ln w="12700">
            <a:solidFill>
              <a:srgbClr val="CED2CE"/>
            </a:solidFill>
            <a:prstDash val="solid"/>
          </a:ln>
        </p:spPr>
        <p:txBody>
          <a:bodyPr/>
          <a:lstStyle/>
          <a:p>
            <a:endParaRPr lang="de-DE" sz="240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CA97C8BE-C47A-2BB1-5939-0EC15BBBBA9F}"/>
              </a:ext>
            </a:extLst>
          </p:cNvPr>
          <p:cNvSpPr/>
          <p:nvPr/>
        </p:nvSpPr>
        <p:spPr>
          <a:xfrm>
            <a:off x="877824" y="1615440"/>
            <a:ext cx="536448" cy="536448"/>
          </a:xfrm>
          <a:prstGeom prst="ellipse">
            <a:avLst/>
          </a:prstGeom>
          <a:solidFill>
            <a:srgbClr val="E8985E"/>
          </a:solidFill>
          <a:ln/>
        </p:spPr>
        <p:txBody>
          <a:bodyPr/>
          <a:lstStyle/>
          <a:p>
            <a:endParaRPr lang="de-DE" sz="2400"/>
          </a:p>
        </p:txBody>
      </p:sp>
      <p:sp>
        <p:nvSpPr>
          <p:cNvPr id="700" name="RowHead700">
            <a:extLst>
              <a:ext uri="{FF2B5EF4-FFF2-40B4-BE49-F238E27FC236}">
                <a16:creationId xmlns:a16="http://schemas.microsoft.com/office/drawing/2014/main" id="{2C7E88F5-FEE6-FED6-2DD3-3E6F667DC967}"/>
              </a:ext>
            </a:extLst>
          </p:cNvPr>
          <p:cNvSpPr/>
          <p:nvPr/>
        </p:nvSpPr>
        <p:spPr>
          <a:xfrm>
            <a:off x="1609344" y="1522205"/>
            <a:ext cx="5462016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spc="80" dirty="0">
                <a:solidFill>
                  <a:srgbClr val="E8985E"/>
                </a:solidFill>
                <a:latin typeface="Segoe UI" pitchFamily="34" charset="0"/>
                <a:cs typeface="Segoe UI" pitchFamily="34" charset="0"/>
              </a:rPr>
              <a:t>WUN-1 </a:t>
            </a:r>
            <a:r>
              <a:rPr lang="en-US" sz="1867" b="1" dirty="0" err="1">
                <a:solidFill>
                  <a:srgbClr val="355E3B"/>
                </a:solidFill>
                <a:latin typeface="Segoe UI" pitchFamily="34" charset="0"/>
                <a:cs typeface="Segoe UI" pitchFamily="34" charset="0"/>
              </a:rPr>
              <a:t>Wunschliste</a:t>
            </a:r>
            <a:r>
              <a:rPr lang="en-US" sz="1867" b="1" dirty="0">
                <a:solidFill>
                  <a:srgbClr val="355E3B"/>
                </a:solidFill>
                <a:latin typeface="Segoe UI" pitchFamily="34" charset="0"/>
                <a:cs typeface="Segoe UI" pitchFamily="34" charset="0"/>
              </a:rPr>
              <a:t> </a:t>
            </a:r>
            <a:r>
              <a:rPr lang="en-US" sz="1867" b="1" dirty="0" err="1">
                <a:solidFill>
                  <a:srgbClr val="355E3B"/>
                </a:solidFill>
                <a:latin typeface="Segoe UI" pitchFamily="34" charset="0"/>
                <a:cs typeface="Segoe UI" pitchFamily="34" charset="0"/>
              </a:rPr>
              <a:t>erstellen</a:t>
            </a:r>
            <a:endParaRPr lang="en-US" sz="1867" b="1" dirty="0">
              <a:solidFill>
                <a:srgbClr val="355E3B"/>
              </a:solidFill>
              <a:latin typeface="Segoe UI" pitchFamily="34" charset="0"/>
              <a:cs typeface="Segoe UI" pitchFamily="34" charset="0"/>
            </a:endParaRPr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25F3BF08-2D82-42AF-30B0-8023AF481F58}"/>
              </a:ext>
            </a:extLst>
          </p:cNvPr>
          <p:cNvSpPr/>
          <p:nvPr/>
        </p:nvSpPr>
        <p:spPr>
          <a:xfrm>
            <a:off x="7071360" y="1584960"/>
            <a:ext cx="426720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de-DE" sz="1333" dirty="0">
                <a:solidFill>
                  <a:srgbClr val="5D5D5D"/>
                </a:solidFill>
                <a:latin typeface="Consolas" pitchFamily="34" charset="0"/>
              </a:rPr>
              <a:t>POST /</a:t>
            </a:r>
            <a:r>
              <a:rPr lang="de-DE" sz="1333" dirty="0" err="1">
                <a:solidFill>
                  <a:srgbClr val="5D5D5D"/>
                </a:solidFill>
                <a:latin typeface="Consolas" pitchFamily="34" charset="0"/>
              </a:rPr>
              <a:t>api</a:t>
            </a:r>
            <a:r>
              <a:rPr lang="de-DE" sz="1333" dirty="0">
                <a:solidFill>
                  <a:srgbClr val="5D5D5D"/>
                </a:solidFill>
                <a:latin typeface="Consolas" pitchFamily="34" charset="0"/>
              </a:rPr>
              <a:t>/</a:t>
            </a:r>
            <a:r>
              <a:rPr lang="de-DE" sz="1333" dirty="0" err="1">
                <a:solidFill>
                  <a:srgbClr val="5D5D5D"/>
                </a:solidFill>
                <a:latin typeface="Consolas" pitchFamily="34" charset="0"/>
              </a:rPr>
              <a:t>wishlists</a:t>
            </a:r>
            <a:endParaRPr lang="en-US" sz="1333" dirty="0">
              <a:solidFill>
                <a:srgbClr val="5D5D5D"/>
              </a:solidFill>
              <a:latin typeface="Consolas" pitchFamily="34" charset="0"/>
            </a:endParaRPr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6CCD4692-ADD6-371D-7021-BE68EE0ACA1E}"/>
              </a:ext>
            </a:extLst>
          </p:cNvPr>
          <p:cNvSpPr/>
          <p:nvPr/>
        </p:nvSpPr>
        <p:spPr>
          <a:xfrm>
            <a:off x="1609344" y="1817817"/>
            <a:ext cx="9753600" cy="389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10231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User(</a:t>
            </a:r>
            <a:r>
              <a:rPr lang="en-US" sz="1467" b="1" dirty="0" err="1">
                <a:solidFill>
                  <a:srgbClr val="10231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verifiziert</a:t>
            </a:r>
            <a:r>
              <a:rPr lang="en-US" sz="1467" b="1" dirty="0">
                <a:solidFill>
                  <a:srgbClr val="10231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): </a:t>
            </a:r>
            <a:br>
              <a:rPr lang="en-US" sz="1467" dirty="0">
                <a:solidFill>
                  <a:srgbClr val="10231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</a:br>
            <a:r>
              <a:rPr lang="en-US" sz="1467" dirty="0" err="1">
                <a:solidFill>
                  <a:srgbClr val="10231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Erstellen</a:t>
            </a:r>
            <a:r>
              <a:rPr lang="en-US" sz="1467" dirty="0">
                <a:solidFill>
                  <a:srgbClr val="10231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467" dirty="0" err="1">
                <a:solidFill>
                  <a:srgbClr val="10231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Benutzer</a:t>
            </a:r>
            <a:r>
              <a:rPr lang="en-US" sz="1467" dirty="0">
                <a:solidFill>
                  <a:srgbClr val="10231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(</a:t>
            </a:r>
            <a:r>
              <a:rPr lang="en-US" sz="1467" dirty="0" err="1">
                <a:solidFill>
                  <a:srgbClr val="10231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owner_user_id</a:t>
            </a:r>
            <a:r>
              <a:rPr lang="en-US" sz="1467" dirty="0">
                <a:solidFill>
                  <a:srgbClr val="10231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), “Listen name” </a:t>
            </a:r>
            <a:r>
              <a:rPr lang="en-US" sz="1467" dirty="0" err="1">
                <a:solidFill>
                  <a:srgbClr val="10231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erforderlich</a:t>
            </a:r>
            <a:r>
              <a:rPr lang="en-US" sz="1467" dirty="0">
                <a:solidFill>
                  <a:srgbClr val="10231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(400)</a:t>
            </a:r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4FBB625A-AC11-A5BE-1B2C-EC0BEC105C50}"/>
              </a:ext>
            </a:extLst>
          </p:cNvPr>
          <p:cNvSpPr/>
          <p:nvPr/>
        </p:nvSpPr>
        <p:spPr>
          <a:xfrm>
            <a:off x="609600" y="2377440"/>
            <a:ext cx="10972800" cy="792480"/>
          </a:xfrm>
          <a:prstGeom prst="roundRect">
            <a:avLst>
              <a:gd name="adj" fmla="val 9231"/>
            </a:avLst>
          </a:prstGeom>
          <a:solidFill>
            <a:srgbClr val="F3F6F3"/>
          </a:solidFill>
          <a:ln w="12700">
            <a:solidFill>
              <a:srgbClr val="CED2CE"/>
            </a:solidFill>
            <a:prstDash val="solid"/>
          </a:ln>
        </p:spPr>
        <p:txBody>
          <a:bodyPr/>
          <a:lstStyle/>
          <a:p>
            <a:endParaRPr lang="de-DE" sz="2400"/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D7459075-3CB5-2B7A-8E4B-2A73A28A9589}"/>
              </a:ext>
            </a:extLst>
          </p:cNvPr>
          <p:cNvSpPr/>
          <p:nvPr/>
        </p:nvSpPr>
        <p:spPr>
          <a:xfrm>
            <a:off x="877824" y="2505456"/>
            <a:ext cx="536448" cy="536448"/>
          </a:xfrm>
          <a:prstGeom prst="ellipse">
            <a:avLst/>
          </a:prstGeom>
          <a:solidFill>
            <a:srgbClr val="E8985E"/>
          </a:solidFill>
          <a:ln/>
        </p:spPr>
        <p:txBody>
          <a:bodyPr/>
          <a:lstStyle/>
          <a:p>
            <a:endParaRPr lang="de-DE" sz="2400"/>
          </a:p>
        </p:txBody>
      </p:sp>
      <p:sp>
        <p:nvSpPr>
          <p:cNvPr id="701" name="RowHead701">
            <a:extLst>
              <a:ext uri="{FF2B5EF4-FFF2-40B4-BE49-F238E27FC236}">
                <a16:creationId xmlns:a16="http://schemas.microsoft.com/office/drawing/2014/main" id="{3F8A3B48-B13D-EE21-1B53-6A88628A1B32}"/>
              </a:ext>
            </a:extLst>
          </p:cNvPr>
          <p:cNvSpPr/>
          <p:nvPr/>
        </p:nvSpPr>
        <p:spPr>
          <a:xfrm>
            <a:off x="1609344" y="2412221"/>
            <a:ext cx="5462016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spc="80" dirty="0">
                <a:solidFill>
                  <a:srgbClr val="E8985E"/>
                </a:solidFill>
                <a:latin typeface="Segoe UI" pitchFamily="34" charset="0"/>
                <a:cs typeface="Segoe UI" pitchFamily="34" charset="0"/>
              </a:rPr>
              <a:t>WUN-2 </a:t>
            </a:r>
            <a:r>
              <a:rPr lang="en-US" sz="1867" b="1" dirty="0" err="1">
                <a:solidFill>
                  <a:srgbClr val="355E3B"/>
                </a:solidFill>
                <a:latin typeface="Segoe UI" pitchFamily="34" charset="0"/>
                <a:cs typeface="Segoe UI" pitchFamily="34" charset="0"/>
              </a:rPr>
              <a:t>Wunschliste</a:t>
            </a:r>
            <a:r>
              <a:rPr lang="en-US" sz="1867" b="1" dirty="0">
                <a:solidFill>
                  <a:srgbClr val="355E3B"/>
                </a:solidFill>
                <a:latin typeface="Segoe UI" pitchFamily="34" charset="0"/>
                <a:cs typeface="Segoe UI" pitchFamily="34" charset="0"/>
              </a:rPr>
              <a:t> </a:t>
            </a:r>
            <a:r>
              <a:rPr lang="en-US" sz="1867" b="1" dirty="0" err="1">
                <a:solidFill>
                  <a:srgbClr val="355E3B"/>
                </a:solidFill>
                <a:latin typeface="Segoe UI" pitchFamily="34" charset="0"/>
                <a:cs typeface="Segoe UI" pitchFamily="34" charset="0"/>
              </a:rPr>
              <a:t>anpassen</a:t>
            </a:r>
            <a:endParaRPr lang="en-US" sz="1867" b="1" dirty="0">
              <a:solidFill>
                <a:srgbClr val="355E3B"/>
              </a:solidFill>
              <a:latin typeface="Segoe UI" pitchFamily="34" charset="0"/>
              <a:cs typeface="Segoe UI" pitchFamily="34" charset="0"/>
            </a:endParaRPr>
          </a:p>
        </p:txBody>
      </p:sp>
      <p:sp>
        <p:nvSpPr>
          <p:cNvPr id="16" name="Text 12">
            <a:extLst>
              <a:ext uri="{FF2B5EF4-FFF2-40B4-BE49-F238E27FC236}">
                <a16:creationId xmlns:a16="http://schemas.microsoft.com/office/drawing/2014/main" id="{E58AD05E-879A-B4C3-3095-3CC6A6FACEF7}"/>
              </a:ext>
            </a:extLst>
          </p:cNvPr>
          <p:cNvSpPr/>
          <p:nvPr/>
        </p:nvSpPr>
        <p:spPr>
          <a:xfrm>
            <a:off x="7071360" y="2474975"/>
            <a:ext cx="4267200" cy="6461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333" dirty="0">
                <a:solidFill>
                  <a:srgbClr val="5D5D5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PUT /</a:t>
            </a:r>
            <a:r>
              <a:rPr lang="en-US" sz="1333" dirty="0" err="1">
                <a:solidFill>
                  <a:srgbClr val="5D5D5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</a:t>
            </a:r>
            <a:r>
              <a:rPr lang="en-US" sz="1333" dirty="0">
                <a:solidFill>
                  <a:srgbClr val="5D5D5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r>
              <a:rPr lang="en-US" sz="1333" dirty="0" err="1">
                <a:solidFill>
                  <a:srgbClr val="5D5D5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wishlists</a:t>
            </a:r>
            <a:r>
              <a:rPr lang="en-US" sz="1333" dirty="0">
                <a:solidFill>
                  <a:srgbClr val="5D5D5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/:id</a:t>
            </a:r>
          </a:p>
          <a:p>
            <a:pPr algn="r"/>
            <a:r>
              <a:rPr lang="de-DE" sz="1333" dirty="0">
                <a:solidFill>
                  <a:srgbClr val="5D5D5D"/>
                </a:solidFill>
                <a:latin typeface="Consolas" pitchFamily="34" charset="0"/>
              </a:rPr>
              <a:t>POST /:</a:t>
            </a:r>
            <a:r>
              <a:rPr lang="de-DE" sz="1333" dirty="0" err="1">
                <a:solidFill>
                  <a:srgbClr val="5D5D5D"/>
                </a:solidFill>
                <a:latin typeface="Consolas" pitchFamily="34" charset="0"/>
              </a:rPr>
              <a:t>id</a:t>
            </a:r>
            <a:r>
              <a:rPr lang="de-DE" sz="1333" dirty="0">
                <a:solidFill>
                  <a:srgbClr val="5D5D5D"/>
                </a:solidFill>
                <a:latin typeface="Consolas" pitchFamily="34" charset="0"/>
              </a:rPr>
              <a:t>/</a:t>
            </a:r>
            <a:r>
              <a:rPr lang="de-DE" sz="1333" dirty="0" err="1">
                <a:solidFill>
                  <a:srgbClr val="5D5D5D"/>
                </a:solidFill>
                <a:latin typeface="Consolas" pitchFamily="34" charset="0"/>
              </a:rPr>
              <a:t>products</a:t>
            </a:r>
            <a:endParaRPr lang="de-DE" sz="1333" dirty="0">
              <a:solidFill>
                <a:srgbClr val="5D5D5D"/>
              </a:solidFill>
              <a:latin typeface="Consolas" pitchFamily="34" charset="0"/>
            </a:endParaRPr>
          </a:p>
          <a:p>
            <a:pPr algn="r"/>
            <a:r>
              <a:rPr lang="en-US" sz="1333" dirty="0">
                <a:solidFill>
                  <a:srgbClr val="5D5D5D"/>
                </a:solidFill>
                <a:latin typeface="Consolas" pitchFamily="34" charset="0"/>
              </a:rPr>
              <a:t>DELETE /:id/products/:</a:t>
            </a:r>
            <a:r>
              <a:rPr lang="en-US" sz="1333" dirty="0" err="1">
                <a:solidFill>
                  <a:srgbClr val="5D5D5D"/>
                </a:solidFill>
                <a:latin typeface="Consolas" pitchFamily="34" charset="0"/>
              </a:rPr>
              <a:t>productId</a:t>
            </a:r>
            <a:endParaRPr lang="en-US" sz="1333" dirty="0">
              <a:solidFill>
                <a:srgbClr val="5D5D5D"/>
              </a:solidFill>
              <a:latin typeface="Consolas" pitchFamily="34" charset="0"/>
            </a:endParaRPr>
          </a:p>
        </p:txBody>
      </p:sp>
      <p:sp>
        <p:nvSpPr>
          <p:cNvPr id="17" name="Text 13">
            <a:extLst>
              <a:ext uri="{FF2B5EF4-FFF2-40B4-BE49-F238E27FC236}">
                <a16:creationId xmlns:a16="http://schemas.microsoft.com/office/drawing/2014/main" id="{1C20F79C-7F6D-A785-CCBF-0D995434D6BF}"/>
              </a:ext>
            </a:extLst>
          </p:cNvPr>
          <p:cNvSpPr/>
          <p:nvPr/>
        </p:nvSpPr>
        <p:spPr>
          <a:xfrm>
            <a:off x="1609344" y="2682837"/>
            <a:ext cx="9753600" cy="438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10231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User: </a:t>
            </a:r>
            <a:r>
              <a:rPr lang="en-US" sz="1467" dirty="0" err="1">
                <a:solidFill>
                  <a:srgbClr val="10231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Ändern</a:t>
            </a:r>
            <a:r>
              <a:rPr lang="en-US" sz="1467" dirty="0">
                <a:solidFill>
                  <a:srgbClr val="10231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467" dirty="0" err="1">
                <a:solidFill>
                  <a:srgbClr val="10231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Listenname</a:t>
            </a:r>
            <a:r>
              <a:rPr lang="en-US" sz="1467" dirty="0">
                <a:solidFill>
                  <a:srgbClr val="10231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&amp; </a:t>
            </a:r>
            <a:r>
              <a:rPr lang="en-US" sz="1467" dirty="0" err="1">
                <a:solidFill>
                  <a:srgbClr val="10231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beschreibung</a:t>
            </a:r>
            <a:r>
              <a:rPr lang="en-US" sz="1467" dirty="0">
                <a:solidFill>
                  <a:srgbClr val="10231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(je </a:t>
            </a:r>
            <a:r>
              <a:rPr lang="en-US" sz="1467" dirty="0" err="1">
                <a:solidFill>
                  <a:srgbClr val="10231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berechtigungsstufe</a:t>
            </a:r>
            <a:r>
              <a:rPr lang="en-US" sz="1467" dirty="0">
                <a:solidFill>
                  <a:srgbClr val="10231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)</a:t>
            </a:r>
            <a:br>
              <a:rPr lang="en-US" sz="1467" dirty="0">
                <a:solidFill>
                  <a:srgbClr val="10231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</a:br>
            <a:r>
              <a:rPr lang="en-US" sz="1467" dirty="0" err="1">
                <a:solidFill>
                  <a:srgbClr val="10231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Wunschliste</a:t>
            </a:r>
            <a:r>
              <a:rPr lang="en-US" sz="1467" dirty="0">
                <a:solidFill>
                  <a:srgbClr val="10231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und </a:t>
            </a:r>
            <a:r>
              <a:rPr lang="en-US" sz="1467" dirty="0" err="1">
                <a:solidFill>
                  <a:srgbClr val="10231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Produkte</a:t>
            </a:r>
            <a:r>
              <a:rPr lang="en-US" sz="1467" dirty="0">
                <a:solidFill>
                  <a:srgbClr val="10231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467" dirty="0" err="1">
                <a:solidFill>
                  <a:srgbClr val="10231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müssen</a:t>
            </a:r>
            <a:r>
              <a:rPr lang="en-US" sz="1467" dirty="0">
                <a:solidFill>
                  <a:srgbClr val="10231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in DB </a:t>
            </a:r>
            <a:r>
              <a:rPr lang="en-US" sz="1467" dirty="0" err="1">
                <a:solidFill>
                  <a:srgbClr val="10231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existieren</a:t>
            </a:r>
            <a:r>
              <a:rPr lang="en-US" sz="1467" dirty="0">
                <a:solidFill>
                  <a:srgbClr val="10231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(404)</a:t>
            </a:r>
          </a:p>
        </p:txBody>
      </p:sp>
      <p:sp>
        <p:nvSpPr>
          <p:cNvPr id="18" name="Shape 14">
            <a:extLst>
              <a:ext uri="{FF2B5EF4-FFF2-40B4-BE49-F238E27FC236}">
                <a16:creationId xmlns:a16="http://schemas.microsoft.com/office/drawing/2014/main" id="{E841A739-28E0-35B0-D883-435F72F295BF}"/>
              </a:ext>
            </a:extLst>
          </p:cNvPr>
          <p:cNvSpPr/>
          <p:nvPr/>
        </p:nvSpPr>
        <p:spPr>
          <a:xfrm>
            <a:off x="609600" y="3267456"/>
            <a:ext cx="10972800" cy="792480"/>
          </a:xfrm>
          <a:prstGeom prst="roundRect">
            <a:avLst>
              <a:gd name="adj" fmla="val 9231"/>
            </a:avLst>
          </a:prstGeom>
          <a:solidFill>
            <a:srgbClr val="F3F6F3"/>
          </a:solidFill>
          <a:ln w="12700">
            <a:solidFill>
              <a:srgbClr val="CED2CE"/>
            </a:solidFill>
            <a:prstDash val="solid"/>
          </a:ln>
        </p:spPr>
        <p:txBody>
          <a:bodyPr/>
          <a:lstStyle/>
          <a:p>
            <a:endParaRPr lang="de-DE" sz="2400"/>
          </a:p>
        </p:txBody>
      </p:sp>
      <p:sp>
        <p:nvSpPr>
          <p:cNvPr id="19" name="Shape 15">
            <a:extLst>
              <a:ext uri="{FF2B5EF4-FFF2-40B4-BE49-F238E27FC236}">
                <a16:creationId xmlns:a16="http://schemas.microsoft.com/office/drawing/2014/main" id="{D6854D6C-9693-4A89-69DA-3BC6B2B137BC}"/>
              </a:ext>
            </a:extLst>
          </p:cNvPr>
          <p:cNvSpPr/>
          <p:nvPr/>
        </p:nvSpPr>
        <p:spPr>
          <a:xfrm>
            <a:off x="877824" y="3395472"/>
            <a:ext cx="536448" cy="536448"/>
          </a:xfrm>
          <a:prstGeom prst="ellipse">
            <a:avLst/>
          </a:prstGeom>
          <a:solidFill>
            <a:srgbClr val="E8985E"/>
          </a:solidFill>
          <a:ln/>
        </p:spPr>
        <p:txBody>
          <a:bodyPr/>
          <a:lstStyle/>
          <a:p>
            <a:endParaRPr lang="de-DE" sz="2400"/>
          </a:p>
        </p:txBody>
      </p:sp>
      <p:sp>
        <p:nvSpPr>
          <p:cNvPr id="702" name="RowHead702">
            <a:extLst>
              <a:ext uri="{FF2B5EF4-FFF2-40B4-BE49-F238E27FC236}">
                <a16:creationId xmlns:a16="http://schemas.microsoft.com/office/drawing/2014/main" id="{48D1C349-940C-AB8C-E1E3-62DA5FD0629A}"/>
              </a:ext>
            </a:extLst>
          </p:cNvPr>
          <p:cNvSpPr/>
          <p:nvPr/>
        </p:nvSpPr>
        <p:spPr>
          <a:xfrm>
            <a:off x="1609344" y="3302237"/>
            <a:ext cx="5462016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spc="80" dirty="0">
                <a:solidFill>
                  <a:srgbClr val="E8985E"/>
                </a:solidFill>
                <a:latin typeface="Segoe UI" pitchFamily="34" charset="0"/>
                <a:cs typeface="Segoe UI" pitchFamily="34" charset="0"/>
              </a:rPr>
              <a:t>WUN-3 </a:t>
            </a:r>
            <a:r>
              <a:rPr lang="en-US" sz="1867" b="1" dirty="0" err="1">
                <a:solidFill>
                  <a:srgbClr val="355E3B"/>
                </a:solidFill>
                <a:latin typeface="Segoe UI" pitchFamily="34" charset="0"/>
                <a:cs typeface="Segoe UI" pitchFamily="34" charset="0"/>
              </a:rPr>
              <a:t>Wunschliste</a:t>
            </a:r>
            <a:r>
              <a:rPr lang="en-US" sz="1867" b="1" dirty="0">
                <a:solidFill>
                  <a:srgbClr val="355E3B"/>
                </a:solidFill>
                <a:latin typeface="Segoe UI" pitchFamily="34" charset="0"/>
                <a:cs typeface="Segoe UI" pitchFamily="34" charset="0"/>
              </a:rPr>
              <a:t> </a:t>
            </a:r>
            <a:r>
              <a:rPr lang="en-US" sz="1867" b="1" dirty="0" err="1">
                <a:solidFill>
                  <a:srgbClr val="355E3B"/>
                </a:solidFill>
                <a:latin typeface="Segoe UI" pitchFamily="34" charset="0"/>
                <a:cs typeface="Segoe UI" pitchFamily="34" charset="0"/>
              </a:rPr>
              <a:t>löschen</a:t>
            </a:r>
            <a:endParaRPr lang="en-US" sz="1867" b="1" dirty="0">
              <a:solidFill>
                <a:srgbClr val="355E3B"/>
              </a:solidFill>
              <a:latin typeface="Segoe UI" pitchFamily="34" charset="0"/>
              <a:cs typeface="Segoe UI" pitchFamily="34" charset="0"/>
            </a:endParaRPr>
          </a:p>
        </p:txBody>
      </p:sp>
      <p:sp>
        <p:nvSpPr>
          <p:cNvPr id="23" name="Text 18">
            <a:extLst>
              <a:ext uri="{FF2B5EF4-FFF2-40B4-BE49-F238E27FC236}">
                <a16:creationId xmlns:a16="http://schemas.microsoft.com/office/drawing/2014/main" id="{3BEA4130-49CF-6826-4BF2-34E8AF3FEF74}"/>
              </a:ext>
            </a:extLst>
          </p:cNvPr>
          <p:cNvSpPr/>
          <p:nvPr/>
        </p:nvSpPr>
        <p:spPr>
          <a:xfrm>
            <a:off x="7071360" y="3364992"/>
            <a:ext cx="426720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de-DE" sz="1333" dirty="0">
                <a:solidFill>
                  <a:srgbClr val="5D5D5D"/>
                </a:solidFill>
                <a:latin typeface="Consolas" pitchFamily="34" charset="0"/>
              </a:rPr>
              <a:t>DELETE /</a:t>
            </a:r>
            <a:r>
              <a:rPr lang="de-DE" sz="1333" dirty="0" err="1">
                <a:solidFill>
                  <a:srgbClr val="5D5D5D"/>
                </a:solidFill>
                <a:latin typeface="Consolas" pitchFamily="34" charset="0"/>
              </a:rPr>
              <a:t>api</a:t>
            </a:r>
            <a:r>
              <a:rPr lang="de-DE" sz="1333" dirty="0">
                <a:solidFill>
                  <a:srgbClr val="5D5D5D"/>
                </a:solidFill>
                <a:latin typeface="Consolas" pitchFamily="34" charset="0"/>
              </a:rPr>
              <a:t>/</a:t>
            </a:r>
            <a:r>
              <a:rPr lang="de-DE" sz="1333" dirty="0" err="1">
                <a:solidFill>
                  <a:srgbClr val="5D5D5D"/>
                </a:solidFill>
                <a:latin typeface="Consolas" pitchFamily="34" charset="0"/>
              </a:rPr>
              <a:t>wishlists</a:t>
            </a:r>
            <a:r>
              <a:rPr lang="de-DE" sz="1333" dirty="0">
                <a:solidFill>
                  <a:srgbClr val="5D5D5D"/>
                </a:solidFill>
                <a:latin typeface="Consolas" pitchFamily="34" charset="0"/>
              </a:rPr>
              <a:t>/:</a:t>
            </a:r>
            <a:r>
              <a:rPr lang="de-DE" sz="1333" dirty="0" err="1">
                <a:solidFill>
                  <a:srgbClr val="5D5D5D"/>
                </a:solidFill>
                <a:latin typeface="Consolas" pitchFamily="34" charset="0"/>
              </a:rPr>
              <a:t>id</a:t>
            </a:r>
            <a:endParaRPr lang="en-US" sz="1333" dirty="0">
              <a:solidFill>
                <a:srgbClr val="5D5D5D"/>
              </a:solidFill>
              <a:latin typeface="Consolas" pitchFamily="34" charset="0"/>
            </a:endParaRPr>
          </a:p>
        </p:txBody>
      </p:sp>
      <p:sp>
        <p:nvSpPr>
          <p:cNvPr id="24" name="Text 19">
            <a:extLst>
              <a:ext uri="{FF2B5EF4-FFF2-40B4-BE49-F238E27FC236}">
                <a16:creationId xmlns:a16="http://schemas.microsoft.com/office/drawing/2014/main" id="{1C6353C6-B4F8-B8BE-A11D-B0D5A457D685}"/>
              </a:ext>
            </a:extLst>
          </p:cNvPr>
          <p:cNvSpPr/>
          <p:nvPr/>
        </p:nvSpPr>
        <p:spPr>
          <a:xfrm>
            <a:off x="1609344" y="3564725"/>
            <a:ext cx="9753600" cy="445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10231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 (Owner): </a:t>
            </a:r>
            <a:r>
              <a:rPr lang="en-US" sz="1467" dirty="0" err="1">
                <a:solidFill>
                  <a:srgbClr val="102313"/>
                </a:solidFill>
                <a:latin typeface="Segoe UI" pitchFamily="34" charset="0"/>
                <a:cs typeface="Segoe UI" pitchFamily="34" charset="-120"/>
              </a:rPr>
              <a:t>nur</a:t>
            </a:r>
            <a:r>
              <a:rPr lang="en-US" sz="1467" dirty="0">
                <a:solidFill>
                  <a:srgbClr val="102313"/>
                </a:solidFill>
                <a:latin typeface="Segoe UI" pitchFamily="34" charset="0"/>
                <a:cs typeface="Segoe UI" pitchFamily="34" charset="-120"/>
              </a:rPr>
              <a:t> Owner </a:t>
            </a:r>
            <a:r>
              <a:rPr lang="en-US" sz="1467" dirty="0" err="1">
                <a:solidFill>
                  <a:srgbClr val="102313"/>
                </a:solidFill>
                <a:latin typeface="Segoe UI" pitchFamily="34" charset="0"/>
                <a:cs typeface="Segoe UI" pitchFamily="34" charset="-120"/>
              </a:rPr>
              <a:t>darf</a:t>
            </a:r>
            <a:r>
              <a:rPr lang="en-US" sz="1467" dirty="0">
                <a:solidFill>
                  <a:srgbClr val="102313"/>
                </a:solidFill>
                <a:latin typeface="Segoe UI" pitchFamily="34" charset="0"/>
                <a:cs typeface="Segoe UI" pitchFamily="34" charset="-120"/>
              </a:rPr>
              <a:t> </a:t>
            </a:r>
            <a:r>
              <a:rPr lang="en-US" sz="1467" dirty="0" err="1">
                <a:solidFill>
                  <a:srgbClr val="102313"/>
                </a:solidFill>
                <a:latin typeface="Segoe UI" pitchFamily="34" charset="0"/>
                <a:cs typeface="Segoe UI" pitchFamily="34" charset="-120"/>
              </a:rPr>
              <a:t>Liste</a:t>
            </a:r>
            <a:r>
              <a:rPr lang="en-US" sz="1467" dirty="0">
                <a:solidFill>
                  <a:srgbClr val="102313"/>
                </a:solidFill>
                <a:latin typeface="Segoe UI" pitchFamily="34" charset="0"/>
                <a:cs typeface="Segoe UI" pitchFamily="34" charset="-120"/>
              </a:rPr>
              <a:t> </a:t>
            </a:r>
            <a:r>
              <a:rPr lang="en-US" sz="1467" dirty="0" err="1">
                <a:solidFill>
                  <a:srgbClr val="102313"/>
                </a:solidFill>
                <a:latin typeface="Segoe UI" pitchFamily="34" charset="0"/>
                <a:cs typeface="Segoe UI" pitchFamily="34" charset="-120"/>
              </a:rPr>
              <a:t>löschen</a:t>
            </a:r>
            <a:r>
              <a:rPr lang="en-US" sz="1467" dirty="0">
                <a:solidFill>
                  <a:srgbClr val="102313"/>
                </a:solidFill>
                <a:latin typeface="Segoe UI" pitchFamily="34" charset="0"/>
                <a:cs typeface="Segoe UI" pitchFamily="34" charset="-120"/>
              </a:rPr>
              <a:t> (403) </a:t>
            </a:r>
          </a:p>
        </p:txBody>
      </p:sp>
      <p:sp>
        <p:nvSpPr>
          <p:cNvPr id="25" name="Shape 20">
            <a:extLst>
              <a:ext uri="{FF2B5EF4-FFF2-40B4-BE49-F238E27FC236}">
                <a16:creationId xmlns:a16="http://schemas.microsoft.com/office/drawing/2014/main" id="{3C344666-4F9A-A1C7-68BA-74E2176C7D53}"/>
              </a:ext>
            </a:extLst>
          </p:cNvPr>
          <p:cNvSpPr/>
          <p:nvPr/>
        </p:nvSpPr>
        <p:spPr>
          <a:xfrm>
            <a:off x="609600" y="4157472"/>
            <a:ext cx="10972800" cy="792480"/>
          </a:xfrm>
          <a:prstGeom prst="roundRect">
            <a:avLst>
              <a:gd name="adj" fmla="val 9231"/>
            </a:avLst>
          </a:prstGeom>
          <a:solidFill>
            <a:srgbClr val="F3F6F3"/>
          </a:solidFill>
          <a:ln w="12700">
            <a:solidFill>
              <a:srgbClr val="CED2CE"/>
            </a:solidFill>
            <a:prstDash val="solid"/>
          </a:ln>
        </p:spPr>
        <p:txBody>
          <a:bodyPr/>
          <a:lstStyle/>
          <a:p>
            <a:endParaRPr lang="de-DE" sz="2400" dirty="0"/>
          </a:p>
        </p:txBody>
      </p:sp>
      <p:sp>
        <p:nvSpPr>
          <p:cNvPr id="26" name="Shape 21">
            <a:extLst>
              <a:ext uri="{FF2B5EF4-FFF2-40B4-BE49-F238E27FC236}">
                <a16:creationId xmlns:a16="http://schemas.microsoft.com/office/drawing/2014/main" id="{4697039C-4F2A-1952-A2C1-65F7914D0968}"/>
              </a:ext>
            </a:extLst>
          </p:cNvPr>
          <p:cNvSpPr/>
          <p:nvPr/>
        </p:nvSpPr>
        <p:spPr>
          <a:xfrm>
            <a:off x="877824" y="4285488"/>
            <a:ext cx="536448" cy="536448"/>
          </a:xfrm>
          <a:prstGeom prst="ellipse">
            <a:avLst/>
          </a:prstGeom>
          <a:solidFill>
            <a:srgbClr val="E8985E"/>
          </a:solidFill>
          <a:ln/>
        </p:spPr>
        <p:txBody>
          <a:bodyPr/>
          <a:lstStyle/>
          <a:p>
            <a:endParaRPr lang="de-DE" sz="2400"/>
          </a:p>
        </p:txBody>
      </p:sp>
      <p:sp>
        <p:nvSpPr>
          <p:cNvPr id="703" name="RowHead703">
            <a:extLst>
              <a:ext uri="{FF2B5EF4-FFF2-40B4-BE49-F238E27FC236}">
                <a16:creationId xmlns:a16="http://schemas.microsoft.com/office/drawing/2014/main" id="{AA07422C-C429-2CE1-91F7-21A43E9DC5CA}"/>
              </a:ext>
            </a:extLst>
          </p:cNvPr>
          <p:cNvSpPr/>
          <p:nvPr/>
        </p:nvSpPr>
        <p:spPr>
          <a:xfrm>
            <a:off x="1609344" y="4192253"/>
            <a:ext cx="5462016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spc="80" dirty="0">
                <a:solidFill>
                  <a:srgbClr val="E8985E"/>
                </a:solidFill>
                <a:latin typeface="Segoe UI" pitchFamily="34" charset="0"/>
                <a:cs typeface="Segoe UI" pitchFamily="34" charset="0"/>
              </a:rPr>
              <a:t>WUN-4 </a:t>
            </a:r>
            <a:r>
              <a:rPr lang="en-US" sz="1867" b="1" dirty="0" err="1">
                <a:solidFill>
                  <a:srgbClr val="355E3B"/>
                </a:solidFill>
                <a:latin typeface="Segoe UI" pitchFamily="34" charset="0"/>
                <a:cs typeface="Segoe UI" pitchFamily="34" charset="0"/>
              </a:rPr>
              <a:t>Wunschliste</a:t>
            </a:r>
            <a:r>
              <a:rPr lang="en-US" sz="1867" b="1" dirty="0">
                <a:solidFill>
                  <a:srgbClr val="355E3B"/>
                </a:solidFill>
                <a:latin typeface="Segoe UI" pitchFamily="34" charset="0"/>
                <a:cs typeface="Segoe UI" pitchFamily="34" charset="0"/>
              </a:rPr>
              <a:t> </a:t>
            </a:r>
            <a:r>
              <a:rPr lang="en-US" sz="1867" b="1" dirty="0" err="1">
                <a:solidFill>
                  <a:srgbClr val="355E3B"/>
                </a:solidFill>
                <a:latin typeface="Segoe UI" pitchFamily="34" charset="0"/>
                <a:cs typeface="Segoe UI" pitchFamily="34" charset="0"/>
              </a:rPr>
              <a:t>Teilen</a:t>
            </a:r>
            <a:endParaRPr lang="en-US" sz="1867" b="1" dirty="0">
              <a:solidFill>
                <a:srgbClr val="355E3B"/>
              </a:solidFill>
              <a:latin typeface="Segoe UI" pitchFamily="34" charset="0"/>
              <a:cs typeface="Segoe UI" pitchFamily="34" charset="0"/>
            </a:endParaRPr>
          </a:p>
        </p:txBody>
      </p:sp>
      <p:sp>
        <p:nvSpPr>
          <p:cNvPr id="30" name="Text 24">
            <a:extLst>
              <a:ext uri="{FF2B5EF4-FFF2-40B4-BE49-F238E27FC236}">
                <a16:creationId xmlns:a16="http://schemas.microsoft.com/office/drawing/2014/main" id="{6C11248C-6898-1474-1EE7-77EFA17741AD}"/>
              </a:ext>
            </a:extLst>
          </p:cNvPr>
          <p:cNvSpPr/>
          <p:nvPr/>
        </p:nvSpPr>
        <p:spPr>
          <a:xfrm>
            <a:off x="7071360" y="4255008"/>
            <a:ext cx="426720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333" dirty="0">
                <a:solidFill>
                  <a:srgbClr val="5D5D5D"/>
                </a:solidFill>
                <a:latin typeface="Consolas" pitchFamily="34" charset="0"/>
              </a:rPr>
              <a:t>POST /</a:t>
            </a:r>
            <a:r>
              <a:rPr lang="en-US" sz="1333" dirty="0" err="1">
                <a:solidFill>
                  <a:srgbClr val="5D5D5D"/>
                </a:solidFill>
                <a:latin typeface="Consolas" pitchFamily="34" charset="0"/>
              </a:rPr>
              <a:t>api</a:t>
            </a:r>
            <a:r>
              <a:rPr lang="en-US" sz="1333" dirty="0">
                <a:solidFill>
                  <a:srgbClr val="5D5D5D"/>
                </a:solidFill>
                <a:latin typeface="Consolas" pitchFamily="34" charset="0"/>
              </a:rPr>
              <a:t>/</a:t>
            </a:r>
            <a:r>
              <a:rPr lang="en-US" sz="1333" dirty="0" err="1">
                <a:solidFill>
                  <a:srgbClr val="5D5D5D"/>
                </a:solidFill>
                <a:latin typeface="Consolas" pitchFamily="34" charset="0"/>
              </a:rPr>
              <a:t>wishlists</a:t>
            </a:r>
            <a:r>
              <a:rPr lang="en-US" sz="1333" dirty="0">
                <a:solidFill>
                  <a:srgbClr val="5D5D5D"/>
                </a:solidFill>
                <a:latin typeface="Consolas" pitchFamily="34" charset="0"/>
              </a:rPr>
              <a:t>/:id/share</a:t>
            </a:r>
          </a:p>
        </p:txBody>
      </p:sp>
      <p:sp>
        <p:nvSpPr>
          <p:cNvPr id="31" name="Text 25">
            <a:extLst>
              <a:ext uri="{FF2B5EF4-FFF2-40B4-BE49-F238E27FC236}">
                <a16:creationId xmlns:a16="http://schemas.microsoft.com/office/drawing/2014/main" id="{CEC5A58D-DD6B-0C2F-75E1-B6940F1FAF70}"/>
              </a:ext>
            </a:extLst>
          </p:cNvPr>
          <p:cNvSpPr/>
          <p:nvPr/>
        </p:nvSpPr>
        <p:spPr>
          <a:xfrm>
            <a:off x="1609344" y="4452695"/>
            <a:ext cx="9753600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10231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User: </a:t>
            </a:r>
            <a:r>
              <a:rPr lang="en-US" sz="1467" dirty="0" err="1">
                <a:solidFill>
                  <a:srgbClr val="102313"/>
                </a:solidFill>
                <a:latin typeface="Segoe UI" pitchFamily="34" charset="0"/>
                <a:cs typeface="Segoe UI" pitchFamily="34" charset="-120"/>
              </a:rPr>
              <a:t>Berichtigung</a:t>
            </a:r>
            <a:r>
              <a:rPr lang="en-US" sz="1467" dirty="0">
                <a:solidFill>
                  <a:srgbClr val="102313"/>
                </a:solidFill>
                <a:latin typeface="Segoe UI" pitchFamily="34" charset="0"/>
                <a:cs typeface="Segoe UI" pitchFamily="34" charset="-120"/>
              </a:rPr>
              <a:t> und </a:t>
            </a:r>
            <a:r>
              <a:rPr lang="en-US" sz="1467" dirty="0" err="1">
                <a:solidFill>
                  <a:srgbClr val="102313"/>
                </a:solidFill>
                <a:latin typeface="Segoe UI" pitchFamily="34" charset="0"/>
                <a:cs typeface="Segoe UI" pitchFamily="34" charset="-120"/>
              </a:rPr>
              <a:t>Freigabe</a:t>
            </a:r>
            <a:r>
              <a:rPr lang="en-US" sz="1467" dirty="0">
                <a:solidFill>
                  <a:srgbClr val="102313"/>
                </a:solidFill>
                <a:latin typeface="Segoe UI" pitchFamily="34" charset="0"/>
                <a:cs typeface="Segoe UI" pitchFamily="34" charset="-120"/>
              </a:rPr>
              <a:t> </a:t>
            </a:r>
            <a:r>
              <a:rPr lang="en-US" sz="1467" dirty="0" err="1">
                <a:solidFill>
                  <a:srgbClr val="102313"/>
                </a:solidFill>
                <a:latin typeface="Segoe UI" pitchFamily="34" charset="0"/>
                <a:cs typeface="Segoe UI" pitchFamily="34" charset="-120"/>
              </a:rPr>
              <a:t>nur</a:t>
            </a:r>
            <a:r>
              <a:rPr lang="en-US" sz="1467" dirty="0">
                <a:solidFill>
                  <a:srgbClr val="102313"/>
                </a:solidFill>
                <a:latin typeface="Segoe UI" pitchFamily="34" charset="0"/>
                <a:cs typeface="Segoe UI" pitchFamily="34" charset="-120"/>
              </a:rPr>
              <a:t> von </a:t>
            </a:r>
            <a:r>
              <a:rPr lang="en-US" sz="1467" dirty="0" err="1">
                <a:solidFill>
                  <a:srgbClr val="102313"/>
                </a:solidFill>
                <a:latin typeface="Segoe UI" pitchFamily="34" charset="0"/>
                <a:cs typeface="Segoe UI" pitchFamily="34" charset="-120"/>
              </a:rPr>
              <a:t>Besitzer</a:t>
            </a:r>
            <a:r>
              <a:rPr lang="en-US" sz="1467" dirty="0">
                <a:solidFill>
                  <a:srgbClr val="102313"/>
                </a:solidFill>
                <a:latin typeface="Segoe UI" pitchFamily="34" charset="0"/>
                <a:cs typeface="Segoe UI" pitchFamily="34" charset="-120"/>
              </a:rPr>
              <a:t> </a:t>
            </a:r>
            <a:r>
              <a:rPr lang="en-US" sz="1467" dirty="0" err="1">
                <a:solidFill>
                  <a:srgbClr val="102313"/>
                </a:solidFill>
                <a:latin typeface="Segoe UI" pitchFamily="34" charset="0"/>
                <a:cs typeface="Segoe UI" pitchFamily="34" charset="-120"/>
              </a:rPr>
              <a:t>oder</a:t>
            </a:r>
            <a:r>
              <a:rPr lang="en-US" sz="1467" dirty="0">
                <a:solidFill>
                  <a:srgbClr val="102313"/>
                </a:solidFill>
                <a:latin typeface="Segoe UI" pitchFamily="34" charset="0"/>
                <a:cs typeface="Segoe UI" pitchFamily="34" charset="-120"/>
              </a:rPr>
              <a:t> Admin</a:t>
            </a:r>
          </a:p>
          <a:p>
            <a:r>
              <a:rPr lang="en-US" sz="1467" dirty="0">
                <a:solidFill>
                  <a:srgbClr val="102313"/>
                </a:solidFill>
                <a:latin typeface="Segoe UI" pitchFamily="34" charset="0"/>
                <a:cs typeface="Segoe UI" pitchFamily="34" charset="-120"/>
              </a:rPr>
              <a:t>(read, write) an Andere User; Owner </a:t>
            </a:r>
            <a:r>
              <a:rPr lang="en-US" sz="1467" dirty="0" err="1">
                <a:solidFill>
                  <a:srgbClr val="102313"/>
                </a:solidFill>
                <a:latin typeface="Segoe UI" pitchFamily="34" charset="0"/>
                <a:cs typeface="Segoe UI" pitchFamily="34" charset="-120"/>
              </a:rPr>
              <a:t>ist</a:t>
            </a:r>
            <a:r>
              <a:rPr lang="en-US" sz="1467" dirty="0">
                <a:solidFill>
                  <a:srgbClr val="102313"/>
                </a:solidFill>
                <a:latin typeface="Segoe UI" pitchFamily="34" charset="0"/>
                <a:cs typeface="Segoe UI" pitchFamily="34" charset="-120"/>
              </a:rPr>
              <a:t> nicht </a:t>
            </a:r>
            <a:r>
              <a:rPr lang="en-US" sz="1467" dirty="0" err="1">
                <a:solidFill>
                  <a:srgbClr val="102313"/>
                </a:solidFill>
                <a:latin typeface="Segoe UI" pitchFamily="34" charset="0"/>
                <a:cs typeface="Segoe UI" pitchFamily="34" charset="-120"/>
              </a:rPr>
              <a:t>teilbar</a:t>
            </a:r>
            <a:r>
              <a:rPr lang="en-US" sz="1467" dirty="0">
                <a:solidFill>
                  <a:srgbClr val="102313"/>
                </a:solidFill>
                <a:latin typeface="Segoe UI" pitchFamily="34" charset="0"/>
                <a:cs typeface="Segoe UI" pitchFamily="34" charset="-120"/>
              </a:rPr>
              <a:t> (400)</a:t>
            </a:r>
          </a:p>
        </p:txBody>
      </p:sp>
      <p:sp>
        <p:nvSpPr>
          <p:cNvPr id="34" name="Text 28">
            <a:extLst>
              <a:ext uri="{FF2B5EF4-FFF2-40B4-BE49-F238E27FC236}">
                <a16:creationId xmlns:a16="http://schemas.microsoft.com/office/drawing/2014/main" id="{267AEA4D-BAE4-C4A8-4BC7-E00C8AFDEA35}"/>
              </a:ext>
            </a:extLst>
          </p:cNvPr>
          <p:cNvSpPr/>
          <p:nvPr/>
        </p:nvSpPr>
        <p:spPr>
          <a:xfrm>
            <a:off x="609600" y="6315456"/>
            <a:ext cx="243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>
                <a:solidFill>
                  <a:srgbClr val="8A8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16.07.2026</a:t>
            </a:r>
            <a:endParaRPr lang="en-US" sz="1200"/>
          </a:p>
        </p:txBody>
      </p:sp>
      <p:sp>
        <p:nvSpPr>
          <p:cNvPr id="35" name="Text 29">
            <a:extLst>
              <a:ext uri="{FF2B5EF4-FFF2-40B4-BE49-F238E27FC236}">
                <a16:creationId xmlns:a16="http://schemas.microsoft.com/office/drawing/2014/main" id="{D613646E-DA95-F7EF-4239-E46E36103DFF}"/>
              </a:ext>
            </a:extLst>
          </p:cNvPr>
          <p:cNvSpPr/>
          <p:nvPr/>
        </p:nvSpPr>
        <p:spPr>
          <a:xfrm>
            <a:off x="3657600" y="6315456"/>
            <a:ext cx="487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>
                <a:solidFill>
                  <a:srgbClr val="8A8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Bekir, Avid, Alex, Darian, Lara P., Sheila</a:t>
            </a:r>
            <a:endParaRPr lang="en-US" sz="1200"/>
          </a:p>
        </p:txBody>
      </p:sp>
      <p:sp>
        <p:nvSpPr>
          <p:cNvPr id="36" name="Text 30">
            <a:extLst>
              <a:ext uri="{FF2B5EF4-FFF2-40B4-BE49-F238E27FC236}">
                <a16:creationId xmlns:a16="http://schemas.microsoft.com/office/drawing/2014/main" id="{B599E42A-1F88-13E6-06C5-1C8EE5B9A56A}"/>
              </a:ext>
            </a:extLst>
          </p:cNvPr>
          <p:cNvSpPr/>
          <p:nvPr/>
        </p:nvSpPr>
        <p:spPr>
          <a:xfrm>
            <a:off x="11216640" y="6315456"/>
            <a:ext cx="60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1200">
                <a:solidFill>
                  <a:srgbClr val="E8985E"/>
                </a:solidFill>
                <a:latin typeface="Segoe UI" pitchFamily="34" charset="0"/>
                <a:cs typeface="Segoe UI" pitchFamily="34" charset="-120"/>
              </a:rPr>
              <a:t>22</a:t>
            </a:r>
            <a:endParaRPr lang="en-US" sz="1200"/>
          </a:p>
        </p:txBody>
      </p:sp>
      <p:sp>
        <p:nvSpPr>
          <p:cNvPr id="900" name="Accent900">
            <a:extLst>
              <a:ext uri="{FF2B5EF4-FFF2-40B4-BE49-F238E27FC236}">
                <a16:creationId xmlns:a16="http://schemas.microsoft.com/office/drawing/2014/main" id="{48A9EF0E-8466-4B54-C475-86DA903E979E}"/>
              </a:ext>
            </a:extLst>
          </p:cNvPr>
          <p:cNvSpPr/>
          <p:nvPr/>
        </p:nvSpPr>
        <p:spPr>
          <a:xfrm>
            <a:off x="365760" y="365760"/>
            <a:ext cx="60960" cy="999744"/>
          </a:xfrm>
          <a:prstGeom prst="roundRect">
            <a:avLst>
              <a:gd name="adj" fmla="val 50000"/>
            </a:avLst>
          </a:prstGeom>
          <a:solidFill>
            <a:srgbClr val="E8985E"/>
          </a:solidFill>
          <a:ln>
            <a:noFill/>
          </a:ln>
        </p:spPr>
        <p:txBody>
          <a:bodyPr/>
          <a:lstStyle/>
          <a:p>
            <a:endParaRPr lang="de-DE" sz="2400"/>
          </a:p>
        </p:txBody>
      </p:sp>
      <p:sp>
        <p:nvSpPr>
          <p:cNvPr id="920" name="Accent920">
            <a:extLst>
              <a:ext uri="{FF2B5EF4-FFF2-40B4-BE49-F238E27FC236}">
                <a16:creationId xmlns:a16="http://schemas.microsoft.com/office/drawing/2014/main" id="{5992A124-F034-44CD-F3AC-5114B7551F57}"/>
              </a:ext>
            </a:extLst>
          </p:cNvPr>
          <p:cNvSpPr/>
          <p:nvPr/>
        </p:nvSpPr>
        <p:spPr>
          <a:xfrm>
            <a:off x="609600" y="1548384"/>
            <a:ext cx="73152" cy="670560"/>
          </a:xfrm>
          <a:prstGeom prst="roundRect">
            <a:avLst>
              <a:gd name="adj" fmla="val 45000"/>
            </a:avLst>
          </a:prstGeom>
          <a:solidFill>
            <a:srgbClr val="E8985E"/>
          </a:solidFill>
          <a:ln>
            <a:noFill/>
          </a:ln>
        </p:spPr>
        <p:txBody>
          <a:bodyPr/>
          <a:lstStyle/>
          <a:p>
            <a:endParaRPr lang="de-DE" sz="2400"/>
          </a:p>
        </p:txBody>
      </p:sp>
      <p:sp>
        <p:nvSpPr>
          <p:cNvPr id="921" name="Accent921">
            <a:extLst>
              <a:ext uri="{FF2B5EF4-FFF2-40B4-BE49-F238E27FC236}">
                <a16:creationId xmlns:a16="http://schemas.microsoft.com/office/drawing/2014/main" id="{9719BE74-F6FA-7726-A24A-253C017D389B}"/>
              </a:ext>
            </a:extLst>
          </p:cNvPr>
          <p:cNvSpPr/>
          <p:nvPr/>
        </p:nvSpPr>
        <p:spPr>
          <a:xfrm>
            <a:off x="609600" y="2438400"/>
            <a:ext cx="73152" cy="670560"/>
          </a:xfrm>
          <a:prstGeom prst="roundRect">
            <a:avLst>
              <a:gd name="adj" fmla="val 45000"/>
            </a:avLst>
          </a:prstGeom>
          <a:solidFill>
            <a:srgbClr val="E8985E"/>
          </a:solidFill>
          <a:ln>
            <a:noFill/>
          </a:ln>
        </p:spPr>
        <p:txBody>
          <a:bodyPr/>
          <a:lstStyle/>
          <a:p>
            <a:endParaRPr lang="de-DE" sz="2400"/>
          </a:p>
        </p:txBody>
      </p:sp>
      <p:sp>
        <p:nvSpPr>
          <p:cNvPr id="922" name="Accent922">
            <a:extLst>
              <a:ext uri="{FF2B5EF4-FFF2-40B4-BE49-F238E27FC236}">
                <a16:creationId xmlns:a16="http://schemas.microsoft.com/office/drawing/2014/main" id="{2DDA2758-1949-C4D2-E406-8FF703CD4C3E}"/>
              </a:ext>
            </a:extLst>
          </p:cNvPr>
          <p:cNvSpPr/>
          <p:nvPr/>
        </p:nvSpPr>
        <p:spPr>
          <a:xfrm>
            <a:off x="609600" y="3328416"/>
            <a:ext cx="73152" cy="670560"/>
          </a:xfrm>
          <a:prstGeom prst="roundRect">
            <a:avLst>
              <a:gd name="adj" fmla="val 45000"/>
            </a:avLst>
          </a:prstGeom>
          <a:solidFill>
            <a:srgbClr val="E8985E"/>
          </a:solidFill>
          <a:ln>
            <a:noFill/>
          </a:ln>
        </p:spPr>
        <p:txBody>
          <a:bodyPr/>
          <a:lstStyle/>
          <a:p>
            <a:endParaRPr lang="de-DE" sz="2400"/>
          </a:p>
        </p:txBody>
      </p:sp>
      <p:sp>
        <p:nvSpPr>
          <p:cNvPr id="923" name="Accent923">
            <a:extLst>
              <a:ext uri="{FF2B5EF4-FFF2-40B4-BE49-F238E27FC236}">
                <a16:creationId xmlns:a16="http://schemas.microsoft.com/office/drawing/2014/main" id="{2DB880F7-E5A0-8065-D26E-5CCD0203CA7E}"/>
              </a:ext>
            </a:extLst>
          </p:cNvPr>
          <p:cNvSpPr/>
          <p:nvPr/>
        </p:nvSpPr>
        <p:spPr>
          <a:xfrm>
            <a:off x="609600" y="4218432"/>
            <a:ext cx="73152" cy="670560"/>
          </a:xfrm>
          <a:prstGeom prst="roundRect">
            <a:avLst>
              <a:gd name="adj" fmla="val 45000"/>
            </a:avLst>
          </a:prstGeom>
          <a:solidFill>
            <a:srgbClr val="E8985E"/>
          </a:solidFill>
          <a:ln>
            <a:noFill/>
          </a:ln>
        </p:spPr>
        <p:txBody>
          <a:bodyPr/>
          <a:lstStyle/>
          <a:p>
            <a:endParaRPr lang="de-DE" sz="2400"/>
          </a:p>
        </p:txBody>
      </p:sp>
      <p:sp>
        <p:nvSpPr>
          <p:cNvPr id="930" name="Hair930">
            <a:extLst>
              <a:ext uri="{FF2B5EF4-FFF2-40B4-BE49-F238E27FC236}">
                <a16:creationId xmlns:a16="http://schemas.microsoft.com/office/drawing/2014/main" id="{DF672A64-7D41-3192-9298-846F9E19A35F}"/>
              </a:ext>
            </a:extLst>
          </p:cNvPr>
          <p:cNvSpPr/>
          <p:nvPr/>
        </p:nvSpPr>
        <p:spPr>
          <a:xfrm>
            <a:off x="609600" y="6233334"/>
            <a:ext cx="10972800" cy="12700"/>
          </a:xfrm>
          <a:prstGeom prst="rect">
            <a:avLst/>
          </a:prstGeom>
          <a:solidFill>
            <a:srgbClr val="DCE7DE"/>
          </a:solidFill>
          <a:ln>
            <a:noFill/>
          </a:ln>
        </p:spPr>
        <p:txBody>
          <a:bodyPr/>
          <a:lstStyle/>
          <a:p>
            <a:endParaRPr lang="de-DE" sz="2400"/>
          </a:p>
        </p:txBody>
      </p:sp>
      <p:pic>
        <p:nvPicPr>
          <p:cNvPr id="7" name="Grafik 6" descr="Bleistift mit einfarbiger Füllung">
            <a:extLst>
              <a:ext uri="{FF2B5EF4-FFF2-40B4-BE49-F238E27FC236}">
                <a16:creationId xmlns:a16="http://schemas.microsoft.com/office/drawing/2014/main" id="{9F1B3F02-9E1A-3FE0-016C-E61EF7791A9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3459" y="2576417"/>
            <a:ext cx="345177" cy="345177"/>
          </a:xfrm>
          <a:prstGeom prst="rect">
            <a:avLst/>
          </a:prstGeom>
        </p:spPr>
      </p:pic>
      <p:pic>
        <p:nvPicPr>
          <p:cNvPr id="13" name="Grafik 12" descr="Schließen mit einfarbiger Füllung">
            <a:extLst>
              <a:ext uri="{FF2B5EF4-FFF2-40B4-BE49-F238E27FC236}">
                <a16:creationId xmlns:a16="http://schemas.microsoft.com/office/drawing/2014/main" id="{43F1B271-5358-4E49-F33C-FC1E4F0CAC8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80740" y="3490608"/>
            <a:ext cx="347040" cy="347040"/>
          </a:xfrm>
          <a:prstGeom prst="rect">
            <a:avLst/>
          </a:prstGeom>
        </p:spPr>
      </p:pic>
      <p:pic>
        <p:nvPicPr>
          <p:cNvPr id="21" name="Grafik 20" descr="Klemmbrett abgehakt mit einfarbiger Füllung">
            <a:extLst>
              <a:ext uri="{FF2B5EF4-FFF2-40B4-BE49-F238E27FC236}">
                <a16:creationId xmlns:a16="http://schemas.microsoft.com/office/drawing/2014/main" id="{B3EA57C3-486D-23AB-2984-1117719604A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0976" y="1665417"/>
            <a:ext cx="390144" cy="390144"/>
          </a:xfrm>
          <a:prstGeom prst="rect">
            <a:avLst/>
          </a:prstGeom>
        </p:spPr>
      </p:pic>
      <p:pic>
        <p:nvPicPr>
          <p:cNvPr id="27" name="Grafik 26" descr="Freigeben Silhouette">
            <a:extLst>
              <a:ext uri="{FF2B5EF4-FFF2-40B4-BE49-F238E27FC236}">
                <a16:creationId xmlns:a16="http://schemas.microsoft.com/office/drawing/2014/main" id="{0843694A-0696-9E1B-223D-1B065B883B9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32688" y="4337304"/>
            <a:ext cx="426720" cy="426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454936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CEB9716-5EA6-6A16-5138-65DEC8E346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79CBD3C9-4E66-426D-948E-7CF4778107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DE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DB95FCF-AD96-482F-9FB8-CD95725E6E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DE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64EEEC00-AD80-4734-BEE6-04CBDEC830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C6896D1-BFB1-4C84-82DD-31073BED3F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978660" y="5462458"/>
            <a:ext cx="82296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8A2FDFB1-2B6D-49EB-B6C0-FA923806E0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140" y="243841"/>
            <a:ext cx="11722100" cy="3964584"/>
          </a:xfrm>
          <a:prstGeom prst="rect">
            <a:avLst/>
          </a:prstGeom>
          <a:solidFill>
            <a:schemeClr val="bg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DE"/>
          </a:p>
        </p:txBody>
      </p:sp>
      <p:pic>
        <p:nvPicPr>
          <p:cNvPr id="7" name="Grafik 6" descr="Datenbank Silhouette">
            <a:extLst>
              <a:ext uri="{FF2B5EF4-FFF2-40B4-BE49-F238E27FC236}">
                <a16:creationId xmlns:a16="http://schemas.microsoft.com/office/drawing/2014/main" id="{D969E6A9-E345-EEFD-93E9-22033649277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78531" y="728472"/>
            <a:ext cx="3027316" cy="3027316"/>
          </a:xfrm>
          <a:prstGeom prst="rect">
            <a:avLst/>
          </a:prstGeom>
        </p:spPr>
      </p:pic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9D9D5FE6-48C0-DE8C-9A08-72555E24AEB7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1978660" y="5462458"/>
            <a:ext cx="836320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el 1">
            <a:extLst>
              <a:ext uri="{FF2B5EF4-FFF2-40B4-BE49-F238E27FC236}">
                <a16:creationId xmlns:a16="http://schemas.microsoft.com/office/drawing/2014/main" id="{F73A36E4-4E4A-B2FE-599C-0966626C2E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8709" y="4632960"/>
            <a:ext cx="9966960" cy="132588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85000"/>
              </a:lnSpc>
            </a:pPr>
            <a:r>
              <a:rPr lang="en-US" sz="6600" b="1" u="sng" cap="all" err="1">
                <a:solidFill>
                  <a:srgbClr val="FFFFFF"/>
                </a:solidFill>
              </a:rPr>
              <a:t>Datenbank</a:t>
            </a:r>
            <a:endParaRPr lang="en-US" sz="6600" b="1" u="sng" cap="all">
              <a:solidFill>
                <a:srgbClr val="FFFFFF"/>
              </a:solidFill>
            </a:endParaRP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2AFBAC71-8FC5-81BB-EC87-819A8EC3C0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7ABB07-5A84-41BF-947D-CCFACEA1875A}" type="datetime1">
              <a:rPr lang="de-DE" smtClean="0"/>
              <a:t>15.07.2026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A814F34-FD66-BB2E-9FD7-FBC5CF03FF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Bekir, Avid, Alex, Darian, Lara P., Sheila</a:t>
            </a:r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58EC176-06B6-35CB-F04D-4B2CCAFDE5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7EE8E-3513-4D7C-BF7B-7494C67953C0}" type="slidenum">
              <a:rPr lang="de-DE" smtClean="0"/>
              <a:t>38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9358428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42019DC-CA4A-239D-7198-D78C5D557D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400594"/>
            <a:ext cx="3931920" cy="1737360"/>
          </a:xfrm>
        </p:spPr>
        <p:txBody>
          <a:bodyPr/>
          <a:lstStyle/>
          <a:p>
            <a:pPr algn="ctr"/>
            <a:r>
              <a:rPr lang="de-DE"/>
              <a:t>Eine Datenbank - fünf Services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CB849ECD-F9C7-E362-F522-12A626C495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43000" y="2094412"/>
            <a:ext cx="3931920" cy="362058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e-DE" b="1" dirty="0"/>
              <a:t>Gemeinsame </a:t>
            </a:r>
            <a:r>
              <a:rPr lang="de-DE" b="1"/>
              <a:t>PostgreSQL</a:t>
            </a:r>
            <a:r>
              <a:rPr lang="de-DE" b="1" dirty="0"/>
              <a:t>-Datenbank: </a:t>
            </a:r>
            <a:r>
              <a:rPr lang="de-DE" dirty="0"/>
              <a:t>Alle  Backend-Services greifen auf selbe PostgreSQL-Instanz zu</a:t>
            </a:r>
          </a:p>
          <a:p>
            <a:r>
              <a:rPr lang="de-DE" b="1" dirty="0"/>
              <a:t>Automatisches Setup durch </a:t>
            </a:r>
            <a:r>
              <a:rPr lang="de-DE" b="1" err="1"/>
              <a:t>init.sql</a:t>
            </a:r>
            <a:r>
              <a:rPr lang="de-DE" b="1" dirty="0"/>
              <a:t>: </a:t>
            </a:r>
            <a:r>
              <a:rPr lang="de-DE" err="1"/>
              <a:t>init.sql</a:t>
            </a:r>
            <a:r>
              <a:rPr lang="de-DE" dirty="0"/>
              <a:t> wird bei erstem Containerstart ausgeführt </a:t>
            </a:r>
            <a:r>
              <a:rPr lang="de-DE">
                <a:latin typeface="-webkit-standard"/>
              </a:rPr>
              <a:t>→ </a:t>
            </a:r>
            <a:r>
              <a:rPr lang="de-DE"/>
              <a:t>Erstellung ohne manuellen </a:t>
            </a:r>
            <a:r>
              <a:rPr lang="de-DE" dirty="0"/>
              <a:t>Eingriff</a:t>
            </a:r>
          </a:p>
          <a:p>
            <a:r>
              <a:rPr lang="de-DE" b="1" dirty="0"/>
              <a:t>Persistenz über Docker Volume:  </a:t>
            </a:r>
            <a:r>
              <a:rPr lang="de-DE" dirty="0"/>
              <a:t>Daten </a:t>
            </a:r>
            <a:r>
              <a:rPr lang="de-DE"/>
              <a:t>liegen auf Host-Rechner </a:t>
            </a:r>
            <a:r>
              <a:rPr lang="de-DE">
                <a:latin typeface="-webkit-standard"/>
              </a:rPr>
              <a:t>→</a:t>
            </a:r>
            <a:r>
              <a:rPr lang="de-DE"/>
              <a:t> Container  </a:t>
            </a:r>
            <a:r>
              <a:rPr lang="de-DE" dirty="0"/>
              <a:t>können ohne Probleme gestoppt oder gelöscht werden</a:t>
            </a:r>
          </a:p>
          <a:p>
            <a:endParaRPr lang="de-DE" b="1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E7C3D78-37C5-498B-26EE-96F551C937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3DA46-2E12-402E-B3E7-8AEBE7164A0E}" type="datetime1">
              <a:rPr lang="de-DE" smtClean="0"/>
              <a:t>15.07.2026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1E4B074E-8930-E73C-0928-8DE16DA6BA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Bekir, Avid, Alex, Darian, Lara P., Sheila</a:t>
            </a:r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742280D-40CD-E9FE-5175-AC00F73090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7EE8E-3513-4D7C-BF7B-7494C67953C0}" type="slidenum">
              <a:rPr lang="de-DE" smtClean="0"/>
              <a:t>39</a:t>
            </a:fld>
            <a:endParaRPr lang="de-DE"/>
          </a:p>
        </p:txBody>
      </p:sp>
      <p:sp>
        <p:nvSpPr>
          <p:cNvPr id="8" name="Rechteck: abgerundete Ecken 7">
            <a:extLst>
              <a:ext uri="{FF2B5EF4-FFF2-40B4-BE49-F238E27FC236}">
                <a16:creationId xmlns:a16="http://schemas.microsoft.com/office/drawing/2014/main" id="{9878B639-9849-38F9-5CFE-166021364645}"/>
              </a:ext>
            </a:extLst>
          </p:cNvPr>
          <p:cNvSpPr/>
          <p:nvPr/>
        </p:nvSpPr>
        <p:spPr>
          <a:xfrm>
            <a:off x="9832147" y="1873623"/>
            <a:ext cx="1673411" cy="310776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b="1"/>
              <a:t>PostgreSQL</a:t>
            </a:r>
          </a:p>
          <a:p>
            <a:pPr algn="ctr"/>
            <a:r>
              <a:rPr lang="de-DE"/>
              <a:t>Datenbank</a:t>
            </a:r>
          </a:p>
        </p:txBody>
      </p:sp>
      <p:sp>
        <p:nvSpPr>
          <p:cNvPr id="9" name="Rechteck: abgerundete Ecken 8">
            <a:extLst>
              <a:ext uri="{FF2B5EF4-FFF2-40B4-BE49-F238E27FC236}">
                <a16:creationId xmlns:a16="http://schemas.microsoft.com/office/drawing/2014/main" id="{62052477-8E21-4261-1724-C52C79B5128F}"/>
              </a:ext>
            </a:extLst>
          </p:cNvPr>
          <p:cNvSpPr/>
          <p:nvPr/>
        </p:nvSpPr>
        <p:spPr>
          <a:xfrm>
            <a:off x="6327801" y="633506"/>
            <a:ext cx="2198914" cy="863600"/>
          </a:xfrm>
          <a:prstGeom prst="roundRect">
            <a:avLst/>
          </a:prstGeom>
          <a:solidFill>
            <a:schemeClr val="accent3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err="1"/>
              <a:t>auth</a:t>
            </a:r>
            <a:r>
              <a:rPr lang="de-DE"/>
              <a:t>-service</a:t>
            </a:r>
          </a:p>
        </p:txBody>
      </p:sp>
      <p:sp>
        <p:nvSpPr>
          <p:cNvPr id="10" name="Rechteck: abgerundete Ecken 9">
            <a:extLst>
              <a:ext uri="{FF2B5EF4-FFF2-40B4-BE49-F238E27FC236}">
                <a16:creationId xmlns:a16="http://schemas.microsoft.com/office/drawing/2014/main" id="{B62E8A4E-9ED8-B53C-644C-77E340F49B88}"/>
              </a:ext>
            </a:extLst>
          </p:cNvPr>
          <p:cNvSpPr/>
          <p:nvPr/>
        </p:nvSpPr>
        <p:spPr>
          <a:xfrm>
            <a:off x="6327800" y="1801905"/>
            <a:ext cx="2198914" cy="863600"/>
          </a:xfrm>
          <a:prstGeom prst="roundRect">
            <a:avLst/>
          </a:prstGeom>
          <a:solidFill>
            <a:schemeClr val="accent3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de-DE" err="1"/>
              <a:t>authorization</a:t>
            </a:r>
            <a:r>
              <a:rPr lang="de-DE"/>
              <a:t>-service</a:t>
            </a:r>
          </a:p>
        </p:txBody>
      </p:sp>
      <p:sp>
        <p:nvSpPr>
          <p:cNvPr id="12" name="Rechteck: abgerundete Ecken 11">
            <a:extLst>
              <a:ext uri="{FF2B5EF4-FFF2-40B4-BE49-F238E27FC236}">
                <a16:creationId xmlns:a16="http://schemas.microsoft.com/office/drawing/2014/main" id="{1BF94974-54D9-98DD-9C76-372EABCE3232}"/>
              </a:ext>
            </a:extLst>
          </p:cNvPr>
          <p:cNvSpPr/>
          <p:nvPr/>
        </p:nvSpPr>
        <p:spPr>
          <a:xfrm>
            <a:off x="6327800" y="2970306"/>
            <a:ext cx="2198914" cy="863600"/>
          </a:xfrm>
          <a:prstGeom prst="roundRect">
            <a:avLst/>
          </a:prstGeom>
          <a:solidFill>
            <a:schemeClr val="accent3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de-DE"/>
              <a:t>user-management</a:t>
            </a:r>
          </a:p>
        </p:txBody>
      </p:sp>
      <p:sp>
        <p:nvSpPr>
          <p:cNvPr id="13" name="Rechteck: abgerundete Ecken 12">
            <a:extLst>
              <a:ext uri="{FF2B5EF4-FFF2-40B4-BE49-F238E27FC236}">
                <a16:creationId xmlns:a16="http://schemas.microsoft.com/office/drawing/2014/main" id="{268B6FAC-3888-B89D-88FF-01E874B28260}"/>
              </a:ext>
            </a:extLst>
          </p:cNvPr>
          <p:cNvSpPr/>
          <p:nvPr/>
        </p:nvSpPr>
        <p:spPr>
          <a:xfrm>
            <a:off x="6306029" y="4116933"/>
            <a:ext cx="2198914" cy="863600"/>
          </a:xfrm>
          <a:prstGeom prst="roundRect">
            <a:avLst/>
          </a:prstGeom>
          <a:solidFill>
            <a:schemeClr val="accent3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de-DE" err="1"/>
              <a:t>inventory</a:t>
            </a:r>
          </a:p>
        </p:txBody>
      </p:sp>
      <p:sp>
        <p:nvSpPr>
          <p:cNvPr id="14" name="Rechteck: abgerundete Ecken 13">
            <a:extLst>
              <a:ext uri="{FF2B5EF4-FFF2-40B4-BE49-F238E27FC236}">
                <a16:creationId xmlns:a16="http://schemas.microsoft.com/office/drawing/2014/main" id="{CCFA44CA-DBA3-C64C-7124-4F422274A00F}"/>
              </a:ext>
            </a:extLst>
          </p:cNvPr>
          <p:cNvSpPr/>
          <p:nvPr/>
        </p:nvSpPr>
        <p:spPr>
          <a:xfrm>
            <a:off x="6306030" y="5285334"/>
            <a:ext cx="2198914" cy="863600"/>
          </a:xfrm>
          <a:prstGeom prst="roundRect">
            <a:avLst/>
          </a:prstGeom>
          <a:solidFill>
            <a:schemeClr val="accent3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de-DE" err="1"/>
              <a:t>wishlist</a:t>
            </a:r>
          </a:p>
        </p:txBody>
      </p:sp>
      <p:cxnSp>
        <p:nvCxnSpPr>
          <p:cNvPr id="15" name="Gerade Verbindung mit Pfeil 14">
            <a:extLst>
              <a:ext uri="{FF2B5EF4-FFF2-40B4-BE49-F238E27FC236}">
                <a16:creationId xmlns:a16="http://schemas.microsoft.com/office/drawing/2014/main" id="{C76896C8-D429-0F85-BE85-808D5EB215B1}"/>
              </a:ext>
            </a:extLst>
          </p:cNvPr>
          <p:cNvCxnSpPr/>
          <p:nvPr/>
        </p:nvCxnSpPr>
        <p:spPr>
          <a:xfrm>
            <a:off x="8537347" y="1040039"/>
            <a:ext cx="1306513" cy="991279"/>
          </a:xfrm>
          <a:prstGeom prst="straightConnector1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Gerade Verbindung mit Pfeil 15">
            <a:extLst>
              <a:ext uri="{FF2B5EF4-FFF2-40B4-BE49-F238E27FC236}">
                <a16:creationId xmlns:a16="http://schemas.microsoft.com/office/drawing/2014/main" id="{61D75B79-39C7-1228-622F-D3998A3EED69}"/>
              </a:ext>
            </a:extLst>
          </p:cNvPr>
          <p:cNvCxnSpPr/>
          <p:nvPr/>
        </p:nvCxnSpPr>
        <p:spPr>
          <a:xfrm>
            <a:off x="8515576" y="2200048"/>
            <a:ext cx="1285875" cy="384174"/>
          </a:xfrm>
          <a:prstGeom prst="straightConnector1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Gerade Verbindung mit Pfeil 16">
            <a:extLst>
              <a:ext uri="{FF2B5EF4-FFF2-40B4-BE49-F238E27FC236}">
                <a16:creationId xmlns:a16="http://schemas.microsoft.com/office/drawing/2014/main" id="{6F1307BA-94B5-F1CC-CEC3-D8971FDF747E}"/>
              </a:ext>
            </a:extLst>
          </p:cNvPr>
          <p:cNvCxnSpPr/>
          <p:nvPr/>
        </p:nvCxnSpPr>
        <p:spPr>
          <a:xfrm>
            <a:off x="8524875" y="3381375"/>
            <a:ext cx="1357312" cy="29882"/>
          </a:xfrm>
          <a:prstGeom prst="straightConnector1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Gerade Verbindung mit Pfeil 17">
            <a:extLst>
              <a:ext uri="{FF2B5EF4-FFF2-40B4-BE49-F238E27FC236}">
                <a16:creationId xmlns:a16="http://schemas.microsoft.com/office/drawing/2014/main" id="{F2A9AAAB-2762-90EC-9AB7-E7AA728A8B80}"/>
              </a:ext>
            </a:extLst>
          </p:cNvPr>
          <p:cNvCxnSpPr/>
          <p:nvPr/>
        </p:nvCxnSpPr>
        <p:spPr>
          <a:xfrm flipV="1">
            <a:off x="8516470" y="4174137"/>
            <a:ext cx="1292198" cy="323583"/>
          </a:xfrm>
          <a:prstGeom prst="straightConnector1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Gerade Verbindung mit Pfeil 19">
            <a:extLst>
              <a:ext uri="{FF2B5EF4-FFF2-40B4-BE49-F238E27FC236}">
                <a16:creationId xmlns:a16="http://schemas.microsoft.com/office/drawing/2014/main" id="{0262F3E6-E2A0-AB9D-1B8D-F3034C10A972}"/>
              </a:ext>
            </a:extLst>
          </p:cNvPr>
          <p:cNvCxnSpPr/>
          <p:nvPr/>
        </p:nvCxnSpPr>
        <p:spPr>
          <a:xfrm flipV="1">
            <a:off x="8531411" y="4820023"/>
            <a:ext cx="1299455" cy="872564"/>
          </a:xfrm>
          <a:prstGeom prst="straightConnector1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947381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F8E6B96-DEE8-1021-8036-339FA40F7C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D036D0D5-3AA0-47FD-A83C-7A06CA2EEE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DE"/>
          </a:p>
        </p:txBody>
      </p:sp>
      <p:pic>
        <p:nvPicPr>
          <p:cNvPr id="7" name="Inhaltsplatzhalter 6" descr="Ein Bild, das Text, Diagramm, Screenshot, Plan enthält.&#10;&#10;KI-generierte Inhalte können fehlerhaft sein.">
            <a:extLst>
              <a:ext uri="{FF2B5EF4-FFF2-40B4-BE49-F238E27FC236}">
                <a16:creationId xmlns:a16="http://schemas.microsoft.com/office/drawing/2014/main" id="{398AAA7A-EFD1-ADAF-C11A-12CB2D35B34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97474" y="246597"/>
            <a:ext cx="8617272" cy="6035730"/>
          </a:xfrm>
          <a:prstGeom prst="rect">
            <a:avLst/>
          </a:prstGeom>
        </p:spPr>
      </p:pic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A15F67A-5F0A-F34B-FC79-BA18513FC4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42996" y="6280978"/>
            <a:ext cx="2329074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8FDC302C-8B54-4A8A-89E4-54517B84FE7F}" type="datetime1">
              <a:rPr lang="en-US"/>
              <a:pPr>
                <a:spcAft>
                  <a:spcPts val="600"/>
                </a:spcAft>
              </a:pPr>
              <a:t>7/15/2026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90C1C06-B91E-AD79-F608-6D5EC856A4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49148" y="6280978"/>
            <a:ext cx="4717774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kern="120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Bekir, Avid, Alex, Darian, Lara P., Sheila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88D4C9B-DBC0-FEFD-B1BE-D768D6D84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9530" y="6280978"/>
            <a:ext cx="1706217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D817EE8E-3513-4D7C-BF7B-7494C67953C0}" type="slidenum">
              <a:rPr lang="en-US"/>
              <a:pPr>
                <a:spcAft>
                  <a:spcPts val="600"/>
                </a:spcAft>
              </a:pPr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447780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13E1C32-CDC1-E9BC-E129-12EE42945B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4771" y="355600"/>
            <a:ext cx="9875520" cy="826589"/>
          </a:xfrm>
        </p:spPr>
        <p:txBody>
          <a:bodyPr/>
          <a:lstStyle/>
          <a:p>
            <a:pPr algn="ctr">
              <a:spcBef>
                <a:spcPts val="0"/>
              </a:spcBef>
            </a:pPr>
            <a:r>
              <a:rPr lang="de-DE" dirty="0"/>
              <a:t>Zugehörigkeiten der Tabellen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844DDE00-E243-A958-C483-69086778FE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DB89BE-3646-4CDD-B837-415A03B5F3DF}" type="datetime1">
              <a:rPr lang="de-DE" smtClean="0"/>
              <a:t>15.07.2026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31C2B85-E844-D87C-BE23-77729C1BEF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Bekir, Avid, Alex, Darian, Lara P., Sheila</a:t>
            </a:r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BCA09AE-CAAA-D4D6-5EF8-B582F4DF8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7EE8E-3513-4D7C-BF7B-7494C67953C0}" type="slidenum">
              <a:rPr lang="de-DE" smtClean="0"/>
              <a:t>41</a:t>
            </a:fld>
            <a:endParaRPr lang="de-DE"/>
          </a:p>
        </p:txBody>
      </p:sp>
      <p:sp>
        <p:nvSpPr>
          <p:cNvPr id="6" name="Rechteck: abgerundete Ecken 5">
            <a:extLst>
              <a:ext uri="{FF2B5EF4-FFF2-40B4-BE49-F238E27FC236}">
                <a16:creationId xmlns:a16="http://schemas.microsoft.com/office/drawing/2014/main" id="{223376CD-0C74-2662-2734-BBFFEDB48C7D}"/>
              </a:ext>
            </a:extLst>
          </p:cNvPr>
          <p:cNvSpPr/>
          <p:nvPr/>
        </p:nvSpPr>
        <p:spPr>
          <a:xfrm>
            <a:off x="603479" y="1597446"/>
            <a:ext cx="3341783" cy="20381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Rechteck: abgerundete Ecken 6">
            <a:extLst>
              <a:ext uri="{FF2B5EF4-FFF2-40B4-BE49-F238E27FC236}">
                <a16:creationId xmlns:a16="http://schemas.microsoft.com/office/drawing/2014/main" id="{533C930B-1A4E-B30E-D409-7D4602ADCCE4}"/>
              </a:ext>
            </a:extLst>
          </p:cNvPr>
          <p:cNvSpPr/>
          <p:nvPr/>
        </p:nvSpPr>
        <p:spPr>
          <a:xfrm>
            <a:off x="6307593" y="3926988"/>
            <a:ext cx="3341783" cy="20381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Rechteck: abgerundete Ecken 7">
            <a:extLst>
              <a:ext uri="{FF2B5EF4-FFF2-40B4-BE49-F238E27FC236}">
                <a16:creationId xmlns:a16="http://schemas.microsoft.com/office/drawing/2014/main" id="{6062488B-F4E8-A645-02CA-F7767B44B34B}"/>
              </a:ext>
            </a:extLst>
          </p:cNvPr>
          <p:cNvSpPr/>
          <p:nvPr/>
        </p:nvSpPr>
        <p:spPr>
          <a:xfrm>
            <a:off x="2279877" y="3926987"/>
            <a:ext cx="3341783" cy="20381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Rechteck: abgerundete Ecken 8">
            <a:extLst>
              <a:ext uri="{FF2B5EF4-FFF2-40B4-BE49-F238E27FC236}">
                <a16:creationId xmlns:a16="http://schemas.microsoft.com/office/drawing/2014/main" id="{43F5D6B8-150C-33FC-25E8-CAF948D81966}"/>
              </a:ext>
            </a:extLst>
          </p:cNvPr>
          <p:cNvSpPr/>
          <p:nvPr/>
        </p:nvSpPr>
        <p:spPr>
          <a:xfrm>
            <a:off x="4348163" y="1597444"/>
            <a:ext cx="3341783" cy="20381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Rechteck: abgerundete Ecken 9">
            <a:extLst>
              <a:ext uri="{FF2B5EF4-FFF2-40B4-BE49-F238E27FC236}">
                <a16:creationId xmlns:a16="http://schemas.microsoft.com/office/drawing/2014/main" id="{493662F8-F854-C59D-6825-F1AF07FCCC70}"/>
              </a:ext>
            </a:extLst>
          </p:cNvPr>
          <p:cNvSpPr/>
          <p:nvPr/>
        </p:nvSpPr>
        <p:spPr>
          <a:xfrm>
            <a:off x="8179935" y="1597445"/>
            <a:ext cx="3341783" cy="20381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79D8842D-6C95-1605-3D17-DE17A1BEBD0A}"/>
              </a:ext>
            </a:extLst>
          </p:cNvPr>
          <p:cNvSpPr txBox="1"/>
          <p:nvPr/>
        </p:nvSpPr>
        <p:spPr>
          <a:xfrm>
            <a:off x="752818" y="1744337"/>
            <a:ext cx="3011277" cy="113877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de-DE" sz="2000" err="1">
                <a:solidFill>
                  <a:schemeClr val="bg1"/>
                </a:solidFill>
              </a:rPr>
              <a:t>auth</a:t>
            </a:r>
            <a:r>
              <a:rPr lang="de-DE" sz="2000">
                <a:solidFill>
                  <a:schemeClr val="bg1"/>
                </a:solidFill>
              </a:rPr>
              <a:t>-service:</a:t>
            </a:r>
          </a:p>
          <a:p>
            <a:pPr marL="285750" indent="-285750">
              <a:buFont typeface="Calibri"/>
              <a:buChar char="-"/>
            </a:pPr>
            <a:r>
              <a:rPr lang="de-DE" sz="1600" err="1">
                <a:solidFill>
                  <a:schemeClr val="bg1"/>
                </a:solidFill>
              </a:rPr>
              <a:t>users</a:t>
            </a:r>
            <a:endParaRPr lang="de-DE" sz="1600">
              <a:solidFill>
                <a:schemeClr val="bg1"/>
              </a:solidFill>
            </a:endParaRPr>
          </a:p>
          <a:p>
            <a:pPr marL="285750" indent="-285750">
              <a:buFont typeface="Calibri"/>
              <a:buChar char="-"/>
            </a:pPr>
            <a:r>
              <a:rPr lang="de-DE" sz="1600" err="1">
                <a:solidFill>
                  <a:schemeClr val="bg1"/>
                </a:solidFill>
              </a:rPr>
              <a:t>verification_tokens</a:t>
            </a:r>
            <a:endParaRPr lang="de-DE" sz="1600">
              <a:solidFill>
                <a:schemeClr val="bg1"/>
              </a:solidFill>
            </a:endParaRPr>
          </a:p>
          <a:p>
            <a:pPr marL="285750" indent="-285750">
              <a:buFont typeface="Calibri"/>
              <a:buChar char="-"/>
            </a:pPr>
            <a:r>
              <a:rPr lang="de-DE" sz="1600" err="1">
                <a:solidFill>
                  <a:schemeClr val="bg1"/>
                </a:solidFill>
              </a:rPr>
              <a:t>token_blacklist</a:t>
            </a:r>
            <a:endParaRPr lang="de-DE" sz="1600">
              <a:solidFill>
                <a:schemeClr val="bg1"/>
              </a:solidFill>
            </a:endParaRP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A1646F3A-A574-7927-D241-9B2239DBA099}"/>
              </a:ext>
            </a:extLst>
          </p:cNvPr>
          <p:cNvSpPr txBox="1"/>
          <p:nvPr/>
        </p:nvSpPr>
        <p:spPr>
          <a:xfrm>
            <a:off x="4461831" y="1689252"/>
            <a:ext cx="3048000" cy="163121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de-DE" sz="2000" err="1">
                <a:solidFill>
                  <a:schemeClr val="bg1"/>
                </a:solidFill>
              </a:rPr>
              <a:t>inventory</a:t>
            </a:r>
            <a:r>
              <a:rPr lang="de-DE" sz="2000">
                <a:solidFill>
                  <a:schemeClr val="bg1"/>
                </a:solidFill>
              </a:rPr>
              <a:t>-service:</a:t>
            </a:r>
          </a:p>
          <a:p>
            <a:pPr marL="285750" indent="-285750">
              <a:buFont typeface="Calibri"/>
              <a:buChar char="-"/>
            </a:pPr>
            <a:r>
              <a:rPr lang="de-DE" sz="1600" err="1">
                <a:solidFill>
                  <a:schemeClr val="bg1"/>
                </a:solidFill>
              </a:rPr>
              <a:t>products</a:t>
            </a:r>
            <a:endParaRPr lang="de-DE" sz="1600">
              <a:solidFill>
                <a:schemeClr val="bg1"/>
              </a:solidFill>
            </a:endParaRPr>
          </a:p>
          <a:p>
            <a:pPr marL="285750" indent="-285750">
              <a:buFont typeface="Calibri"/>
              <a:buChar char="-"/>
            </a:pPr>
            <a:r>
              <a:rPr lang="de-DE" sz="1600" err="1">
                <a:solidFill>
                  <a:schemeClr val="bg1"/>
                </a:solidFill>
              </a:rPr>
              <a:t>carts</a:t>
            </a:r>
            <a:endParaRPr lang="de-DE" sz="1600">
              <a:solidFill>
                <a:schemeClr val="bg1"/>
              </a:solidFill>
            </a:endParaRPr>
          </a:p>
          <a:p>
            <a:pPr marL="285750" indent="-285750">
              <a:buFont typeface="Calibri"/>
              <a:buChar char="-"/>
            </a:pPr>
            <a:r>
              <a:rPr lang="de-DE" sz="1600" err="1">
                <a:solidFill>
                  <a:schemeClr val="bg1"/>
                </a:solidFill>
              </a:rPr>
              <a:t>cart</a:t>
            </a:r>
            <a:r>
              <a:rPr lang="de-DE" sz="1600">
                <a:solidFill>
                  <a:schemeClr val="bg1"/>
                </a:solidFill>
              </a:rPr>
              <a:t>-items</a:t>
            </a:r>
          </a:p>
          <a:p>
            <a:pPr marL="285750" indent="-285750">
              <a:buFont typeface="Calibri"/>
              <a:buChar char="-"/>
            </a:pPr>
            <a:r>
              <a:rPr lang="de-DE" sz="1600" err="1">
                <a:solidFill>
                  <a:schemeClr val="bg1"/>
                </a:solidFill>
              </a:rPr>
              <a:t>orders</a:t>
            </a:r>
            <a:endParaRPr lang="de-DE" sz="1600">
              <a:solidFill>
                <a:schemeClr val="bg1"/>
              </a:solidFill>
            </a:endParaRPr>
          </a:p>
          <a:p>
            <a:pPr marL="285750" indent="-285750">
              <a:buFont typeface="Calibri"/>
              <a:buChar char="-"/>
            </a:pPr>
            <a:r>
              <a:rPr lang="de-DE" sz="1600" err="1">
                <a:solidFill>
                  <a:schemeClr val="bg1"/>
                </a:solidFill>
              </a:rPr>
              <a:t>orderpositions</a:t>
            </a:r>
            <a:endParaRPr lang="de-DE" sz="1600">
              <a:solidFill>
                <a:schemeClr val="bg1"/>
              </a:solidFill>
            </a:endParaRP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0D747E19-2007-8C8F-2DC4-5ABB9421F9A7}"/>
              </a:ext>
            </a:extLst>
          </p:cNvPr>
          <p:cNvSpPr txBox="1"/>
          <p:nvPr/>
        </p:nvSpPr>
        <p:spPr>
          <a:xfrm>
            <a:off x="8299373" y="1707614"/>
            <a:ext cx="3084722" cy="89255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de-DE" sz="2000" err="1">
                <a:solidFill>
                  <a:schemeClr val="bg1"/>
                </a:solidFill>
              </a:rPr>
              <a:t>wishlist</a:t>
            </a:r>
            <a:r>
              <a:rPr lang="de-DE" sz="2000">
                <a:solidFill>
                  <a:schemeClr val="bg1"/>
                </a:solidFill>
              </a:rPr>
              <a:t>-service:</a:t>
            </a:r>
          </a:p>
          <a:p>
            <a:pPr marL="285750" indent="-285750">
              <a:buFont typeface="Calibri"/>
              <a:buChar char="-"/>
            </a:pPr>
            <a:r>
              <a:rPr lang="de-DE" sz="1600" err="1">
                <a:solidFill>
                  <a:schemeClr val="bg1"/>
                </a:solidFill>
              </a:rPr>
              <a:t>wishlists</a:t>
            </a:r>
          </a:p>
          <a:p>
            <a:pPr marL="285750" indent="-285750">
              <a:buFont typeface="Calibri"/>
              <a:buChar char="-"/>
            </a:pPr>
            <a:r>
              <a:rPr lang="de-DE" sz="1600" err="1">
                <a:solidFill>
                  <a:schemeClr val="bg1"/>
                </a:solidFill>
              </a:rPr>
              <a:t>wishlist_product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5BDE6A2E-ECF3-DF17-248F-89956861CD16}"/>
              </a:ext>
            </a:extLst>
          </p:cNvPr>
          <p:cNvSpPr txBox="1"/>
          <p:nvPr/>
        </p:nvSpPr>
        <p:spPr>
          <a:xfrm>
            <a:off x="2386988" y="4039517"/>
            <a:ext cx="3103084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de-DE" sz="2000" err="1">
                <a:solidFill>
                  <a:schemeClr val="bg1"/>
                </a:solidFill>
              </a:rPr>
              <a:t>authorization</a:t>
            </a:r>
            <a:r>
              <a:rPr lang="de-DE" sz="2000">
                <a:solidFill>
                  <a:schemeClr val="bg1"/>
                </a:solidFill>
              </a:rPr>
              <a:t>-service:</a:t>
            </a:r>
          </a:p>
          <a:p>
            <a:pPr marL="285750" indent="-285750">
              <a:buFont typeface="Calibri"/>
              <a:buChar char="-"/>
            </a:pPr>
            <a:r>
              <a:rPr lang="de-DE" sz="1600" err="1">
                <a:solidFill>
                  <a:schemeClr val="bg1"/>
                </a:solidFill>
              </a:rPr>
              <a:t>permissions</a:t>
            </a:r>
            <a:endParaRPr lang="de-DE" sz="1600">
              <a:solidFill>
                <a:schemeClr val="bg1"/>
              </a:solidFill>
            </a:endParaRP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D0364990-B358-5010-E4AA-59ABDE23DE6A}"/>
              </a:ext>
            </a:extLst>
          </p:cNvPr>
          <p:cNvSpPr txBox="1"/>
          <p:nvPr/>
        </p:nvSpPr>
        <p:spPr>
          <a:xfrm>
            <a:off x="6444867" y="4021156"/>
            <a:ext cx="3066361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de-DE" sz="2000">
                <a:solidFill>
                  <a:schemeClr val="bg1"/>
                </a:solidFill>
              </a:rPr>
              <a:t>User-service:</a:t>
            </a:r>
          </a:p>
          <a:p>
            <a:pPr marL="285750" indent="-285750">
              <a:buFont typeface="Calibri"/>
              <a:buChar char="-"/>
            </a:pPr>
            <a:r>
              <a:rPr lang="de-DE" sz="1600" err="1">
                <a:solidFill>
                  <a:schemeClr val="bg1"/>
                </a:solidFill>
              </a:rPr>
              <a:t>users</a:t>
            </a:r>
            <a:endParaRPr lang="de-DE" sz="16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6023444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9E1A5B8-50A3-7724-9666-830D676F9B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7971" y="0"/>
            <a:ext cx="9875520" cy="1356360"/>
          </a:xfrm>
        </p:spPr>
        <p:txBody>
          <a:bodyPr/>
          <a:lstStyle/>
          <a:p>
            <a:pPr algn="ctr"/>
            <a:r>
              <a:rPr lang="de-DE"/>
              <a:t>Datenintegrität durch Constraints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90C7765-7655-3A80-CF97-BBFEAD6213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F43B3-7EC6-48DE-9B33-B7F46E6528D9}" type="datetime1">
              <a:rPr lang="de-DE" smtClean="0"/>
              <a:t>15.07.2026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B44100C-157C-1263-86A8-5A5E024D86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Bekir, Avid, Alex, Darian, Lara P., Sheila</a:t>
            </a:r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E167567-030F-59F6-8776-7C10A1CCC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7EE8E-3513-4D7C-BF7B-7494C67953C0}" type="slidenum">
              <a:rPr lang="de-DE" smtClean="0"/>
              <a:t>42</a:t>
            </a:fld>
            <a:endParaRPr lang="de-DE"/>
          </a:p>
        </p:txBody>
      </p:sp>
      <p:sp>
        <p:nvSpPr>
          <p:cNvPr id="7" name="Rechteck: abgerundete Ecken 6">
            <a:extLst>
              <a:ext uri="{FF2B5EF4-FFF2-40B4-BE49-F238E27FC236}">
                <a16:creationId xmlns:a16="http://schemas.microsoft.com/office/drawing/2014/main" id="{ACE78FD8-FCBB-7D5C-7282-A9A73EBF0B15}"/>
              </a:ext>
            </a:extLst>
          </p:cNvPr>
          <p:cNvSpPr/>
          <p:nvPr/>
        </p:nvSpPr>
        <p:spPr>
          <a:xfrm>
            <a:off x="675573" y="1047007"/>
            <a:ext cx="2216727" cy="241135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UNIQUE</a:t>
            </a:r>
          </a:p>
        </p:txBody>
      </p:sp>
      <p:sp>
        <p:nvSpPr>
          <p:cNvPr id="8" name="Rechteck: abgerundete Ecken 7">
            <a:extLst>
              <a:ext uri="{FF2B5EF4-FFF2-40B4-BE49-F238E27FC236}">
                <a16:creationId xmlns:a16="http://schemas.microsoft.com/office/drawing/2014/main" id="{1507CF8D-9A56-62B1-50AD-7193FECCBBB8}"/>
              </a:ext>
            </a:extLst>
          </p:cNvPr>
          <p:cNvSpPr/>
          <p:nvPr/>
        </p:nvSpPr>
        <p:spPr>
          <a:xfrm>
            <a:off x="675572" y="3804720"/>
            <a:ext cx="2216727" cy="241135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de-DE"/>
              <a:t>CHECK</a:t>
            </a:r>
          </a:p>
        </p:txBody>
      </p:sp>
      <p:sp>
        <p:nvSpPr>
          <p:cNvPr id="9" name="Rechteck: abgerundete Ecken 8">
            <a:extLst>
              <a:ext uri="{FF2B5EF4-FFF2-40B4-BE49-F238E27FC236}">
                <a16:creationId xmlns:a16="http://schemas.microsoft.com/office/drawing/2014/main" id="{712378A2-7B97-AAA2-22F3-4668766EF42B}"/>
              </a:ext>
            </a:extLst>
          </p:cNvPr>
          <p:cNvSpPr/>
          <p:nvPr/>
        </p:nvSpPr>
        <p:spPr>
          <a:xfrm>
            <a:off x="3562597" y="1039091"/>
            <a:ext cx="7817922" cy="241201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Rechteck: abgerundete Ecken 9">
            <a:extLst>
              <a:ext uri="{FF2B5EF4-FFF2-40B4-BE49-F238E27FC236}">
                <a16:creationId xmlns:a16="http://schemas.microsoft.com/office/drawing/2014/main" id="{2BF3F613-1A08-88D7-21F8-3BF7B0F5C637}"/>
              </a:ext>
            </a:extLst>
          </p:cNvPr>
          <p:cNvSpPr/>
          <p:nvPr/>
        </p:nvSpPr>
        <p:spPr>
          <a:xfrm>
            <a:off x="3562596" y="3804062"/>
            <a:ext cx="7817922" cy="241201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138F7E96-DA5E-906D-2E07-5A3C01E69DC0}"/>
              </a:ext>
            </a:extLst>
          </p:cNvPr>
          <p:cNvSpPr txBox="1"/>
          <p:nvPr/>
        </p:nvSpPr>
        <p:spPr>
          <a:xfrm>
            <a:off x="3760519" y="1464622"/>
            <a:ext cx="7362701" cy="162296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de-DE"/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0BFE0A84-2D17-2363-5D3A-81771EB64234}"/>
              </a:ext>
            </a:extLst>
          </p:cNvPr>
          <p:cNvSpPr txBox="1"/>
          <p:nvPr/>
        </p:nvSpPr>
        <p:spPr>
          <a:xfrm>
            <a:off x="3819896" y="1815605"/>
            <a:ext cx="7303324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Calibri"/>
              <a:buChar char="-"/>
            </a:pPr>
            <a:r>
              <a:rPr lang="de-DE">
                <a:solidFill>
                  <a:schemeClr val="bg1"/>
                </a:solidFill>
              </a:rPr>
              <a:t>Jeder User genau einen Warenkorb</a:t>
            </a:r>
          </a:p>
          <a:p>
            <a:pPr marL="285750" indent="-285750">
              <a:buFont typeface="Calibri"/>
              <a:buChar char="-"/>
            </a:pPr>
            <a:r>
              <a:rPr lang="de-DE">
                <a:solidFill>
                  <a:schemeClr val="bg1"/>
                </a:solidFill>
              </a:rPr>
              <a:t>Kein Produkt doppelt im selben Warenkorb</a:t>
            </a:r>
          </a:p>
          <a:p>
            <a:pPr marL="285750" indent="-285750">
              <a:buFont typeface="Calibri"/>
              <a:buChar char="-"/>
            </a:pPr>
            <a:r>
              <a:rPr lang="de-DE">
                <a:solidFill>
                  <a:schemeClr val="bg1"/>
                </a:solidFill>
              </a:rPr>
              <a:t>User hat pro Ressource nur eine Berechtigungsstufe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DDDCA668-CAEF-7D26-C24B-C10B4B2CD31D}"/>
              </a:ext>
            </a:extLst>
          </p:cNvPr>
          <p:cNvSpPr txBox="1"/>
          <p:nvPr/>
        </p:nvSpPr>
        <p:spPr>
          <a:xfrm>
            <a:off x="3761180" y="4410363"/>
            <a:ext cx="7501246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Calibri"/>
              <a:buChar char="-"/>
            </a:pPr>
            <a:r>
              <a:rPr lang="de-DE" dirty="0" err="1">
                <a:solidFill>
                  <a:schemeClr val="bg1"/>
                </a:solidFill>
              </a:rPr>
              <a:t>role</a:t>
            </a:r>
            <a:r>
              <a:rPr lang="de-DE" dirty="0">
                <a:solidFill>
                  <a:schemeClr val="bg1"/>
                </a:solidFill>
              </a:rPr>
              <a:t> IN ('</a:t>
            </a:r>
            <a:r>
              <a:rPr lang="de-DE" dirty="0" err="1">
                <a:solidFill>
                  <a:schemeClr val="bg1"/>
                </a:solidFill>
              </a:rPr>
              <a:t>admin</a:t>
            </a:r>
            <a:r>
              <a:rPr lang="de-DE" dirty="0">
                <a:solidFill>
                  <a:schemeClr val="bg1"/>
                </a:solidFill>
              </a:rPr>
              <a:t>', '</a:t>
            </a:r>
            <a:r>
              <a:rPr lang="de-DE" dirty="0" err="1">
                <a:solidFill>
                  <a:schemeClr val="bg1"/>
                </a:solidFill>
              </a:rPr>
              <a:t>user</a:t>
            </a:r>
            <a:r>
              <a:rPr lang="de-DE" dirty="0">
                <a:solidFill>
                  <a:schemeClr val="bg1"/>
                </a:solidFill>
              </a:rPr>
              <a:t>') </a:t>
            </a:r>
            <a:r>
              <a:rPr lang="de-DE" dirty="0">
                <a:solidFill>
                  <a:schemeClr val="bg1"/>
                </a:solidFill>
                <a:latin typeface="-webkit-standard"/>
              </a:rPr>
              <a:t>→ </a:t>
            </a:r>
            <a:r>
              <a:rPr lang="de-DE" dirty="0">
                <a:solidFill>
                  <a:schemeClr val="bg1"/>
                </a:solidFill>
              </a:rPr>
              <a:t>keine ungültigen Rollen möglich</a:t>
            </a:r>
          </a:p>
          <a:p>
            <a:pPr marL="285750" indent="-285750">
              <a:buFont typeface="Calibri"/>
              <a:buChar char="-"/>
            </a:pPr>
            <a:r>
              <a:rPr lang="de-DE" dirty="0" err="1">
                <a:solidFill>
                  <a:schemeClr val="bg1"/>
                </a:solidFill>
              </a:rPr>
              <a:t>status</a:t>
            </a:r>
            <a:r>
              <a:rPr lang="de-DE" dirty="0">
                <a:solidFill>
                  <a:schemeClr val="bg1"/>
                </a:solidFill>
              </a:rPr>
              <a:t> IN ('</a:t>
            </a:r>
            <a:r>
              <a:rPr lang="de-DE" dirty="0" err="1">
                <a:solidFill>
                  <a:schemeClr val="bg1"/>
                </a:solidFill>
              </a:rPr>
              <a:t>pending</a:t>
            </a:r>
            <a:r>
              <a:rPr lang="de-DE" dirty="0">
                <a:solidFill>
                  <a:schemeClr val="bg1"/>
                </a:solidFill>
              </a:rPr>
              <a:t>', '</a:t>
            </a:r>
            <a:r>
              <a:rPr lang="de-DE" dirty="0" err="1">
                <a:solidFill>
                  <a:schemeClr val="bg1"/>
                </a:solidFill>
              </a:rPr>
              <a:t>completed</a:t>
            </a:r>
            <a:r>
              <a:rPr lang="de-DE" dirty="0">
                <a:solidFill>
                  <a:schemeClr val="bg1"/>
                </a:solidFill>
              </a:rPr>
              <a:t>', '</a:t>
            </a:r>
            <a:r>
              <a:rPr lang="de-DE" dirty="0" err="1">
                <a:solidFill>
                  <a:schemeClr val="bg1"/>
                </a:solidFill>
              </a:rPr>
              <a:t>cancelled</a:t>
            </a:r>
            <a:r>
              <a:rPr lang="de-DE" dirty="0">
                <a:solidFill>
                  <a:schemeClr val="bg1"/>
                </a:solidFill>
              </a:rPr>
              <a:t>') </a:t>
            </a:r>
            <a:r>
              <a:rPr lang="de-DE" dirty="0">
                <a:solidFill>
                  <a:schemeClr val="bg1"/>
                </a:solidFill>
                <a:latin typeface="-webkit-standard"/>
              </a:rPr>
              <a:t>→</a:t>
            </a:r>
            <a:r>
              <a:rPr lang="de-DE" dirty="0">
                <a:solidFill>
                  <a:schemeClr val="bg1"/>
                </a:solidFill>
              </a:rPr>
              <a:t> nur definierter Bestellstatus</a:t>
            </a:r>
          </a:p>
          <a:p>
            <a:pPr marL="285750" indent="-285750">
              <a:buFont typeface="Calibri"/>
              <a:buChar char="-"/>
            </a:pPr>
            <a:r>
              <a:rPr lang="de-DE" dirty="0" err="1">
                <a:solidFill>
                  <a:schemeClr val="bg1"/>
                </a:solidFill>
              </a:rPr>
              <a:t>permission</a:t>
            </a:r>
            <a:r>
              <a:rPr lang="de-DE" dirty="0">
                <a:solidFill>
                  <a:schemeClr val="bg1"/>
                </a:solidFill>
              </a:rPr>
              <a:t> IN ('</a:t>
            </a:r>
            <a:r>
              <a:rPr lang="de-DE" dirty="0" err="1">
                <a:solidFill>
                  <a:schemeClr val="bg1"/>
                </a:solidFill>
              </a:rPr>
              <a:t>read</a:t>
            </a:r>
            <a:r>
              <a:rPr lang="de-DE" dirty="0">
                <a:solidFill>
                  <a:schemeClr val="bg1"/>
                </a:solidFill>
              </a:rPr>
              <a:t>', '</a:t>
            </a:r>
            <a:r>
              <a:rPr lang="de-DE" dirty="0" err="1">
                <a:solidFill>
                  <a:schemeClr val="bg1"/>
                </a:solidFill>
              </a:rPr>
              <a:t>write</a:t>
            </a:r>
            <a:r>
              <a:rPr lang="de-DE" dirty="0">
                <a:solidFill>
                  <a:schemeClr val="bg1"/>
                </a:solidFill>
              </a:rPr>
              <a:t>', '</a:t>
            </a:r>
            <a:r>
              <a:rPr lang="de-DE" dirty="0" err="1">
                <a:solidFill>
                  <a:schemeClr val="bg1"/>
                </a:solidFill>
              </a:rPr>
              <a:t>owner</a:t>
            </a:r>
            <a:r>
              <a:rPr lang="de-DE" dirty="0">
                <a:solidFill>
                  <a:schemeClr val="bg1"/>
                </a:solidFill>
              </a:rPr>
              <a:t>') </a:t>
            </a:r>
            <a:r>
              <a:rPr lang="de-DE" dirty="0">
                <a:solidFill>
                  <a:schemeClr val="bg1"/>
                </a:solidFill>
                <a:latin typeface="-webkit-standard"/>
              </a:rPr>
              <a:t>→ </a:t>
            </a:r>
            <a:r>
              <a:rPr lang="de-DE" dirty="0">
                <a:solidFill>
                  <a:schemeClr val="bg1"/>
                </a:solidFill>
              </a:rPr>
              <a:t>exakt drei Berechtigungsstufen</a:t>
            </a:r>
          </a:p>
        </p:txBody>
      </p:sp>
    </p:spTree>
    <p:extLst>
      <p:ext uri="{BB962C8B-B14F-4D97-AF65-F5344CB8AC3E}">
        <p14:creationId xmlns:p14="http://schemas.microsoft.com/office/powerpoint/2010/main" val="164628491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0CF3C43-1D16-1BE5-336E-45F1754834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/>
              <a:t>Datenlebenszyklen</a:t>
            </a:r>
            <a:br>
              <a:rPr lang="de-DE"/>
            </a:br>
            <a:r>
              <a:rPr lang="de-DE" sz="2000">
                <a:solidFill>
                  <a:schemeClr val="accent3">
                    <a:lumMod val="49000"/>
                  </a:schemeClr>
                </a:solidFill>
              </a:rPr>
              <a:t>Was passiert mit den Daten, wenn ein User gelöscht wird?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DFCB9BB-119A-EB59-35B0-A98488A978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2021115"/>
            <a:ext cx="4713043" cy="407488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5720" indent="0">
              <a:buNone/>
            </a:pPr>
            <a:r>
              <a:rPr lang="de-DE" b="1"/>
              <a:t>On Delete </a:t>
            </a:r>
            <a:r>
              <a:rPr lang="de-DE" b="1">
                <a:solidFill>
                  <a:srgbClr val="496E4E"/>
                </a:solidFill>
              </a:rPr>
              <a:t>Cascade</a:t>
            </a:r>
            <a:r>
              <a:rPr lang="de-DE" b="1"/>
              <a:t>:</a:t>
            </a:r>
          </a:p>
          <a:p>
            <a:pPr>
              <a:buFont typeface="Calibri" pitchFamily="34" charset="0"/>
              <a:buChar char="-"/>
            </a:pPr>
            <a:r>
              <a:rPr lang="de-DE"/>
              <a:t>Warenkorb</a:t>
            </a:r>
          </a:p>
          <a:p>
            <a:pPr>
              <a:buFont typeface="Calibri" pitchFamily="34" charset="0"/>
              <a:buChar char="-"/>
            </a:pPr>
            <a:r>
              <a:rPr lang="de-DE" err="1"/>
              <a:t>Verification</a:t>
            </a:r>
            <a:r>
              <a:rPr lang="de-DE"/>
              <a:t> Tokens</a:t>
            </a:r>
          </a:p>
          <a:p>
            <a:pPr>
              <a:buFont typeface="Calibri" pitchFamily="34" charset="0"/>
              <a:buChar char="-"/>
            </a:pPr>
            <a:r>
              <a:rPr lang="de-DE"/>
              <a:t>Wunschlisten</a:t>
            </a:r>
          </a:p>
          <a:p>
            <a:pPr>
              <a:buFont typeface="Calibri" pitchFamily="34" charset="0"/>
              <a:buChar char="-"/>
            </a:pPr>
            <a:r>
              <a:rPr lang="de-DE"/>
              <a:t>Berechtigungen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CDEE6F6-74C5-4FFF-F86F-120FC89978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F43B3-7EC6-48DE-9B33-B7F46E6528D9}" type="datetime1">
              <a:rPr lang="de-DE" smtClean="0"/>
              <a:t>15.07.2026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8CA445B-8303-75B0-9041-E621D4D5C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Bekir, Avid, Alex, Darian, Lara P., Sheila</a:t>
            </a:r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A9AF59B-8256-A1FB-8402-9621F672C0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7EE8E-3513-4D7C-BF7B-7494C67953C0}" type="slidenum">
              <a:rPr lang="de-DE" smtClean="0"/>
              <a:t>43</a:t>
            </a:fld>
            <a:endParaRPr lang="de-DE"/>
          </a:p>
        </p:txBody>
      </p:sp>
      <p:sp>
        <p:nvSpPr>
          <p:cNvPr id="13" name="Inhaltsplatzhalter 2">
            <a:extLst>
              <a:ext uri="{FF2B5EF4-FFF2-40B4-BE49-F238E27FC236}">
                <a16:creationId xmlns:a16="http://schemas.microsoft.com/office/drawing/2014/main" id="{73F547CB-C840-4B2B-363A-6E534904A803}"/>
              </a:ext>
            </a:extLst>
          </p:cNvPr>
          <p:cNvSpPr txBox="1">
            <a:spLocks/>
          </p:cNvSpPr>
          <p:nvPr/>
        </p:nvSpPr>
        <p:spPr>
          <a:xfrm>
            <a:off x="6302829" y="2021115"/>
            <a:ext cx="4713043" cy="407488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182880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Clr>
                <a:schemeClr val="accent1"/>
              </a:buClr>
              <a:buSzPct val="80000"/>
              <a:buFont typeface="Corbel" pitchFamily="34" charset="0"/>
              <a:buChar char="•"/>
              <a:defRPr sz="2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20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" indent="0">
              <a:buNone/>
            </a:pPr>
            <a:r>
              <a:rPr lang="de-DE" b="1"/>
              <a:t>On Delete Set NULL:</a:t>
            </a:r>
          </a:p>
          <a:p>
            <a:pPr>
              <a:buFont typeface="Calibri" pitchFamily="34" charset="0"/>
              <a:buChar char="-"/>
            </a:pPr>
            <a:r>
              <a:rPr lang="de-DE" err="1"/>
              <a:t>order.user_id</a:t>
            </a:r>
          </a:p>
          <a:p>
            <a:pPr>
              <a:buFont typeface="Calibri" pitchFamily="34" charset="0"/>
              <a:buChar char="-"/>
            </a:pPr>
            <a:r>
              <a:rPr lang="de-DE" err="1"/>
              <a:t>orderpositions.product_id</a:t>
            </a:r>
          </a:p>
          <a:p>
            <a:pPr>
              <a:buFont typeface="Calibri" pitchFamily="34" charset="0"/>
              <a:buChar char="-"/>
            </a:pPr>
            <a:r>
              <a:rPr lang="de-DE"/>
              <a:t>Gesamte Kaufhistorie bleibt korrekt und vollständig erhalten</a:t>
            </a:r>
          </a:p>
        </p:txBody>
      </p:sp>
    </p:spTree>
    <p:extLst>
      <p:ext uri="{BB962C8B-B14F-4D97-AF65-F5344CB8AC3E}">
        <p14:creationId xmlns:p14="http://schemas.microsoft.com/office/powerpoint/2010/main" val="393538759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D02AA03-DD8A-65EA-EC33-DE052B0CEF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79CBD3C9-4E66-426D-948E-7CF4778107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DE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DB95FCF-AD96-482F-9FB8-CD95725E6E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DE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64EEEC00-AD80-4734-BEE6-04CBDEC830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6C6896D1-BFB1-4C84-82DD-31073BED3F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978660" y="5462458"/>
            <a:ext cx="82296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8A2FDFB1-2B6D-49EB-B6C0-FA923806E0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140" y="243841"/>
            <a:ext cx="11722100" cy="3964584"/>
          </a:xfrm>
          <a:prstGeom prst="rect">
            <a:avLst/>
          </a:prstGeom>
          <a:solidFill>
            <a:schemeClr val="bg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DE"/>
          </a:p>
        </p:txBody>
      </p:sp>
      <p:pic>
        <p:nvPicPr>
          <p:cNvPr id="9" name="Grafik 8" descr="Datei:Docker Logo.png – Wikipedia">
            <a:extLst>
              <a:ext uri="{FF2B5EF4-FFF2-40B4-BE49-F238E27FC236}">
                <a16:creationId xmlns:a16="http://schemas.microsoft.com/office/drawing/2014/main" id="{0C15C671-E76B-D1C4-28FA-9AC706D84DCD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rgbClr val="00B050">
                <a:tint val="45000"/>
                <a:satMod val="400000"/>
              </a:srgbClr>
            </a:duotone>
          </a:blip>
          <a:stretch>
            <a:fillRect/>
          </a:stretch>
        </p:blipFill>
        <p:spPr>
          <a:xfrm>
            <a:off x="2873438" y="1572923"/>
            <a:ext cx="6437503" cy="1464534"/>
          </a:xfrm>
          <a:prstGeom prst="rect">
            <a:avLst/>
          </a:prstGeom>
        </p:spPr>
      </p:pic>
      <p:cxnSp>
        <p:nvCxnSpPr>
          <p:cNvPr id="10" name="Gerader Verbinder 9">
            <a:extLst>
              <a:ext uri="{FF2B5EF4-FFF2-40B4-BE49-F238E27FC236}">
                <a16:creationId xmlns:a16="http://schemas.microsoft.com/office/drawing/2014/main" id="{6B729B97-D227-C1EE-5EF1-07226DE268EA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1978660" y="5462458"/>
            <a:ext cx="836320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el 1">
            <a:extLst>
              <a:ext uri="{FF2B5EF4-FFF2-40B4-BE49-F238E27FC236}">
                <a16:creationId xmlns:a16="http://schemas.microsoft.com/office/drawing/2014/main" id="{6950B869-233D-FD07-4756-1E496AF3C5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8709" y="4635145"/>
            <a:ext cx="9966960" cy="132588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85000"/>
              </a:lnSpc>
            </a:pPr>
            <a:r>
              <a:rPr lang="en-US" sz="6600" b="1" u="sng" cap="all">
                <a:solidFill>
                  <a:srgbClr val="FFFFFF"/>
                </a:solidFill>
              </a:rPr>
              <a:t>Docker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2BE33495-45B4-DC45-1B32-FED6F370C9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B82AED-AF03-4875-A276-D02F048CC1B5}" type="datetime1">
              <a:rPr lang="de-DE" smtClean="0"/>
              <a:t>15.07.2026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4760942-A803-79C7-FA65-07A20DB0F1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Bekir, Avid, Alex, Darian, Lara P., Sheila</a:t>
            </a:r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1A14E56-39AD-829E-02FA-C2F6AF7910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7EE8E-3513-4D7C-BF7B-7494C67953C0}" type="slidenum">
              <a:rPr lang="de-DE" smtClean="0"/>
              <a:t>44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2951247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0E7BAA-A29F-B616-ECBD-E98969EE93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84A1EB0-ECF9-C657-1BDD-77092D698D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6257" y="631371"/>
            <a:ext cx="9875520" cy="819123"/>
          </a:xfrm>
        </p:spPr>
        <p:txBody>
          <a:bodyPr/>
          <a:lstStyle/>
          <a:p>
            <a:r>
              <a:rPr lang="de-DE"/>
              <a:t>Warum Docker?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931ED72-D68E-69A6-EDFC-346F8482EB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729A9-C440-4217-8B2B-B1E22056542E}" type="datetime1">
              <a:rPr lang="de-DE" smtClean="0"/>
              <a:t>15.07.2026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9709765-8B1C-FA08-C307-EDBBDAD836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Bekir, Avid, Alex, Darian, Lara P., Sheila</a:t>
            </a:r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6395975-54C5-BFF0-D636-390DD41733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7EE8E-3513-4D7C-BF7B-7494C67953C0}" type="slidenum">
              <a:rPr lang="de-DE" smtClean="0"/>
              <a:t>45</a:t>
            </a:fld>
            <a:endParaRPr lang="de-DE"/>
          </a:p>
        </p:txBody>
      </p:sp>
      <p:sp>
        <p:nvSpPr>
          <p:cNvPr id="7" name="Rechteck: abgerundete Ecken 6">
            <a:extLst>
              <a:ext uri="{FF2B5EF4-FFF2-40B4-BE49-F238E27FC236}">
                <a16:creationId xmlns:a16="http://schemas.microsoft.com/office/drawing/2014/main" id="{E2019D85-025F-25CB-C2B7-3E78254A136B}"/>
              </a:ext>
            </a:extLst>
          </p:cNvPr>
          <p:cNvSpPr/>
          <p:nvPr/>
        </p:nvSpPr>
        <p:spPr>
          <a:xfrm>
            <a:off x="806823" y="1673412"/>
            <a:ext cx="6843058" cy="122517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Rechteck: abgerundete Ecken 7">
            <a:extLst>
              <a:ext uri="{FF2B5EF4-FFF2-40B4-BE49-F238E27FC236}">
                <a16:creationId xmlns:a16="http://schemas.microsoft.com/office/drawing/2014/main" id="{0F3D69F0-046B-7C1B-5804-AFBA054E034D}"/>
              </a:ext>
            </a:extLst>
          </p:cNvPr>
          <p:cNvSpPr/>
          <p:nvPr/>
        </p:nvSpPr>
        <p:spPr>
          <a:xfrm>
            <a:off x="806823" y="3159038"/>
            <a:ext cx="6843058" cy="122517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Rechteck: abgerundete Ecken 8">
            <a:extLst>
              <a:ext uri="{FF2B5EF4-FFF2-40B4-BE49-F238E27FC236}">
                <a16:creationId xmlns:a16="http://schemas.microsoft.com/office/drawing/2014/main" id="{5FD1609D-E23F-9B71-10F6-BFE8EBB76EE7}"/>
              </a:ext>
            </a:extLst>
          </p:cNvPr>
          <p:cNvSpPr/>
          <p:nvPr/>
        </p:nvSpPr>
        <p:spPr>
          <a:xfrm>
            <a:off x="806822" y="4650145"/>
            <a:ext cx="6843058" cy="122517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Rechteck: abgerundete Ecken 9">
            <a:extLst>
              <a:ext uri="{FF2B5EF4-FFF2-40B4-BE49-F238E27FC236}">
                <a16:creationId xmlns:a16="http://schemas.microsoft.com/office/drawing/2014/main" id="{03BF1B6D-F811-CDF7-93F1-40CA6630AFBC}"/>
              </a:ext>
            </a:extLst>
          </p:cNvPr>
          <p:cNvSpPr/>
          <p:nvPr/>
        </p:nvSpPr>
        <p:spPr>
          <a:xfrm>
            <a:off x="8368994" y="1681365"/>
            <a:ext cx="3077882" cy="4205457"/>
          </a:xfrm>
          <a:prstGeom prst="roundRect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A3D6FB1B-B1C3-83CA-B4C0-3DAE5520E9A7}"/>
              </a:ext>
            </a:extLst>
          </p:cNvPr>
          <p:cNvSpPr txBox="1"/>
          <p:nvPr/>
        </p:nvSpPr>
        <p:spPr>
          <a:xfrm>
            <a:off x="896470" y="1763058"/>
            <a:ext cx="6633882" cy="86177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de-DE" b="1" dirty="0">
                <a:solidFill>
                  <a:schemeClr val="bg1"/>
                </a:solidFill>
              </a:rPr>
              <a:t>Container statt Installation:</a:t>
            </a:r>
            <a:br>
              <a:rPr lang="de-DE" dirty="0">
                <a:solidFill>
                  <a:schemeClr val="bg1"/>
                </a:solidFill>
              </a:rPr>
            </a:br>
            <a:r>
              <a:rPr lang="de-DE" sz="1600" dirty="0">
                <a:solidFill>
                  <a:schemeClr val="bg1"/>
                </a:solidFill>
              </a:rPr>
              <a:t>Jeder Service erfordert eigene </a:t>
            </a:r>
            <a:r>
              <a:rPr lang="de-DE" sz="1600" dirty="0" err="1">
                <a:solidFill>
                  <a:schemeClr val="bg1"/>
                </a:solidFill>
              </a:rPr>
              <a:t>Dependencies</a:t>
            </a:r>
            <a:r>
              <a:rPr lang="de-DE" sz="1600" dirty="0">
                <a:solidFill>
                  <a:schemeClr val="bg1"/>
                </a:solidFill>
              </a:rPr>
              <a:t> </a:t>
            </a:r>
            <a:r>
              <a:rPr lang="de-DE" sz="1600" dirty="0">
                <a:solidFill>
                  <a:schemeClr val="bg1"/>
                </a:solidFill>
                <a:latin typeface="-webkit-standard"/>
              </a:rPr>
              <a:t>→</a:t>
            </a:r>
            <a:r>
              <a:rPr lang="de-DE" sz="1600" dirty="0">
                <a:solidFill>
                  <a:schemeClr val="bg1"/>
                </a:solidFill>
              </a:rPr>
              <a:t> durch Container </a:t>
            </a:r>
            <a:r>
              <a:rPr lang="de-DE" sz="1600" dirty="0" err="1">
                <a:solidFill>
                  <a:schemeClr val="bg1"/>
                </a:solidFill>
              </a:rPr>
              <a:t>keine manuelle Installationen</a:t>
            </a:r>
            <a:r>
              <a:rPr lang="de-DE" sz="1600" dirty="0">
                <a:solidFill>
                  <a:schemeClr val="bg1"/>
                </a:solidFill>
              </a:rPr>
              <a:t> nötig: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EF1B43B7-31F5-4621-3DB9-F258E262EA9B}"/>
              </a:ext>
            </a:extLst>
          </p:cNvPr>
          <p:cNvSpPr txBox="1"/>
          <p:nvPr/>
        </p:nvSpPr>
        <p:spPr>
          <a:xfrm>
            <a:off x="881349" y="3231614"/>
            <a:ext cx="6683566" cy="86177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de-DE" b="1">
                <a:solidFill>
                  <a:schemeClr val="bg1"/>
                </a:solidFill>
              </a:rPr>
              <a:t>Vereinheitlichung des Setups:</a:t>
            </a:r>
          </a:p>
          <a:p>
            <a:r>
              <a:rPr lang="de-DE" sz="1600">
                <a:solidFill>
                  <a:schemeClr val="bg1"/>
                </a:solidFill>
              </a:rPr>
              <a:t>Unabhängig</a:t>
            </a:r>
            <a:r>
              <a:rPr lang="de-DE" sz="1600" dirty="0">
                <a:solidFill>
                  <a:schemeClr val="bg1"/>
                </a:solidFill>
              </a:rPr>
              <a:t> von Betriebssystemen lässt sich mit einem Befehl dieselbe Umgebung starten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6C4BE98B-DF5A-219E-7777-0D413C40EBA5}"/>
              </a:ext>
            </a:extLst>
          </p:cNvPr>
          <p:cNvSpPr txBox="1"/>
          <p:nvPr/>
        </p:nvSpPr>
        <p:spPr>
          <a:xfrm>
            <a:off x="844626" y="4682168"/>
            <a:ext cx="6683566" cy="86177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de-DE" b="1" dirty="0">
                <a:solidFill>
                  <a:schemeClr val="bg1"/>
                </a:solidFill>
              </a:rPr>
              <a:t>Isolierung der </a:t>
            </a:r>
            <a:r>
              <a:rPr lang="de-DE" b="1">
                <a:solidFill>
                  <a:schemeClr val="bg1"/>
                </a:solidFill>
              </a:rPr>
              <a:t>Services:</a:t>
            </a:r>
            <a:endParaRPr lang="de-DE" b="1" dirty="0">
              <a:solidFill>
                <a:schemeClr val="bg1"/>
              </a:solidFill>
            </a:endParaRPr>
          </a:p>
          <a:p>
            <a:r>
              <a:rPr lang="de-DE" sz="1600">
                <a:solidFill>
                  <a:schemeClr val="bg1"/>
                </a:solidFill>
              </a:rPr>
              <a:t>Container laufen unabhängig voneinander </a:t>
            </a:r>
            <a:r>
              <a:rPr lang="de-DE" sz="1600">
                <a:solidFill>
                  <a:schemeClr val="bg1"/>
                </a:solidFill>
                <a:latin typeface="-webkit-standard"/>
              </a:rPr>
              <a:t>→ </a:t>
            </a:r>
            <a:r>
              <a:rPr lang="de-DE" sz="1600">
                <a:solidFill>
                  <a:schemeClr val="bg1"/>
                </a:solidFill>
              </a:rPr>
              <a:t>Fehler einzelner Services wirken </a:t>
            </a:r>
            <a:r>
              <a:rPr lang="de-DE" sz="1600" dirty="0">
                <a:solidFill>
                  <a:schemeClr val="bg1"/>
                </a:solidFill>
              </a:rPr>
              <a:t>sich nicht auf andere aus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620E0A0B-74A6-B2A5-B3BE-792943547B60}"/>
              </a:ext>
            </a:extLst>
          </p:cNvPr>
          <p:cNvSpPr txBox="1"/>
          <p:nvPr/>
        </p:nvSpPr>
        <p:spPr>
          <a:xfrm>
            <a:off x="8938614" y="1919820"/>
            <a:ext cx="194753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de-DE">
                <a:solidFill>
                  <a:schemeClr val="accent3">
                    <a:lumMod val="25000"/>
                  </a:schemeClr>
                </a:solidFill>
              </a:rPr>
              <a:t>Docker Container</a:t>
            </a:r>
          </a:p>
        </p:txBody>
      </p:sp>
      <p:sp>
        <p:nvSpPr>
          <p:cNvPr id="15" name="Rechteck: abgerundete Ecken 14">
            <a:extLst>
              <a:ext uri="{FF2B5EF4-FFF2-40B4-BE49-F238E27FC236}">
                <a16:creationId xmlns:a16="http://schemas.microsoft.com/office/drawing/2014/main" id="{04B09B13-FC65-DF6D-1A48-5D5D5D5D907C}"/>
              </a:ext>
            </a:extLst>
          </p:cNvPr>
          <p:cNvSpPr/>
          <p:nvPr/>
        </p:nvSpPr>
        <p:spPr>
          <a:xfrm>
            <a:off x="8597004" y="2346417"/>
            <a:ext cx="2625686" cy="881349"/>
          </a:xfrm>
          <a:prstGeom prst="roundRect">
            <a:avLst/>
          </a:prstGeom>
          <a:solidFill>
            <a:schemeClr val="accent3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>
                <a:solidFill>
                  <a:schemeClr val="tx1"/>
                </a:solidFill>
              </a:rPr>
              <a:t>Node.js 20</a:t>
            </a:r>
          </a:p>
        </p:txBody>
      </p:sp>
      <p:sp>
        <p:nvSpPr>
          <p:cNvPr id="16" name="Rechteck: abgerundete Ecken 15">
            <a:extLst>
              <a:ext uri="{FF2B5EF4-FFF2-40B4-BE49-F238E27FC236}">
                <a16:creationId xmlns:a16="http://schemas.microsoft.com/office/drawing/2014/main" id="{05BD002A-D0D1-BC72-BBBC-62DBB55B9777}"/>
              </a:ext>
            </a:extLst>
          </p:cNvPr>
          <p:cNvSpPr/>
          <p:nvPr/>
        </p:nvSpPr>
        <p:spPr>
          <a:xfrm>
            <a:off x="8604260" y="3500302"/>
            <a:ext cx="2625686" cy="881349"/>
          </a:xfrm>
          <a:prstGeom prst="roundRect">
            <a:avLst/>
          </a:prstGeom>
          <a:solidFill>
            <a:schemeClr val="accent3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de-DE">
                <a:solidFill>
                  <a:schemeClr val="tx1"/>
                </a:solidFill>
              </a:rPr>
              <a:t>Service Code</a:t>
            </a:r>
          </a:p>
        </p:txBody>
      </p:sp>
      <p:sp>
        <p:nvSpPr>
          <p:cNvPr id="17" name="Rechteck: abgerundete Ecken 16">
            <a:extLst>
              <a:ext uri="{FF2B5EF4-FFF2-40B4-BE49-F238E27FC236}">
                <a16:creationId xmlns:a16="http://schemas.microsoft.com/office/drawing/2014/main" id="{95AAD297-6D99-DAE4-F684-4AE3DDAD664D}"/>
              </a:ext>
            </a:extLst>
          </p:cNvPr>
          <p:cNvSpPr/>
          <p:nvPr/>
        </p:nvSpPr>
        <p:spPr>
          <a:xfrm>
            <a:off x="8597003" y="4683217"/>
            <a:ext cx="2625686" cy="881349"/>
          </a:xfrm>
          <a:prstGeom prst="roundRect">
            <a:avLst/>
          </a:prstGeom>
          <a:solidFill>
            <a:schemeClr val="accent3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.</a:t>
            </a:r>
            <a:r>
              <a:rPr lang="de-DE" dirty="0" err="1">
                <a:solidFill>
                  <a:schemeClr val="tx1"/>
                </a:solidFill>
              </a:rPr>
              <a:t>env</a:t>
            </a:r>
            <a:r>
              <a:rPr lang="de-DE" dirty="0">
                <a:solidFill>
                  <a:schemeClr val="tx1"/>
                </a:solidFill>
              </a:rPr>
              <a:t> &amp; </a:t>
            </a:r>
            <a:r>
              <a:rPr lang="de-DE" dirty="0" err="1">
                <a:solidFill>
                  <a:schemeClr val="tx1"/>
                </a:solidFill>
              </a:rPr>
              <a:t>Config</a:t>
            </a:r>
            <a:endParaRPr lang="de-DE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5049531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A658DA3-0E76-A153-F9B6-365F055E12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583" y="609600"/>
            <a:ext cx="9875520" cy="846533"/>
          </a:xfrm>
        </p:spPr>
        <p:txBody>
          <a:bodyPr/>
          <a:lstStyle/>
          <a:p>
            <a:r>
              <a:rPr lang="de-DE"/>
              <a:t>Unsere Container-Landschaft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2B1BBDF-4EC6-0367-FA7D-345E08DF1A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F43B3-7EC6-48DE-9B33-B7F46E6528D9}" type="datetime1">
              <a:rPr lang="de-DE" smtClean="0"/>
              <a:t>15.07.2026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265E571-822B-14F8-7BDF-DB360D2F01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Bekir, Avid, Alex, Darian, Lara P., Sheila</a:t>
            </a:r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4B3815B-34B8-2CEF-64D4-2910B00941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7EE8E-3513-4D7C-BF7B-7494C67953C0}" type="slidenum">
              <a:rPr lang="de-DE" smtClean="0"/>
              <a:t>46</a:t>
            </a:fld>
            <a:endParaRPr lang="de-DE"/>
          </a:p>
        </p:txBody>
      </p:sp>
      <p:sp>
        <p:nvSpPr>
          <p:cNvPr id="7" name="Rechteck: abgerundete Ecken 6">
            <a:extLst>
              <a:ext uri="{FF2B5EF4-FFF2-40B4-BE49-F238E27FC236}">
                <a16:creationId xmlns:a16="http://schemas.microsoft.com/office/drawing/2014/main" id="{248C40B6-3194-9427-EDD7-C83AD373E70C}"/>
              </a:ext>
            </a:extLst>
          </p:cNvPr>
          <p:cNvSpPr/>
          <p:nvPr/>
        </p:nvSpPr>
        <p:spPr>
          <a:xfrm>
            <a:off x="660743" y="1459613"/>
            <a:ext cx="5109882" cy="224117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Rechteck: abgerundete Ecken 9">
            <a:extLst>
              <a:ext uri="{FF2B5EF4-FFF2-40B4-BE49-F238E27FC236}">
                <a16:creationId xmlns:a16="http://schemas.microsoft.com/office/drawing/2014/main" id="{9A1403C7-98A3-AD04-F222-DCA317669226}"/>
              </a:ext>
            </a:extLst>
          </p:cNvPr>
          <p:cNvSpPr/>
          <p:nvPr/>
        </p:nvSpPr>
        <p:spPr>
          <a:xfrm>
            <a:off x="660743" y="3915556"/>
            <a:ext cx="5109882" cy="2241176"/>
          </a:xfrm>
          <a:prstGeom prst="roundRect">
            <a:avLst/>
          </a:prstGeom>
          <a:solidFill>
            <a:schemeClr val="accent3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Rechteck: abgerundete Ecken 10">
            <a:extLst>
              <a:ext uri="{FF2B5EF4-FFF2-40B4-BE49-F238E27FC236}">
                <a16:creationId xmlns:a16="http://schemas.microsoft.com/office/drawing/2014/main" id="{9535D735-F3B0-5A5D-E798-838A86D468BE}"/>
              </a:ext>
            </a:extLst>
          </p:cNvPr>
          <p:cNvSpPr/>
          <p:nvPr/>
        </p:nvSpPr>
        <p:spPr>
          <a:xfrm>
            <a:off x="6115346" y="3915555"/>
            <a:ext cx="5109882" cy="2241176"/>
          </a:xfrm>
          <a:prstGeom prst="roundRect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Rechteck: abgerundete Ecken 11">
            <a:extLst>
              <a:ext uri="{FF2B5EF4-FFF2-40B4-BE49-F238E27FC236}">
                <a16:creationId xmlns:a16="http://schemas.microsoft.com/office/drawing/2014/main" id="{EAE9AE1A-66B9-CF42-E8B8-0675E1EE4BD3}"/>
              </a:ext>
            </a:extLst>
          </p:cNvPr>
          <p:cNvSpPr/>
          <p:nvPr/>
        </p:nvSpPr>
        <p:spPr>
          <a:xfrm>
            <a:off x="6093419" y="1459613"/>
            <a:ext cx="5109882" cy="2241176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B3EC163B-0A30-AA7A-872C-D9ACE12A1977}"/>
              </a:ext>
            </a:extLst>
          </p:cNvPr>
          <p:cNvSpPr txBox="1"/>
          <p:nvPr/>
        </p:nvSpPr>
        <p:spPr>
          <a:xfrm>
            <a:off x="806823" y="1613647"/>
            <a:ext cx="4751294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de-DE">
                <a:solidFill>
                  <a:schemeClr val="accent3">
                    <a:lumMod val="25000"/>
                  </a:schemeClr>
                </a:solidFill>
              </a:rPr>
              <a:t>Backend</a:t>
            </a:r>
            <a:endParaRPr lang="de-DE" dirty="0">
              <a:solidFill>
                <a:schemeClr val="accent3">
                  <a:lumMod val="25000"/>
                </a:schemeClr>
              </a:solidFill>
            </a:endParaRPr>
          </a:p>
          <a:p>
            <a:pPr marL="285750" indent="-285750">
              <a:buFont typeface="Calibri"/>
              <a:buChar char="-"/>
            </a:pPr>
            <a:r>
              <a:rPr lang="de-DE" dirty="0" err="1">
                <a:solidFill>
                  <a:schemeClr val="accent3">
                    <a:lumMod val="25000"/>
                  </a:schemeClr>
                </a:solidFill>
              </a:rPr>
              <a:t>auth</a:t>
            </a:r>
            <a:r>
              <a:rPr lang="de-DE" dirty="0">
                <a:solidFill>
                  <a:schemeClr val="accent3">
                    <a:lumMod val="25000"/>
                  </a:schemeClr>
                </a:solidFill>
              </a:rPr>
              <a:t>-service (Port 3001)</a:t>
            </a:r>
          </a:p>
          <a:p>
            <a:pPr marL="285750" indent="-285750">
              <a:buFont typeface="Calibri"/>
              <a:buChar char="-"/>
            </a:pPr>
            <a:r>
              <a:rPr lang="de-DE" dirty="0" err="1">
                <a:solidFill>
                  <a:schemeClr val="accent3">
                    <a:lumMod val="25000"/>
                  </a:schemeClr>
                </a:solidFill>
              </a:rPr>
              <a:t>authorization</a:t>
            </a:r>
            <a:r>
              <a:rPr lang="de-DE" dirty="0">
                <a:solidFill>
                  <a:schemeClr val="accent3">
                    <a:lumMod val="25000"/>
                  </a:schemeClr>
                </a:solidFill>
              </a:rPr>
              <a:t>-service (intern)</a:t>
            </a:r>
          </a:p>
          <a:p>
            <a:pPr marL="285750" indent="-285750">
              <a:buFont typeface="Calibri"/>
              <a:buChar char="-"/>
            </a:pPr>
            <a:r>
              <a:rPr lang="de-DE" dirty="0" err="1">
                <a:solidFill>
                  <a:schemeClr val="accent3">
                    <a:lumMod val="25000"/>
                  </a:schemeClr>
                </a:solidFill>
              </a:rPr>
              <a:t>inventory</a:t>
            </a:r>
            <a:r>
              <a:rPr lang="de-DE" dirty="0">
                <a:solidFill>
                  <a:schemeClr val="accent3">
                    <a:lumMod val="25000"/>
                  </a:schemeClr>
                </a:solidFill>
              </a:rPr>
              <a:t>-service (Port 3003)</a:t>
            </a:r>
          </a:p>
          <a:p>
            <a:pPr marL="285750" indent="-285750">
              <a:buFont typeface="Calibri"/>
              <a:buChar char="-"/>
            </a:pPr>
            <a:r>
              <a:rPr lang="de-DE" dirty="0" err="1">
                <a:solidFill>
                  <a:schemeClr val="accent3">
                    <a:lumMod val="25000"/>
                  </a:schemeClr>
                </a:solidFill>
              </a:rPr>
              <a:t>wishlist</a:t>
            </a:r>
            <a:r>
              <a:rPr lang="de-DE" dirty="0">
                <a:solidFill>
                  <a:schemeClr val="accent3">
                    <a:lumMod val="25000"/>
                  </a:schemeClr>
                </a:solidFill>
              </a:rPr>
              <a:t>-service (Port 3004)</a:t>
            </a:r>
          </a:p>
          <a:p>
            <a:pPr marL="285750" indent="-285750">
              <a:buFont typeface="Calibri"/>
              <a:buChar char="-"/>
            </a:pPr>
            <a:r>
              <a:rPr lang="de-DE">
                <a:solidFill>
                  <a:schemeClr val="accent3">
                    <a:lumMod val="25000"/>
                  </a:schemeClr>
                </a:solidFill>
              </a:rPr>
              <a:t>user-service (Port 3005)</a:t>
            </a:r>
            <a:endParaRPr lang="de-DE" dirty="0">
              <a:solidFill>
                <a:schemeClr val="accent3">
                  <a:lumMod val="25000"/>
                </a:schemeClr>
              </a:solidFill>
            </a:endParaRP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6E82FA3C-BC57-72FE-8CCF-573AC3CA9FC4}"/>
              </a:ext>
            </a:extLst>
          </p:cNvPr>
          <p:cNvSpPr txBox="1"/>
          <p:nvPr/>
        </p:nvSpPr>
        <p:spPr>
          <a:xfrm>
            <a:off x="6242891" y="1579084"/>
            <a:ext cx="4755614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de-DE">
                <a:solidFill>
                  <a:schemeClr val="accent3">
                    <a:lumMod val="25000"/>
                  </a:schemeClr>
                </a:solidFill>
              </a:rPr>
              <a:t>Datenbank</a:t>
            </a:r>
            <a:endParaRPr lang="de-DE" dirty="0">
              <a:solidFill>
                <a:schemeClr val="accent3">
                  <a:lumMod val="25000"/>
                </a:schemeClr>
              </a:solidFill>
            </a:endParaRPr>
          </a:p>
          <a:p>
            <a:pPr marL="285750" indent="-285750">
              <a:buFont typeface="Calibri"/>
              <a:buChar char="-"/>
            </a:pPr>
            <a:r>
              <a:rPr lang="de-DE" dirty="0" err="1">
                <a:solidFill>
                  <a:schemeClr val="accent3">
                    <a:lumMod val="25000"/>
                  </a:schemeClr>
                </a:solidFill>
              </a:rPr>
              <a:t>postgres</a:t>
            </a:r>
            <a:r>
              <a:rPr lang="de-DE" dirty="0">
                <a:solidFill>
                  <a:schemeClr val="accent3">
                    <a:lumMod val="25000"/>
                  </a:schemeClr>
                </a:solidFill>
              </a:rPr>
              <a:t> (Port 5432)</a:t>
            </a: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D7CE0654-A1F6-6405-BDD8-5E2D4BA55AE6}"/>
              </a:ext>
            </a:extLst>
          </p:cNvPr>
          <p:cNvSpPr txBox="1"/>
          <p:nvPr/>
        </p:nvSpPr>
        <p:spPr>
          <a:xfrm>
            <a:off x="789541" y="4057879"/>
            <a:ext cx="4792337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de-DE">
                <a:solidFill>
                  <a:schemeClr val="accent3">
                    <a:lumMod val="25000"/>
                  </a:schemeClr>
                </a:solidFill>
              </a:rPr>
              <a:t>Frontend</a:t>
            </a:r>
            <a:endParaRPr lang="de-DE" dirty="0">
              <a:solidFill>
                <a:schemeClr val="accent3">
                  <a:lumMod val="25000"/>
                </a:schemeClr>
              </a:solidFill>
            </a:endParaRPr>
          </a:p>
          <a:p>
            <a:pPr marL="285750" indent="-285750">
              <a:buFont typeface="Calibri"/>
              <a:buChar char="-"/>
            </a:pPr>
            <a:r>
              <a:rPr lang="de-DE">
                <a:solidFill>
                  <a:schemeClr val="accent3">
                    <a:lumMod val="25000"/>
                  </a:schemeClr>
                </a:solidFill>
              </a:rPr>
              <a:t>user-portal (Port 8080)</a:t>
            </a:r>
            <a:endParaRPr lang="de-DE" dirty="0">
              <a:solidFill>
                <a:schemeClr val="accent3">
                  <a:lumMod val="25000"/>
                </a:schemeClr>
              </a:solidFill>
            </a:endParaRPr>
          </a:p>
          <a:p>
            <a:pPr marL="285750" indent="-285750">
              <a:buFont typeface="Calibri"/>
              <a:buChar char="-"/>
            </a:pPr>
            <a:r>
              <a:rPr lang="de-DE" dirty="0" err="1">
                <a:solidFill>
                  <a:schemeClr val="accent3">
                    <a:lumMod val="25000"/>
                  </a:schemeClr>
                </a:solidFill>
              </a:rPr>
              <a:t>admin</a:t>
            </a:r>
            <a:r>
              <a:rPr lang="de-DE" dirty="0">
                <a:solidFill>
                  <a:schemeClr val="accent3">
                    <a:lumMod val="25000"/>
                  </a:schemeClr>
                </a:solidFill>
              </a:rPr>
              <a:t>-portal (Port 8081)</a:t>
            </a:r>
          </a:p>
          <a:p>
            <a:pPr marL="285750" indent="-285750">
              <a:buFont typeface="Calibri"/>
              <a:buChar char="-"/>
            </a:pPr>
            <a:r>
              <a:rPr lang="de-DE" dirty="0">
                <a:solidFill>
                  <a:schemeClr val="accent3">
                    <a:lumMod val="25000"/>
                  </a:schemeClr>
                </a:solidFill>
              </a:rPr>
              <a:t>image-</a:t>
            </a:r>
            <a:r>
              <a:rPr lang="de-DE" dirty="0" err="1">
                <a:solidFill>
                  <a:schemeClr val="accent3">
                    <a:lumMod val="25000"/>
                  </a:schemeClr>
                </a:solidFill>
              </a:rPr>
              <a:t>assets</a:t>
            </a:r>
            <a:r>
              <a:rPr lang="de-DE" dirty="0">
                <a:solidFill>
                  <a:schemeClr val="accent3">
                    <a:lumMod val="25000"/>
                  </a:schemeClr>
                </a:solidFill>
              </a:rPr>
              <a:t> (Port 8082)</a:t>
            </a: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3F919188-46A6-CA5B-CC76-36285801ABE7}"/>
              </a:ext>
            </a:extLst>
          </p:cNvPr>
          <p:cNvSpPr txBox="1"/>
          <p:nvPr/>
        </p:nvSpPr>
        <p:spPr>
          <a:xfrm>
            <a:off x="6242891" y="4057879"/>
            <a:ext cx="4847421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de-DE"/>
              <a:t>Nur in Dev</a:t>
            </a:r>
          </a:p>
          <a:p>
            <a:pPr marL="285750" indent="-285750">
              <a:buFont typeface="Calibri"/>
              <a:buChar char="-"/>
            </a:pPr>
            <a:r>
              <a:rPr lang="de-DE" dirty="0" err="1"/>
              <a:t>pgAdmin</a:t>
            </a:r>
            <a:r>
              <a:rPr lang="de-DE" dirty="0"/>
              <a:t> (Datenbank-GUI)</a:t>
            </a:r>
          </a:p>
          <a:p>
            <a:pPr marL="285750" indent="-285750">
              <a:buFont typeface="Calibri"/>
              <a:buChar char="-"/>
            </a:pPr>
            <a:r>
              <a:rPr lang="de-DE" dirty="0" err="1"/>
              <a:t>mailpit</a:t>
            </a:r>
            <a:r>
              <a:rPr lang="de-DE" dirty="0"/>
              <a:t> (Mail-Catcher)</a:t>
            </a:r>
          </a:p>
          <a:p>
            <a:pPr marL="285750" indent="-285750">
              <a:buFont typeface="Calibri"/>
              <a:buChar char="-"/>
            </a:pPr>
            <a:r>
              <a:rPr lang="de-DE" dirty="0" err="1"/>
              <a:t>db-seed</a:t>
            </a:r>
            <a:r>
              <a:rPr lang="de-DE" dirty="0"/>
              <a:t> (Testdaten)</a:t>
            </a:r>
          </a:p>
        </p:txBody>
      </p:sp>
    </p:spTree>
    <p:extLst>
      <p:ext uri="{BB962C8B-B14F-4D97-AF65-F5344CB8AC3E}">
        <p14:creationId xmlns:p14="http://schemas.microsoft.com/office/powerpoint/2010/main" val="326724442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9A458CE-F64E-E943-ED8C-0CD4AFC4F5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879425"/>
          </a:xfrm>
        </p:spPr>
        <p:txBody>
          <a:bodyPr/>
          <a:lstStyle/>
          <a:p>
            <a:pPr algn="ctr"/>
            <a:r>
              <a:rPr lang="de-DE" sz="3600" dirty="0" err="1"/>
              <a:t>Dockerfile</a:t>
            </a:r>
            <a:r>
              <a:rPr lang="de-DE" sz="3600" dirty="0"/>
              <a:t> – Entstehung eines Images</a:t>
            </a:r>
            <a:endParaRPr lang="de-DE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9DB8218-D24D-70CA-9AFC-8FD2ABF3E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F43B3-7EC6-48DE-9B33-B7F46E6528D9}" type="datetime1">
              <a:rPr lang="de-DE" smtClean="0"/>
              <a:t>15.07.2026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06D5326-01FA-2EBE-4330-3DC9825A58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Bekir, Avid, Alex, Darian, Lara P., Sheila</a:t>
            </a:r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7BA5C4-2755-3009-8035-B6135188A3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7EE8E-3513-4D7C-BF7B-7494C67953C0}" type="slidenum">
              <a:rPr lang="de-DE" smtClean="0"/>
              <a:t>47</a:t>
            </a:fld>
            <a:endParaRPr lang="de-DE"/>
          </a:p>
        </p:txBody>
      </p:sp>
      <p:sp>
        <p:nvSpPr>
          <p:cNvPr id="7" name="Rechteck: abgerundete Ecken 6">
            <a:extLst>
              <a:ext uri="{FF2B5EF4-FFF2-40B4-BE49-F238E27FC236}">
                <a16:creationId xmlns:a16="http://schemas.microsoft.com/office/drawing/2014/main" id="{456227AF-EB59-D041-6DF5-E7D1C4E2630A}"/>
              </a:ext>
            </a:extLst>
          </p:cNvPr>
          <p:cNvSpPr/>
          <p:nvPr/>
        </p:nvSpPr>
        <p:spPr>
          <a:xfrm>
            <a:off x="379764" y="1562374"/>
            <a:ext cx="2001365" cy="1870549"/>
          </a:xfrm>
          <a:prstGeom prst="round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Rechteck: abgerundete Ecken 11">
            <a:extLst>
              <a:ext uri="{FF2B5EF4-FFF2-40B4-BE49-F238E27FC236}">
                <a16:creationId xmlns:a16="http://schemas.microsoft.com/office/drawing/2014/main" id="{CB8EB9BF-2E9F-CD2F-2BB1-D9A742749FB5}"/>
              </a:ext>
            </a:extLst>
          </p:cNvPr>
          <p:cNvSpPr/>
          <p:nvPr/>
        </p:nvSpPr>
        <p:spPr>
          <a:xfrm>
            <a:off x="2737029" y="1562373"/>
            <a:ext cx="2001365" cy="1870549"/>
          </a:xfrm>
          <a:prstGeom prst="round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de-DE" sz="1600" b="1" dirty="0">
                <a:solidFill>
                  <a:schemeClr val="accent1">
                    <a:lumMod val="76000"/>
                  </a:schemeClr>
                </a:solidFill>
              </a:rPr>
              <a:t>COPY </a:t>
            </a:r>
            <a:r>
              <a:rPr lang="de-DE" sz="1600" b="1" dirty="0" err="1">
                <a:solidFill>
                  <a:schemeClr val="accent1">
                    <a:lumMod val="76000"/>
                  </a:schemeClr>
                </a:solidFill>
              </a:rPr>
              <a:t>package</a:t>
            </a:r>
            <a:r>
              <a:rPr lang="de-DE" sz="1600" b="1" dirty="0">
                <a:solidFill>
                  <a:schemeClr val="accent1">
                    <a:lumMod val="76000"/>
                  </a:schemeClr>
                </a:solidFill>
              </a:rPr>
              <a:t>*.</a:t>
            </a:r>
            <a:r>
              <a:rPr lang="de-DE" sz="1600" b="1" dirty="0" err="1">
                <a:solidFill>
                  <a:schemeClr val="accent1">
                    <a:lumMod val="76000"/>
                  </a:schemeClr>
                </a:solidFill>
              </a:rPr>
              <a:t>json</a:t>
            </a:r>
            <a:endParaRPr lang="de-DE" sz="1600" b="1" dirty="0">
              <a:solidFill>
                <a:schemeClr val="accent1">
                  <a:lumMod val="76000"/>
                </a:schemeClr>
              </a:solidFill>
            </a:endParaRPr>
          </a:p>
          <a:p>
            <a:pPr algn="ctr"/>
            <a:endParaRPr lang="de-DE" sz="1600" dirty="0">
              <a:solidFill>
                <a:schemeClr val="accent1">
                  <a:lumMod val="76000"/>
                </a:schemeClr>
              </a:solidFill>
            </a:endParaRPr>
          </a:p>
          <a:p>
            <a:pPr algn="ctr"/>
            <a:r>
              <a:rPr lang="de-DE" sz="1600" dirty="0">
                <a:solidFill>
                  <a:schemeClr val="accent1">
                    <a:lumMod val="76000"/>
                  </a:schemeClr>
                </a:solidFill>
              </a:rPr>
              <a:t>Nur Abh</a:t>
            </a:r>
            <a:r>
              <a:rPr lang="de-DE" sz="1600">
                <a:solidFill>
                  <a:schemeClr val="accent1">
                    <a:lumMod val="76000"/>
                  </a:schemeClr>
                </a:solidFill>
              </a:rPr>
              <a:t>ängigkeiten kopieren</a:t>
            </a:r>
            <a:endParaRPr lang="de-DE" sz="1600" dirty="0">
              <a:solidFill>
                <a:schemeClr val="accent1">
                  <a:lumMod val="76000"/>
                </a:schemeClr>
              </a:solidFill>
            </a:endParaRPr>
          </a:p>
        </p:txBody>
      </p:sp>
      <p:sp>
        <p:nvSpPr>
          <p:cNvPr id="13" name="Rechteck: abgerundete Ecken 12">
            <a:extLst>
              <a:ext uri="{FF2B5EF4-FFF2-40B4-BE49-F238E27FC236}">
                <a16:creationId xmlns:a16="http://schemas.microsoft.com/office/drawing/2014/main" id="{17E500A9-D9B0-2EC8-AA89-3A56D9B1135F}"/>
              </a:ext>
            </a:extLst>
          </p:cNvPr>
          <p:cNvSpPr/>
          <p:nvPr/>
        </p:nvSpPr>
        <p:spPr>
          <a:xfrm>
            <a:off x="5105259" y="1562373"/>
            <a:ext cx="2001365" cy="1870549"/>
          </a:xfrm>
          <a:prstGeom prst="round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de-DE" sz="1600" b="1" dirty="0">
                <a:solidFill>
                  <a:schemeClr val="accent1">
                    <a:lumMod val="76000"/>
                  </a:schemeClr>
                </a:solidFill>
              </a:rPr>
              <a:t>RUN </a:t>
            </a:r>
            <a:r>
              <a:rPr lang="de-DE" sz="1600" b="1" dirty="0" err="1">
                <a:solidFill>
                  <a:schemeClr val="accent1">
                    <a:lumMod val="76000"/>
                  </a:schemeClr>
                </a:solidFill>
              </a:rPr>
              <a:t>npm</a:t>
            </a:r>
            <a:r>
              <a:rPr lang="de-DE" sz="1600" b="1" dirty="0">
                <a:solidFill>
                  <a:schemeClr val="accent1">
                    <a:lumMod val="76000"/>
                  </a:schemeClr>
                </a:solidFill>
              </a:rPr>
              <a:t> ci</a:t>
            </a:r>
          </a:p>
          <a:p>
            <a:pPr algn="ctr"/>
            <a:endParaRPr lang="de-DE" sz="1600" dirty="0">
              <a:solidFill>
                <a:schemeClr val="accent1">
                  <a:lumMod val="76000"/>
                </a:schemeClr>
              </a:solidFill>
            </a:endParaRPr>
          </a:p>
          <a:p>
            <a:pPr algn="ctr"/>
            <a:r>
              <a:rPr lang="de-DE" sz="1600">
                <a:solidFill>
                  <a:schemeClr val="accent1">
                    <a:lumMod val="76000"/>
                  </a:schemeClr>
                </a:solidFill>
              </a:rPr>
              <a:t>Pakete installieren (deterministisch</a:t>
            </a:r>
            <a:endParaRPr lang="de-DE" sz="1600" dirty="0">
              <a:solidFill>
                <a:schemeClr val="accent1">
                  <a:lumMod val="76000"/>
                </a:schemeClr>
              </a:solidFill>
            </a:endParaRPr>
          </a:p>
        </p:txBody>
      </p:sp>
      <p:sp>
        <p:nvSpPr>
          <p:cNvPr id="14" name="Rechteck: abgerundete Ecken 13">
            <a:extLst>
              <a:ext uri="{FF2B5EF4-FFF2-40B4-BE49-F238E27FC236}">
                <a16:creationId xmlns:a16="http://schemas.microsoft.com/office/drawing/2014/main" id="{5F19DED7-6C46-6F93-B311-163017B05045}"/>
              </a:ext>
            </a:extLst>
          </p:cNvPr>
          <p:cNvSpPr/>
          <p:nvPr/>
        </p:nvSpPr>
        <p:spPr>
          <a:xfrm>
            <a:off x="7424151" y="1562373"/>
            <a:ext cx="2001365" cy="1870549"/>
          </a:xfrm>
          <a:prstGeom prst="round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de-DE" sz="1600" b="1">
                <a:solidFill>
                  <a:schemeClr val="accent1">
                    <a:lumMod val="76000"/>
                  </a:schemeClr>
                </a:solidFill>
              </a:rPr>
              <a:t>COPY..</a:t>
            </a:r>
          </a:p>
          <a:p>
            <a:pPr algn="ctr"/>
            <a:endParaRPr lang="de-DE" sz="1600" dirty="0">
              <a:solidFill>
                <a:schemeClr val="accent1">
                  <a:lumMod val="76000"/>
                </a:schemeClr>
              </a:solidFill>
            </a:endParaRPr>
          </a:p>
          <a:p>
            <a:pPr algn="ctr"/>
            <a:r>
              <a:rPr lang="de-DE" sz="1600">
                <a:solidFill>
                  <a:schemeClr val="accent1">
                    <a:lumMod val="76000"/>
                  </a:schemeClr>
                </a:solidFill>
              </a:rPr>
              <a:t>Quellcode kopieren</a:t>
            </a:r>
            <a:endParaRPr lang="de-DE" sz="1600" dirty="0">
              <a:solidFill>
                <a:schemeClr val="accent1">
                  <a:lumMod val="76000"/>
                </a:schemeClr>
              </a:solidFill>
            </a:endParaRPr>
          </a:p>
        </p:txBody>
      </p:sp>
      <p:sp>
        <p:nvSpPr>
          <p:cNvPr id="15" name="Rechteck: abgerundete Ecken 14">
            <a:extLst>
              <a:ext uri="{FF2B5EF4-FFF2-40B4-BE49-F238E27FC236}">
                <a16:creationId xmlns:a16="http://schemas.microsoft.com/office/drawing/2014/main" id="{A95A1B6A-6484-257C-A6F1-D0B916B0B107}"/>
              </a:ext>
            </a:extLst>
          </p:cNvPr>
          <p:cNvSpPr/>
          <p:nvPr/>
        </p:nvSpPr>
        <p:spPr>
          <a:xfrm>
            <a:off x="9775935" y="1562373"/>
            <a:ext cx="2001365" cy="1870549"/>
          </a:xfrm>
          <a:prstGeom prst="round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de-DE" sz="1600" b="1" dirty="0">
                <a:solidFill>
                  <a:schemeClr val="accent1">
                    <a:lumMod val="76000"/>
                  </a:schemeClr>
                </a:solidFill>
              </a:rPr>
              <a:t>CMD ["</a:t>
            </a:r>
            <a:r>
              <a:rPr lang="de-DE" sz="1600" b="1" dirty="0" err="1">
                <a:solidFill>
                  <a:schemeClr val="accent1">
                    <a:lumMod val="76000"/>
                  </a:schemeClr>
                </a:solidFill>
              </a:rPr>
              <a:t>npm</a:t>
            </a:r>
            <a:r>
              <a:rPr lang="de-DE" sz="1600" b="1" dirty="0">
                <a:solidFill>
                  <a:schemeClr val="accent1">
                    <a:lumMod val="76000"/>
                  </a:schemeClr>
                </a:solidFill>
              </a:rPr>
              <a:t>","</a:t>
            </a:r>
            <a:r>
              <a:rPr lang="de-DE" sz="1600" b="1" dirty="0" err="1">
                <a:solidFill>
                  <a:schemeClr val="accent1">
                    <a:lumMod val="76000"/>
                  </a:schemeClr>
                </a:solidFill>
              </a:rPr>
              <a:t>start</a:t>
            </a:r>
            <a:r>
              <a:rPr lang="de-DE" sz="1600" b="1" dirty="0">
                <a:solidFill>
                  <a:schemeClr val="accent1">
                    <a:lumMod val="76000"/>
                  </a:schemeClr>
                </a:solidFill>
              </a:rPr>
              <a:t>"]</a:t>
            </a:r>
          </a:p>
          <a:p>
            <a:pPr algn="ctr"/>
            <a:endParaRPr lang="de-DE" sz="1600" dirty="0">
              <a:solidFill>
                <a:schemeClr val="accent1">
                  <a:lumMod val="76000"/>
                </a:schemeClr>
              </a:solidFill>
            </a:endParaRPr>
          </a:p>
          <a:p>
            <a:pPr algn="ctr"/>
            <a:r>
              <a:rPr lang="de-DE" sz="1600">
                <a:solidFill>
                  <a:schemeClr val="accent1">
                    <a:lumMod val="76000"/>
                  </a:schemeClr>
                </a:solidFill>
              </a:rPr>
              <a:t>Container-Startbefehl</a:t>
            </a:r>
            <a:endParaRPr lang="de-DE" sz="1600" dirty="0">
              <a:solidFill>
                <a:schemeClr val="accent1">
                  <a:lumMod val="76000"/>
                </a:schemeClr>
              </a:solidFill>
            </a:endParaRP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689EC1E8-AC90-DC45-5429-236897F86EF9}"/>
              </a:ext>
            </a:extLst>
          </p:cNvPr>
          <p:cNvSpPr txBox="1"/>
          <p:nvPr/>
        </p:nvSpPr>
        <p:spPr>
          <a:xfrm>
            <a:off x="521168" y="1732323"/>
            <a:ext cx="1681655" cy="13234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de-DE" sz="1600" b="1" dirty="0">
                <a:solidFill>
                  <a:schemeClr val="accent1">
                    <a:lumMod val="76000"/>
                  </a:schemeClr>
                </a:solidFill>
              </a:rPr>
              <a:t>FROM node</a:t>
            </a:r>
            <a:r>
              <a:rPr lang="de-DE" sz="1600" b="1">
                <a:solidFill>
                  <a:schemeClr val="accent1">
                    <a:lumMod val="76000"/>
                  </a:schemeClr>
                </a:solidFill>
              </a:rPr>
              <a:t>:20-alpine</a:t>
            </a:r>
            <a:endParaRPr lang="de-DE" sz="1600" b="1" dirty="0">
              <a:solidFill>
                <a:schemeClr val="accent1">
                  <a:lumMod val="76000"/>
                </a:schemeClr>
              </a:solidFill>
            </a:endParaRPr>
          </a:p>
          <a:p>
            <a:pPr algn="ctr"/>
            <a:endParaRPr lang="de-DE" sz="1600" dirty="0">
              <a:solidFill>
                <a:schemeClr val="accent1">
                  <a:lumMod val="76000"/>
                </a:schemeClr>
              </a:solidFill>
            </a:endParaRPr>
          </a:p>
          <a:p>
            <a:pPr algn="ctr"/>
            <a:r>
              <a:rPr lang="de-DE" sz="1600">
                <a:solidFill>
                  <a:schemeClr val="accent1">
                    <a:lumMod val="76000"/>
                  </a:schemeClr>
                </a:solidFill>
              </a:rPr>
              <a:t>Basis-Image:</a:t>
            </a:r>
            <a:endParaRPr lang="de-DE" sz="1600" dirty="0">
              <a:solidFill>
                <a:schemeClr val="accent1">
                  <a:lumMod val="76000"/>
                </a:schemeClr>
              </a:solidFill>
            </a:endParaRPr>
          </a:p>
          <a:p>
            <a:pPr algn="ctr"/>
            <a:r>
              <a:rPr lang="de-DE" sz="1600">
                <a:solidFill>
                  <a:schemeClr val="accent1">
                    <a:lumMod val="76000"/>
                  </a:schemeClr>
                </a:solidFill>
              </a:rPr>
              <a:t>Linux + Node.js</a:t>
            </a:r>
            <a:endParaRPr lang="de-DE" sz="1600" dirty="0">
              <a:solidFill>
                <a:schemeClr val="accent1">
                  <a:lumMod val="76000"/>
                </a:schemeClr>
              </a:solidFill>
            </a:endParaRPr>
          </a:p>
        </p:txBody>
      </p:sp>
      <p:sp>
        <p:nvSpPr>
          <p:cNvPr id="18" name="Rechteck: abgerundete Ecken 17">
            <a:extLst>
              <a:ext uri="{FF2B5EF4-FFF2-40B4-BE49-F238E27FC236}">
                <a16:creationId xmlns:a16="http://schemas.microsoft.com/office/drawing/2014/main" id="{BFE2690E-A833-2360-31EC-91311AC8A15B}"/>
              </a:ext>
            </a:extLst>
          </p:cNvPr>
          <p:cNvSpPr/>
          <p:nvPr/>
        </p:nvSpPr>
        <p:spPr>
          <a:xfrm>
            <a:off x="387455" y="3711677"/>
            <a:ext cx="11414260" cy="2520842"/>
          </a:xfrm>
          <a:prstGeom prst="roundRect">
            <a:avLst/>
          </a:prstGeom>
          <a:solidFill>
            <a:srgbClr val="496E4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de-DE" sz="2000" b="1">
                <a:solidFill>
                  <a:schemeClr val="accent3"/>
                </a:solidFill>
              </a:rPr>
              <a:t>Layer-Caching:</a:t>
            </a:r>
          </a:p>
          <a:p>
            <a:endParaRPr lang="de-DE" dirty="0">
              <a:solidFill>
                <a:schemeClr val="accent3"/>
              </a:solidFill>
            </a:endParaRPr>
          </a:p>
          <a:p>
            <a:endParaRPr lang="de-DE" dirty="0">
              <a:solidFill>
                <a:schemeClr val="accent3"/>
              </a:solidFill>
            </a:endParaRPr>
          </a:p>
          <a:p>
            <a:r>
              <a:rPr lang="de-DE" dirty="0">
                <a:solidFill>
                  <a:schemeClr val="accent3"/>
                </a:solidFill>
              </a:rPr>
              <a:t>Docker speichert jeden Schritt als eigene Schicht (Layer). Ändert sich bspw. nur der Code (Layer 4), läuft </a:t>
            </a:r>
            <a:r>
              <a:rPr lang="de-DE" dirty="0" err="1">
                <a:solidFill>
                  <a:schemeClr val="accent3"/>
                </a:solidFill>
              </a:rPr>
              <a:t>npm</a:t>
            </a:r>
            <a:r>
              <a:rPr lang="de-DE" dirty="0">
                <a:solidFill>
                  <a:schemeClr val="accent3"/>
                </a:solidFill>
              </a:rPr>
              <a:t> ci (Layer 3) nicht nochmal -&gt; spart bei jedem </a:t>
            </a:r>
            <a:r>
              <a:rPr lang="de-DE" dirty="0" err="1">
                <a:solidFill>
                  <a:schemeClr val="accent3"/>
                </a:solidFill>
              </a:rPr>
              <a:t>Rebuild</a:t>
            </a:r>
            <a:r>
              <a:rPr lang="de-DE" dirty="0">
                <a:solidFill>
                  <a:schemeClr val="accent3"/>
                </a:solidFill>
              </a:rPr>
              <a:t> Zeit.</a:t>
            </a:r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61216390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85BACAD-7466-AF59-D77C-94CBF32118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79CBD3C9-4E66-426D-948E-7CF4778107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DE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DB95FCF-AD96-482F-9FB8-CD95725E6E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DE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4EEEC00-AD80-4734-BEE6-04CBDEC830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C6896D1-BFB1-4C84-82DD-31073BED3F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978660" y="5462458"/>
            <a:ext cx="82296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feld 5">
            <a:extLst>
              <a:ext uri="{FF2B5EF4-FFF2-40B4-BE49-F238E27FC236}">
                <a16:creationId xmlns:a16="http://schemas.microsoft.com/office/drawing/2014/main" id="{465B8141-FBA7-5D1A-5BD5-0889108B08EA}"/>
              </a:ext>
            </a:extLst>
          </p:cNvPr>
          <p:cNvSpPr txBox="1"/>
          <p:nvPr/>
        </p:nvSpPr>
        <p:spPr>
          <a:xfrm>
            <a:off x="-3552223" y="16099"/>
            <a:ext cx="8767860" cy="5536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algn="ctr" defTabSz="914400">
              <a:lnSpc>
                <a:spcPct val="90000"/>
              </a:lnSpc>
              <a:spcBef>
                <a:spcPts val="1400"/>
              </a:spcBef>
              <a:buClr>
                <a:schemeClr val="accent1"/>
              </a:buClr>
              <a:buSzPct val="80000"/>
            </a:pPr>
            <a:r>
              <a:rPr lang="en-US" sz="900" u="sng" dirty="0">
                <a:solidFill>
                  <a:srgbClr val="FFFFFF"/>
                </a:solidFill>
              </a:rPr>
              <a:t>*Hyperlink auf </a:t>
            </a:r>
            <a:r>
              <a:rPr lang="en-US" sz="900" u="sng" dirty="0" err="1">
                <a:solidFill>
                  <a:srgbClr val="FFFFFF"/>
                </a:solidFill>
              </a:rPr>
              <a:t>Überschrift</a:t>
            </a:r>
            <a:r>
              <a:rPr lang="en-US" sz="900" u="sng" dirty="0">
                <a:solidFill>
                  <a:srgbClr val="FFFFFF"/>
                </a:solidFill>
              </a:rPr>
              <a:t> 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A2FDFB1-2B6D-49EB-B6C0-FA923806E0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140" y="243841"/>
            <a:ext cx="11722100" cy="3964584"/>
          </a:xfrm>
          <a:prstGeom prst="rect">
            <a:avLst/>
          </a:prstGeom>
          <a:solidFill>
            <a:schemeClr val="bg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DE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5890045C-D968-EB22-EF5D-3D1C285E45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124789" y="728472"/>
            <a:ext cx="5934800" cy="3027316"/>
          </a:xfrm>
          <a:prstGeom prst="rect">
            <a:avLst/>
          </a:prstGeom>
          <a:ln w="19050">
            <a:solidFill>
              <a:schemeClr val="accent1"/>
            </a:solidFill>
          </a:ln>
        </p:spPr>
      </p:pic>
      <p:cxnSp>
        <p:nvCxnSpPr>
          <p:cNvPr id="12" name="Gerader Verbinder 11">
            <a:extLst>
              <a:ext uri="{FF2B5EF4-FFF2-40B4-BE49-F238E27FC236}">
                <a16:creationId xmlns:a16="http://schemas.microsoft.com/office/drawing/2014/main" id="{7C9CB2D6-4196-BE87-FF79-9B2C567FF805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1978660" y="5462458"/>
            <a:ext cx="859821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el 1">
            <a:extLst>
              <a:ext uri="{FF2B5EF4-FFF2-40B4-BE49-F238E27FC236}">
                <a16:creationId xmlns:a16="http://schemas.microsoft.com/office/drawing/2014/main" id="{85D942B0-4C74-3819-7B87-C93F10B234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8709" y="4643953"/>
            <a:ext cx="9966960" cy="132588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85000"/>
              </a:lnSpc>
            </a:pPr>
            <a:r>
              <a:rPr lang="en-US" sz="6600" b="1" u="sng" cap="all">
                <a:solidFill>
                  <a:srgbClr val="FFFFFF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Live-Demo</a:t>
            </a:r>
            <a:endParaRPr lang="en-US" sz="6600" b="1" u="sng" cap="all">
              <a:solidFill>
                <a:srgbClr val="FFFFFF"/>
              </a:solidFill>
            </a:endParaRP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A61D3E11-12AA-D8BC-0BE4-60CCEC0F2E90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3599" y="1840913"/>
            <a:ext cx="1177260" cy="1177260"/>
          </a:xfrm>
          <a:prstGeom prst="rect">
            <a:avLst/>
          </a:prstGeom>
        </p:spPr>
      </p:pic>
      <p:sp>
        <p:nvSpPr>
          <p:cNvPr id="10" name="Datumsplatzhalter 9">
            <a:extLst>
              <a:ext uri="{FF2B5EF4-FFF2-40B4-BE49-F238E27FC236}">
                <a16:creationId xmlns:a16="http://schemas.microsoft.com/office/drawing/2014/main" id="{FCD4C93A-26C7-7843-32B5-FDF62FC0D9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CC20B-DCA8-4EC7-A58F-4F14552F5549}" type="datetime1">
              <a:rPr lang="de-DE" smtClean="0"/>
              <a:t>15.07.2026</a:t>
            </a:fld>
            <a:endParaRPr lang="de-DE"/>
          </a:p>
        </p:txBody>
      </p: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70E19C0D-1F47-F5DD-856A-615C86E342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Bekir, Avid, Alex, Darian, Lara P., Sheila</a:t>
            </a:r>
            <a:endParaRPr lang="de-DE"/>
          </a:p>
        </p:txBody>
      </p:sp>
      <p:sp>
        <p:nvSpPr>
          <p:cNvPr id="14" name="Foliennummernplatzhalter 13">
            <a:extLst>
              <a:ext uri="{FF2B5EF4-FFF2-40B4-BE49-F238E27FC236}">
                <a16:creationId xmlns:a16="http://schemas.microsoft.com/office/drawing/2014/main" id="{F1E18784-4AC7-FB82-52AA-BDF989675F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7EE8E-3513-4D7C-BF7B-7494C67953C0}" type="slidenum">
              <a:rPr lang="de-DE" smtClean="0"/>
              <a:t>48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6382030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27D18E2-D5A6-E8A0-EF59-C4D7877064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79CBD3C9-4E66-426D-948E-7CF4778107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DE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DB95FCF-AD96-482F-9FB8-CD95725E6E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DE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64EEEC00-AD80-4734-BEE6-04CBDEC830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C6896D1-BFB1-4C84-82DD-31073BED3F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978660" y="5462458"/>
            <a:ext cx="82296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8A2FDFB1-2B6D-49EB-B6C0-FA923806E0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140" y="243841"/>
            <a:ext cx="11722100" cy="3964584"/>
          </a:xfrm>
          <a:prstGeom prst="rect">
            <a:avLst/>
          </a:prstGeom>
          <a:solidFill>
            <a:schemeClr val="bg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DE"/>
          </a:p>
        </p:txBody>
      </p:sp>
      <p:pic>
        <p:nvPicPr>
          <p:cNvPr id="7" name="Grafik 6" descr="Idee Silhouette">
            <a:extLst>
              <a:ext uri="{FF2B5EF4-FFF2-40B4-BE49-F238E27FC236}">
                <a16:creationId xmlns:a16="http://schemas.microsoft.com/office/drawing/2014/main" id="{9C89F350-B87C-33BA-A0F0-6540B6BE343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8531" y="728472"/>
            <a:ext cx="3027316" cy="3027316"/>
          </a:xfrm>
          <a:prstGeom prst="rect">
            <a:avLst/>
          </a:prstGeom>
        </p:spPr>
      </p:pic>
      <p:cxnSp>
        <p:nvCxnSpPr>
          <p:cNvPr id="11" name="Gerader Verbinder 10">
            <a:extLst>
              <a:ext uri="{FF2B5EF4-FFF2-40B4-BE49-F238E27FC236}">
                <a16:creationId xmlns:a16="http://schemas.microsoft.com/office/drawing/2014/main" id="{F9043B0C-C730-B6D7-CE43-299DD50FC960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1978660" y="5462458"/>
            <a:ext cx="93599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el 1">
            <a:extLst>
              <a:ext uri="{FF2B5EF4-FFF2-40B4-BE49-F238E27FC236}">
                <a16:creationId xmlns:a16="http://schemas.microsoft.com/office/drawing/2014/main" id="{C995B97B-7F72-D620-3D6D-B59BBE9BAA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8709" y="4693056"/>
            <a:ext cx="9966960" cy="132588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85000"/>
              </a:lnSpc>
            </a:pPr>
            <a:r>
              <a:rPr lang="en-US" sz="6600" b="1" u="sng" cap="all">
                <a:solidFill>
                  <a:srgbClr val="FFFFFF"/>
                </a:solidFill>
              </a:rPr>
              <a:t>Learned lessons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39A5FE5B-1CEC-5255-D0A7-EE92E92406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83EF4B-B622-4BC4-9A1D-D85A356B7E4A}" type="datetime1">
              <a:rPr lang="de-DE" smtClean="0"/>
              <a:t>15.07.2026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8D95F12-85CB-1DEB-02C1-F77CA986E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Bekir, Avid, Alex, Darian, Lara P., Sheila</a:t>
            </a:r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3261614-D2DA-1FA2-D7B6-DAC1E88A61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7EE8E-3513-4D7C-BF7B-7494C67953C0}" type="slidenum">
              <a:rPr lang="de-DE" smtClean="0"/>
              <a:t>49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8620629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F708BD-4629-9267-F958-F37027137B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05CADF0-8C3D-171F-9951-9CDE48F117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0971" y="362577"/>
            <a:ext cx="9837691" cy="702446"/>
          </a:xfrm>
        </p:spPr>
        <p:txBody>
          <a:bodyPr>
            <a:normAutofit/>
          </a:bodyPr>
          <a:lstStyle/>
          <a:p>
            <a:pPr algn="ctr"/>
            <a:r>
              <a:rPr lang="de-DE" sz="3200" b="1"/>
              <a:t>Rückblick - Was gut lief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B8A8D94-E395-983E-C97A-7DDF262727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246A7E-E9E6-492D-A04A-BD25B487DCB9}" type="datetime1">
              <a:rPr lang="de-DE" smtClean="0"/>
              <a:t>15.07.2026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9DA211E-649D-17EA-0B5E-EAEA651828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Bekir, Avid, Alex, Darian, Lara P., Sheila</a:t>
            </a:r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341324F-D88E-67A1-BE96-E0BEC77671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7EE8E-3513-4D7C-BF7B-7494C67953C0}" type="slidenum">
              <a:rPr lang="de-DE" smtClean="0"/>
              <a:t>50</a:t>
            </a:fld>
            <a:endParaRPr lang="de-DE"/>
          </a:p>
        </p:txBody>
      </p:sp>
      <p:sp>
        <p:nvSpPr>
          <p:cNvPr id="7" name="Rechteck: abgerundete Ecken 6">
            <a:extLst>
              <a:ext uri="{FF2B5EF4-FFF2-40B4-BE49-F238E27FC236}">
                <a16:creationId xmlns:a16="http://schemas.microsoft.com/office/drawing/2014/main" id="{EC02D249-177A-34E0-865B-17B343DA8357}"/>
              </a:ext>
            </a:extLst>
          </p:cNvPr>
          <p:cNvSpPr/>
          <p:nvPr/>
        </p:nvSpPr>
        <p:spPr>
          <a:xfrm>
            <a:off x="7879613" y="1309571"/>
            <a:ext cx="3477088" cy="4629236"/>
          </a:xfrm>
          <a:prstGeom prst="roundRect">
            <a:avLst/>
          </a:prstGeom>
          <a:solidFill>
            <a:srgbClr val="F4FFF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285750" indent="-285750">
              <a:buFont typeface="Arial"/>
              <a:buChar char="•"/>
            </a:pPr>
            <a:r>
              <a:rPr lang="de-DE" sz="1600" b="1">
                <a:solidFill>
                  <a:schemeClr val="accent1">
                    <a:lumMod val="76000"/>
                  </a:schemeClr>
                </a:solidFill>
                <a:latin typeface="Corbel"/>
              </a:rPr>
              <a:t>regelmäßiger Austausch im Team</a:t>
            </a:r>
          </a:p>
          <a:p>
            <a:pPr marL="285750" indent="-285750">
              <a:buFont typeface="Arial"/>
              <a:buChar char="•"/>
            </a:pPr>
            <a:r>
              <a:rPr lang="de-DE" sz="1600" b="1">
                <a:solidFill>
                  <a:schemeClr val="accent1">
                    <a:lumMod val="76000"/>
                  </a:schemeClr>
                </a:solidFill>
                <a:latin typeface="Corbel"/>
              </a:rPr>
              <a:t>Überblick bei verteilten Architekturen</a:t>
            </a:r>
          </a:p>
          <a:p>
            <a:endParaRPr lang="de-DE" sz="1600" b="1"/>
          </a:p>
          <a:p>
            <a:r>
              <a:rPr lang="de-DE" sz="1600" b="1">
                <a:solidFill>
                  <a:schemeClr val="accent1">
                    <a:lumMod val="76000"/>
                  </a:schemeClr>
                </a:solidFill>
                <a:latin typeface="Corbel"/>
              </a:rPr>
              <a:t>→ ein gemeinsames Bild der Architektur ist wichtiger als Detailwissen jedes Einzelnen</a:t>
            </a:r>
          </a:p>
        </p:txBody>
      </p:sp>
      <p:sp>
        <p:nvSpPr>
          <p:cNvPr id="10" name="Rechteck: abgerundete Ecken 9">
            <a:extLst>
              <a:ext uri="{FF2B5EF4-FFF2-40B4-BE49-F238E27FC236}">
                <a16:creationId xmlns:a16="http://schemas.microsoft.com/office/drawing/2014/main" id="{1E9F531C-6C21-3802-BF02-A7301EC242EB}"/>
              </a:ext>
            </a:extLst>
          </p:cNvPr>
          <p:cNvSpPr/>
          <p:nvPr/>
        </p:nvSpPr>
        <p:spPr>
          <a:xfrm>
            <a:off x="8101599" y="1546878"/>
            <a:ext cx="2852855" cy="561981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de-DE" sz="2000" b="1">
                <a:solidFill>
                  <a:schemeClr val="accent1">
                    <a:lumMod val="76000"/>
                  </a:schemeClr>
                </a:solidFill>
              </a:rPr>
              <a:t>Kommunikation</a:t>
            </a:r>
          </a:p>
        </p:txBody>
      </p:sp>
      <p:sp>
        <p:nvSpPr>
          <p:cNvPr id="8" name="Rechteck: abgerundete Ecken 7">
            <a:extLst>
              <a:ext uri="{FF2B5EF4-FFF2-40B4-BE49-F238E27FC236}">
                <a16:creationId xmlns:a16="http://schemas.microsoft.com/office/drawing/2014/main" id="{EA45D3BB-4EFD-4ED3-ED46-69420226F982}"/>
              </a:ext>
            </a:extLst>
          </p:cNvPr>
          <p:cNvSpPr/>
          <p:nvPr/>
        </p:nvSpPr>
        <p:spPr>
          <a:xfrm>
            <a:off x="4404677" y="1320379"/>
            <a:ext cx="3477088" cy="4629236"/>
          </a:xfrm>
          <a:prstGeom prst="roundRect">
            <a:avLst/>
          </a:prstGeom>
          <a:solidFill>
            <a:srgbClr val="F4FFF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285750" indent="-285750">
              <a:buFont typeface="Arial"/>
              <a:buChar char="•"/>
            </a:pPr>
            <a:r>
              <a:rPr lang="de-DE" sz="1600" b="1">
                <a:solidFill>
                  <a:schemeClr val="accent1">
                    <a:lumMod val="76000"/>
                  </a:schemeClr>
                </a:solidFill>
                <a:ea typeface="+mn-lt"/>
                <a:cs typeface="+mn-lt"/>
              </a:rPr>
              <a:t>von Anfang an, statt am Ende</a:t>
            </a:r>
          </a:p>
          <a:p>
            <a:pPr marL="285750" indent="-285750">
              <a:buFont typeface="Arial"/>
              <a:buChar char="•"/>
            </a:pPr>
            <a:r>
              <a:rPr lang="de-DE" sz="1600" b="1">
                <a:solidFill>
                  <a:schemeClr val="accent1">
                    <a:lumMod val="76000"/>
                  </a:schemeClr>
                </a:solidFill>
                <a:ea typeface="+mn-lt"/>
                <a:cs typeface="+mn-lt"/>
              </a:rPr>
              <a:t>jeder Service eine eigene Konzept.md</a:t>
            </a:r>
          </a:p>
          <a:p>
            <a:endParaRPr lang="de-DE" sz="1600" b="1"/>
          </a:p>
          <a:p>
            <a:r>
              <a:rPr lang="de-DE" sz="1600" b="1">
                <a:solidFill>
                  <a:schemeClr val="accent1">
                    <a:lumMod val="76000"/>
                  </a:schemeClr>
                </a:solidFill>
                <a:ea typeface="+mn-lt"/>
                <a:cs typeface="+mn-lt"/>
              </a:rPr>
              <a:t>→ Dokumentation macht Entscheidungen auch Wochen später nachvollziehbar</a:t>
            </a:r>
          </a:p>
        </p:txBody>
      </p:sp>
      <p:sp>
        <p:nvSpPr>
          <p:cNvPr id="9" name="Rechteck: abgerundete Ecken 8">
            <a:extLst>
              <a:ext uri="{FF2B5EF4-FFF2-40B4-BE49-F238E27FC236}">
                <a16:creationId xmlns:a16="http://schemas.microsoft.com/office/drawing/2014/main" id="{F99475C8-3645-CFAA-A1B9-58B0232DE40C}"/>
              </a:ext>
            </a:extLst>
          </p:cNvPr>
          <p:cNvSpPr/>
          <p:nvPr/>
        </p:nvSpPr>
        <p:spPr>
          <a:xfrm>
            <a:off x="4626663" y="1557686"/>
            <a:ext cx="2852855" cy="561981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de-DE" sz="2000" b="1">
                <a:solidFill>
                  <a:schemeClr val="accent1">
                    <a:lumMod val="76000"/>
                  </a:schemeClr>
                </a:solidFill>
              </a:rPr>
              <a:t>Dokumentation</a:t>
            </a:r>
          </a:p>
        </p:txBody>
      </p:sp>
      <p:sp>
        <p:nvSpPr>
          <p:cNvPr id="11" name="Rechteck: abgerundete Ecken 10">
            <a:extLst>
              <a:ext uri="{FF2B5EF4-FFF2-40B4-BE49-F238E27FC236}">
                <a16:creationId xmlns:a16="http://schemas.microsoft.com/office/drawing/2014/main" id="{FEC93CA1-637C-46D3-A5F3-427BF640E7F1}"/>
              </a:ext>
            </a:extLst>
          </p:cNvPr>
          <p:cNvSpPr/>
          <p:nvPr/>
        </p:nvSpPr>
        <p:spPr>
          <a:xfrm>
            <a:off x="924335" y="1331186"/>
            <a:ext cx="3477088" cy="4629236"/>
          </a:xfrm>
          <a:prstGeom prst="roundRect">
            <a:avLst/>
          </a:prstGeom>
          <a:solidFill>
            <a:srgbClr val="F4FFF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285750" indent="-285750">
              <a:buFont typeface="Arial"/>
              <a:buChar char="•"/>
            </a:pPr>
            <a:r>
              <a:rPr lang="de-DE" sz="1600" b="1">
                <a:solidFill>
                  <a:schemeClr val="accent1">
                    <a:lumMod val="76000"/>
                  </a:schemeClr>
                </a:solidFill>
                <a:latin typeface="Corbel"/>
              </a:rPr>
              <a:t>klarer Ablauf für den Normalfall</a:t>
            </a:r>
          </a:p>
          <a:p>
            <a:pPr marL="285750" indent="-285750">
              <a:buFont typeface="Arial"/>
              <a:buChar char="•"/>
            </a:pPr>
            <a:r>
              <a:rPr lang="de-DE" sz="1600" b="1">
                <a:solidFill>
                  <a:schemeClr val="accent1">
                    <a:lumMod val="76000"/>
                  </a:schemeClr>
                </a:solidFill>
                <a:latin typeface="Corbel"/>
              </a:rPr>
              <a:t>Kanban → bauen → testen → dokumentieren</a:t>
            </a:r>
          </a:p>
          <a:p>
            <a:endParaRPr lang="de-DE" sz="1600" b="1"/>
          </a:p>
          <a:p>
            <a:r>
              <a:rPr lang="de-DE" sz="1600" b="1">
                <a:solidFill>
                  <a:schemeClr val="accent1">
                    <a:lumMod val="76000"/>
                  </a:schemeClr>
                </a:solidFill>
                <a:latin typeface="Corbel"/>
              </a:rPr>
              <a:t>→ Lücke: kein Vorgehen für Bugs und Abweichungen – ein Prozess muss auch den Ausnahmefall regeln</a:t>
            </a:r>
          </a:p>
        </p:txBody>
      </p:sp>
      <p:sp>
        <p:nvSpPr>
          <p:cNvPr id="13" name="Rechteck: abgerundete Ecken 12">
            <a:extLst>
              <a:ext uri="{FF2B5EF4-FFF2-40B4-BE49-F238E27FC236}">
                <a16:creationId xmlns:a16="http://schemas.microsoft.com/office/drawing/2014/main" id="{D5B62382-9147-DC06-938B-52C8FF9C9FB7}"/>
              </a:ext>
            </a:extLst>
          </p:cNvPr>
          <p:cNvSpPr/>
          <p:nvPr/>
        </p:nvSpPr>
        <p:spPr>
          <a:xfrm>
            <a:off x="1146321" y="1568494"/>
            <a:ext cx="2852855" cy="561981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de-DE" sz="2000" b="1">
                <a:solidFill>
                  <a:schemeClr val="accent1">
                    <a:lumMod val="76000"/>
                  </a:schemeClr>
                </a:solidFill>
              </a:rPr>
              <a:t>Struktur</a:t>
            </a:r>
          </a:p>
        </p:txBody>
      </p:sp>
    </p:spTree>
    <p:extLst>
      <p:ext uri="{BB962C8B-B14F-4D97-AF65-F5344CB8AC3E}">
        <p14:creationId xmlns:p14="http://schemas.microsoft.com/office/powerpoint/2010/main" val="344769893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EEB4B0-FB1E-816D-392B-59974B0E95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12BF598-7293-2820-29CA-E73CD85F54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0971" y="362577"/>
            <a:ext cx="9837691" cy="702446"/>
          </a:xfrm>
        </p:spPr>
        <p:txBody>
          <a:bodyPr>
            <a:normAutofit/>
          </a:bodyPr>
          <a:lstStyle/>
          <a:p>
            <a:pPr algn="ctr"/>
            <a:r>
              <a:rPr lang="de-DE" sz="3200" b="1"/>
              <a:t>Rückblick - Zusammenarbeit im Team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8FDA641-055B-6DB2-B08A-C533120856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246A7E-E9E6-492D-A04A-BD25B487DCB9}" type="datetime1">
              <a:rPr lang="de-DE" smtClean="0"/>
              <a:t>15.07.2026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25AB144-39AD-4D7F-AD9E-0EC7261A84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Bekir, Avid, Alex, Darian, Lara P., Sheila</a:t>
            </a:r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928B95D-C16F-152F-95EB-9C18174AE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7EE8E-3513-4D7C-BF7B-7494C67953C0}" type="slidenum">
              <a:rPr lang="de-DE" smtClean="0"/>
              <a:t>51</a:t>
            </a:fld>
            <a:endParaRPr lang="de-DE"/>
          </a:p>
        </p:txBody>
      </p:sp>
      <p:sp>
        <p:nvSpPr>
          <p:cNvPr id="12" name="Rechteck: abgerundete Ecken 11">
            <a:extLst>
              <a:ext uri="{FF2B5EF4-FFF2-40B4-BE49-F238E27FC236}">
                <a16:creationId xmlns:a16="http://schemas.microsoft.com/office/drawing/2014/main" id="{49BE5338-1AD5-F42E-A79D-8652519A71AB}"/>
              </a:ext>
            </a:extLst>
          </p:cNvPr>
          <p:cNvSpPr/>
          <p:nvPr/>
        </p:nvSpPr>
        <p:spPr>
          <a:xfrm>
            <a:off x="567657" y="1287954"/>
            <a:ext cx="4471470" cy="4629236"/>
          </a:xfrm>
          <a:prstGeom prst="roundRect">
            <a:avLst/>
          </a:prstGeom>
          <a:solidFill>
            <a:srgbClr val="FFE8E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285750" indent="-285750">
              <a:buFont typeface="Arial"/>
              <a:buChar char="•"/>
            </a:pPr>
            <a:r>
              <a:rPr lang="de-DE" sz="1600" b="1" dirty="0">
                <a:solidFill>
                  <a:schemeClr val="accent1">
                    <a:lumMod val="76000"/>
                  </a:schemeClr>
                </a:solidFill>
                <a:latin typeface="Corbel"/>
              </a:rPr>
              <a:t>klarer Feature-Branch-Workflow von Anfang an definiert</a:t>
            </a:r>
          </a:p>
          <a:p>
            <a:pPr marL="285750" indent="-285750">
              <a:buFont typeface="Arial"/>
              <a:buChar char="•"/>
            </a:pPr>
            <a:r>
              <a:rPr lang="de-DE" sz="1600" b="1" dirty="0">
                <a:solidFill>
                  <a:schemeClr val="accent1">
                    <a:lumMod val="76000"/>
                  </a:schemeClr>
                </a:solidFill>
                <a:latin typeface="Corbel"/>
              </a:rPr>
              <a:t>in der Praxis Schwierigkeiten im Umgang mit </a:t>
            </a:r>
            <a:r>
              <a:rPr lang="de-DE" sz="1600" b="1" dirty="0" err="1">
                <a:solidFill>
                  <a:schemeClr val="accent1">
                    <a:lumMod val="76000"/>
                  </a:schemeClr>
                </a:solidFill>
                <a:latin typeface="Corbel"/>
              </a:rPr>
              <a:t>Git</a:t>
            </a:r>
            <a:endParaRPr lang="de-DE" sz="1600" b="1" dirty="0">
              <a:solidFill>
                <a:schemeClr val="accent1">
                  <a:lumMod val="76000"/>
                </a:schemeClr>
              </a:solidFill>
              <a:latin typeface="Corbel"/>
            </a:endParaRPr>
          </a:p>
          <a:p>
            <a:pPr marL="285750" indent="-285750">
              <a:buFont typeface="Arial"/>
              <a:buChar char="•"/>
            </a:pPr>
            <a:r>
              <a:rPr lang="de-DE" sz="1600" b="1" dirty="0" err="1">
                <a:solidFill>
                  <a:schemeClr val="accent1">
                    <a:lumMod val="76000"/>
                  </a:schemeClr>
                </a:solidFill>
                <a:latin typeface="Corbel"/>
              </a:rPr>
              <a:t>Git</a:t>
            </a:r>
            <a:r>
              <a:rPr lang="de-DE" sz="1600" b="1" dirty="0">
                <a:solidFill>
                  <a:schemeClr val="accent1">
                    <a:lumMod val="76000"/>
                  </a:schemeClr>
                </a:solidFill>
                <a:latin typeface="Corbel"/>
              </a:rPr>
              <a:t>-Arbeit wurde auf eine Person geschoben</a:t>
            </a:r>
          </a:p>
          <a:p>
            <a:pPr marL="285750" indent="-285750">
              <a:buFont typeface="Arial"/>
              <a:buChar char="•"/>
            </a:pPr>
            <a:r>
              <a:rPr lang="de-DE" sz="1600" b="1" dirty="0">
                <a:solidFill>
                  <a:schemeClr val="accent1">
                    <a:lumMod val="76000"/>
                  </a:schemeClr>
                </a:solidFill>
                <a:latin typeface="Corbel"/>
              </a:rPr>
              <a:t>Wissen konzentriert sich – diese Person wird zum Flaschenhals</a:t>
            </a:r>
          </a:p>
        </p:txBody>
      </p:sp>
      <p:cxnSp>
        <p:nvCxnSpPr>
          <p:cNvPr id="17" name="Gerade Verbindung mit Pfeil 16">
            <a:extLst>
              <a:ext uri="{FF2B5EF4-FFF2-40B4-BE49-F238E27FC236}">
                <a16:creationId xmlns:a16="http://schemas.microsoft.com/office/drawing/2014/main" id="{72555755-D3A6-8A81-F38A-E31A50CE9BC1}"/>
              </a:ext>
            </a:extLst>
          </p:cNvPr>
          <p:cNvCxnSpPr>
            <a:cxnSpLocks/>
          </p:cNvCxnSpPr>
          <p:nvPr/>
        </p:nvCxnSpPr>
        <p:spPr>
          <a:xfrm>
            <a:off x="5141090" y="3403920"/>
            <a:ext cx="1636015" cy="10556"/>
          </a:xfrm>
          <a:prstGeom prst="straightConnector1">
            <a:avLst/>
          </a:prstGeom>
          <a:ln w="571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hteck: abgerundete Ecken 2">
            <a:extLst>
              <a:ext uri="{FF2B5EF4-FFF2-40B4-BE49-F238E27FC236}">
                <a16:creationId xmlns:a16="http://schemas.microsoft.com/office/drawing/2014/main" id="{B5E8E5CE-83BA-04A9-4D4B-88B654E7800A}"/>
              </a:ext>
            </a:extLst>
          </p:cNvPr>
          <p:cNvSpPr/>
          <p:nvPr/>
        </p:nvSpPr>
        <p:spPr>
          <a:xfrm>
            <a:off x="962579" y="1525261"/>
            <a:ext cx="3674301" cy="56198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de-DE" sz="2000" b="1" err="1">
                <a:solidFill>
                  <a:schemeClr val="accent1">
                    <a:lumMod val="76000"/>
                  </a:schemeClr>
                </a:solidFill>
              </a:rPr>
              <a:t>Git</a:t>
            </a:r>
            <a:r>
              <a:rPr lang="de-DE" sz="2000" b="1">
                <a:solidFill>
                  <a:schemeClr val="accent1">
                    <a:lumMod val="76000"/>
                  </a:schemeClr>
                </a:solidFill>
              </a:rPr>
              <a:t> - Workflow</a:t>
            </a:r>
          </a:p>
        </p:txBody>
      </p:sp>
      <p:sp>
        <p:nvSpPr>
          <p:cNvPr id="7" name="Rechteck: abgerundete Ecken 6">
            <a:extLst>
              <a:ext uri="{FF2B5EF4-FFF2-40B4-BE49-F238E27FC236}">
                <a16:creationId xmlns:a16="http://schemas.microsoft.com/office/drawing/2014/main" id="{CF1B5B76-8C24-77AE-4342-D13321E7CAD1}"/>
              </a:ext>
            </a:extLst>
          </p:cNvPr>
          <p:cNvSpPr/>
          <p:nvPr/>
        </p:nvSpPr>
        <p:spPr>
          <a:xfrm>
            <a:off x="6885231" y="1309571"/>
            <a:ext cx="4471470" cy="4629236"/>
          </a:xfrm>
          <a:prstGeom prst="roundRect">
            <a:avLst/>
          </a:prstGeom>
          <a:solidFill>
            <a:srgbClr val="FEFFE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285750" indent="-285750">
              <a:buFont typeface="Arial"/>
              <a:buChar char="•"/>
            </a:pPr>
            <a:r>
              <a:rPr lang="de-DE" sz="1600" b="1">
                <a:solidFill>
                  <a:schemeClr val="accent1">
                    <a:lumMod val="76000"/>
                  </a:schemeClr>
                </a:solidFill>
              </a:rPr>
              <a:t>ein Prozess wirkt erst, wenn ihn alle beherrschen – nicht, wenn er nur dokumentiert ist</a:t>
            </a:r>
          </a:p>
          <a:p>
            <a:pPr marL="285750" indent="-285750">
              <a:buFont typeface="Arial"/>
              <a:buChar char="•"/>
            </a:pPr>
            <a:r>
              <a:rPr lang="de-DE" sz="1600" b="1">
                <a:solidFill>
                  <a:schemeClr val="accent1">
                    <a:lumMod val="76000"/>
                  </a:schemeClr>
                </a:solidFill>
              </a:rPr>
              <a:t>gemeinsame Werkzeuge zu Projektbeginn zusammen einüben</a:t>
            </a:r>
          </a:p>
          <a:p>
            <a:pPr marL="285750" indent="-285750">
              <a:buFont typeface="Arial"/>
              <a:buChar char="•"/>
            </a:pPr>
            <a:r>
              <a:rPr lang="de-DE" sz="1600" b="1">
                <a:solidFill>
                  <a:schemeClr val="accent1">
                    <a:lumMod val="76000"/>
                  </a:schemeClr>
                </a:solidFill>
              </a:rPr>
              <a:t>Wissen aktiv verteilen, statt Aufgaben umzuverteilen</a:t>
            </a:r>
          </a:p>
          <a:p>
            <a:pPr marL="285750" indent="-285750">
              <a:buFont typeface="Arial"/>
              <a:buChar char="•"/>
            </a:pPr>
            <a:r>
              <a:rPr lang="de-DE" sz="1600" b="1">
                <a:solidFill>
                  <a:schemeClr val="accent1">
                    <a:lumMod val="76000"/>
                  </a:schemeClr>
                </a:solidFill>
              </a:rPr>
              <a:t>dann trägt Git, was es soll: Nachvollziehbarkeit und paralleles Arbeiten</a:t>
            </a:r>
          </a:p>
        </p:txBody>
      </p:sp>
      <p:sp>
        <p:nvSpPr>
          <p:cNvPr id="10" name="Rechteck: abgerundete Ecken 9">
            <a:extLst>
              <a:ext uri="{FF2B5EF4-FFF2-40B4-BE49-F238E27FC236}">
                <a16:creationId xmlns:a16="http://schemas.microsoft.com/office/drawing/2014/main" id="{84811BDB-A028-32E8-89E5-C22641197562}"/>
              </a:ext>
            </a:extLst>
          </p:cNvPr>
          <p:cNvSpPr/>
          <p:nvPr/>
        </p:nvSpPr>
        <p:spPr>
          <a:xfrm>
            <a:off x="7280153" y="1546878"/>
            <a:ext cx="3674301" cy="561981"/>
          </a:xfrm>
          <a:prstGeom prst="roundRect">
            <a:avLst/>
          </a:prstGeom>
          <a:solidFill>
            <a:srgbClr val="FAF7A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de-DE" sz="2000" b="1">
                <a:solidFill>
                  <a:schemeClr val="accent1">
                    <a:lumMod val="76000"/>
                  </a:schemeClr>
                </a:solidFill>
              </a:rPr>
              <a:t>Lesson</a:t>
            </a:r>
          </a:p>
        </p:txBody>
      </p:sp>
    </p:spTree>
    <p:extLst>
      <p:ext uri="{BB962C8B-B14F-4D97-AF65-F5344CB8AC3E}">
        <p14:creationId xmlns:p14="http://schemas.microsoft.com/office/powerpoint/2010/main" val="361360340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05CADF0-8C3D-171F-9951-9CDE48F117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0971" y="362577"/>
            <a:ext cx="9837691" cy="702446"/>
          </a:xfrm>
        </p:spPr>
        <p:txBody>
          <a:bodyPr>
            <a:normAutofit/>
          </a:bodyPr>
          <a:lstStyle/>
          <a:p>
            <a:pPr algn="ctr"/>
            <a:r>
              <a:rPr lang="de-DE" sz="3200" b="1"/>
              <a:t>Rückblick - Hürden in der Entwicklung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B8A8D94-E395-983E-C97A-7DDF262727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246A7E-E9E6-492D-A04A-BD25B487DCB9}" type="datetime1">
              <a:rPr lang="de-DE" smtClean="0"/>
              <a:t>15.07.2026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9DA211E-649D-17EA-0B5E-EAEA651828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Bekir, Avid, Alex, Darian, Lara P., Sheila</a:t>
            </a:r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341324F-D88E-67A1-BE96-E0BEC77671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7EE8E-3513-4D7C-BF7B-7494C67953C0}" type="slidenum">
              <a:rPr lang="de-DE" smtClean="0"/>
              <a:t>52</a:t>
            </a:fld>
            <a:endParaRPr lang="de-DE"/>
          </a:p>
        </p:txBody>
      </p:sp>
      <p:sp>
        <p:nvSpPr>
          <p:cNvPr id="7" name="Rechteck: abgerundete Ecken 6">
            <a:extLst>
              <a:ext uri="{FF2B5EF4-FFF2-40B4-BE49-F238E27FC236}">
                <a16:creationId xmlns:a16="http://schemas.microsoft.com/office/drawing/2014/main" id="{EC02D249-177A-34E0-865B-17B343DA8357}"/>
              </a:ext>
            </a:extLst>
          </p:cNvPr>
          <p:cNvSpPr/>
          <p:nvPr/>
        </p:nvSpPr>
        <p:spPr>
          <a:xfrm>
            <a:off x="7879613" y="1309571"/>
            <a:ext cx="3477088" cy="4629236"/>
          </a:xfrm>
          <a:prstGeom prst="roundRect">
            <a:avLst/>
          </a:prstGeom>
          <a:solidFill>
            <a:srgbClr val="FFE8E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285750" indent="-285750">
              <a:buFont typeface="Arial"/>
              <a:buChar char="•"/>
            </a:pPr>
            <a:r>
              <a:rPr lang="de-DE" sz="1600" b="1">
                <a:solidFill>
                  <a:schemeClr val="accent1">
                    <a:lumMod val="76000"/>
                  </a:schemeClr>
                </a:solidFill>
                <a:latin typeface="Corbel"/>
              </a:rPr>
              <a:t>verteilte Architektur kostet zusätzlich: Konfiguration, Kommunikation, Fehlersuche über Servicegrenzen</a:t>
            </a:r>
          </a:p>
          <a:p>
            <a:pPr marL="285750" indent="-285750">
              <a:buFont typeface="Arial"/>
              <a:buChar char="•"/>
            </a:pPr>
            <a:r>
              <a:rPr lang="de-DE" sz="1600" b="1">
                <a:solidFill>
                  <a:schemeClr val="accent1">
                    <a:lumMod val="76000"/>
                  </a:schemeClr>
                </a:solidFill>
                <a:latin typeface="Corbel"/>
              </a:rPr>
              <a:t>der Aufwand lag oft nicht in der Fachlogik</a:t>
            </a:r>
          </a:p>
          <a:p>
            <a:pPr marL="285750" indent="-285750">
              <a:buFont typeface="Arial"/>
              <a:buChar char="•"/>
            </a:pPr>
            <a:endParaRPr lang="de-DE" sz="1600" b="1">
              <a:solidFill>
                <a:schemeClr val="accent1">
                  <a:lumMod val="76000"/>
                </a:schemeClr>
              </a:solidFill>
              <a:latin typeface="Corbel"/>
            </a:endParaRPr>
          </a:p>
          <a:p>
            <a:pPr marL="285750" indent="-285750">
              <a:buFont typeface="Arial"/>
              <a:buChar char="•"/>
            </a:pPr>
            <a:r>
              <a:rPr lang="de-DE" sz="1600" b="1">
                <a:solidFill>
                  <a:schemeClr val="accent1">
                    <a:lumMod val="76000"/>
                  </a:schemeClr>
                </a:solidFill>
                <a:latin typeface="Corbel"/>
              </a:rPr>
              <a:t>→ Architektur ist eine Abwägung: Komplexität verschwindet nicht, sie verlagert sich</a:t>
            </a:r>
          </a:p>
        </p:txBody>
      </p:sp>
      <p:sp>
        <p:nvSpPr>
          <p:cNvPr id="10" name="Rechteck: abgerundete Ecken 9">
            <a:extLst>
              <a:ext uri="{FF2B5EF4-FFF2-40B4-BE49-F238E27FC236}">
                <a16:creationId xmlns:a16="http://schemas.microsoft.com/office/drawing/2014/main" id="{1E9F531C-6C21-3802-BF02-A7301EC242EB}"/>
              </a:ext>
            </a:extLst>
          </p:cNvPr>
          <p:cNvSpPr/>
          <p:nvPr/>
        </p:nvSpPr>
        <p:spPr>
          <a:xfrm>
            <a:off x="8101599" y="1546878"/>
            <a:ext cx="2852855" cy="56198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de-DE" sz="2000" b="1">
                <a:solidFill>
                  <a:schemeClr val="accent1">
                    <a:lumMod val="76000"/>
                  </a:schemeClr>
                </a:solidFill>
              </a:rPr>
              <a:t>Komplexität</a:t>
            </a:r>
          </a:p>
        </p:txBody>
      </p:sp>
      <p:sp>
        <p:nvSpPr>
          <p:cNvPr id="8" name="Rechteck: abgerundete Ecken 7">
            <a:extLst>
              <a:ext uri="{FF2B5EF4-FFF2-40B4-BE49-F238E27FC236}">
                <a16:creationId xmlns:a16="http://schemas.microsoft.com/office/drawing/2014/main" id="{EA45D3BB-4EFD-4ED3-ED46-69420226F982}"/>
              </a:ext>
            </a:extLst>
          </p:cNvPr>
          <p:cNvSpPr/>
          <p:nvPr/>
        </p:nvSpPr>
        <p:spPr>
          <a:xfrm>
            <a:off x="4404677" y="1320379"/>
            <a:ext cx="3477088" cy="4629236"/>
          </a:xfrm>
          <a:prstGeom prst="roundRect">
            <a:avLst/>
          </a:prstGeom>
          <a:solidFill>
            <a:srgbClr val="FFE8E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285750" indent="-285750">
              <a:buFont typeface="Arial"/>
              <a:buChar char="•"/>
            </a:pPr>
            <a:r>
              <a:rPr lang="de-DE" sz="1600" b="1">
                <a:solidFill>
                  <a:schemeClr val="accent1">
                    <a:lumMod val="76000"/>
                  </a:schemeClr>
                </a:solidFill>
                <a:latin typeface="Corbel"/>
              </a:rPr>
              <a:t>einzeln lief jeder Service – die eigentlichen Fehler kamen beim Zusammenstecken</a:t>
            </a:r>
          </a:p>
          <a:p>
            <a:pPr marL="285750" indent="-285750">
              <a:buFont typeface="Arial"/>
              <a:buChar char="•"/>
            </a:pPr>
            <a:r>
              <a:rPr lang="de-DE" sz="1600" b="1">
                <a:solidFill>
                  <a:schemeClr val="accent1">
                    <a:lumMod val="76000"/>
                  </a:schemeClr>
                </a:solidFill>
                <a:latin typeface="Corbel"/>
              </a:rPr>
              <a:t>Probleme entstehen zwischen den Bausteinen, nicht in ihnen</a:t>
            </a:r>
          </a:p>
          <a:p>
            <a:pPr marL="285750" indent="-285750">
              <a:buFont typeface="Arial"/>
              <a:buChar char="•"/>
            </a:pPr>
            <a:endParaRPr lang="de-DE" sz="1600" b="1">
              <a:solidFill>
                <a:schemeClr val="accent1">
                  <a:lumMod val="76000"/>
                </a:schemeClr>
              </a:solidFill>
              <a:latin typeface="Corbel"/>
            </a:endParaRPr>
          </a:p>
          <a:p>
            <a:pPr marL="285750" indent="-285750">
              <a:buFont typeface="Arial"/>
              <a:buChar char="•"/>
            </a:pPr>
            <a:r>
              <a:rPr lang="de-DE" sz="1600" b="1">
                <a:solidFill>
                  <a:schemeClr val="accent1">
                    <a:lumMod val="76000"/>
                  </a:schemeClr>
                </a:solidFill>
                <a:latin typeface="Corbel"/>
              </a:rPr>
              <a:t>→ früh und regelmäßig integrieren statt „Big Bang“ am Ende</a:t>
            </a:r>
          </a:p>
        </p:txBody>
      </p:sp>
      <p:sp>
        <p:nvSpPr>
          <p:cNvPr id="9" name="Rechteck: abgerundete Ecken 8">
            <a:extLst>
              <a:ext uri="{FF2B5EF4-FFF2-40B4-BE49-F238E27FC236}">
                <a16:creationId xmlns:a16="http://schemas.microsoft.com/office/drawing/2014/main" id="{F99475C8-3645-CFAA-A1B9-58B0232DE40C}"/>
              </a:ext>
            </a:extLst>
          </p:cNvPr>
          <p:cNvSpPr/>
          <p:nvPr/>
        </p:nvSpPr>
        <p:spPr>
          <a:xfrm>
            <a:off x="4626663" y="1557686"/>
            <a:ext cx="2852855" cy="56198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de-DE" sz="2000" b="1">
                <a:solidFill>
                  <a:schemeClr val="accent1">
                    <a:lumMod val="76000"/>
                  </a:schemeClr>
                </a:solidFill>
              </a:rPr>
              <a:t>Integration</a:t>
            </a:r>
          </a:p>
        </p:txBody>
      </p:sp>
      <p:sp>
        <p:nvSpPr>
          <p:cNvPr id="11" name="Rechteck: abgerundete Ecken 10">
            <a:extLst>
              <a:ext uri="{FF2B5EF4-FFF2-40B4-BE49-F238E27FC236}">
                <a16:creationId xmlns:a16="http://schemas.microsoft.com/office/drawing/2014/main" id="{FEC93CA1-637C-46D3-A5F3-427BF640E7F1}"/>
              </a:ext>
            </a:extLst>
          </p:cNvPr>
          <p:cNvSpPr/>
          <p:nvPr/>
        </p:nvSpPr>
        <p:spPr>
          <a:xfrm>
            <a:off x="924335" y="1331186"/>
            <a:ext cx="3477088" cy="4629236"/>
          </a:xfrm>
          <a:prstGeom prst="roundRect">
            <a:avLst/>
          </a:prstGeom>
          <a:solidFill>
            <a:srgbClr val="FFE8E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285750" indent="-285750">
              <a:buFont typeface="Arial"/>
              <a:buChar char="•"/>
            </a:pPr>
            <a:r>
              <a:rPr lang="de-DE" sz="1600" b="1" dirty="0">
                <a:solidFill>
                  <a:schemeClr val="accent1">
                    <a:lumMod val="76000"/>
                  </a:schemeClr>
                </a:solidFill>
                <a:latin typeface="Corbel"/>
              </a:rPr>
              <a:t>5 Services, mehrere Entwickler – jede Änderung an einer Schnittstelle trifft die anderen</a:t>
            </a:r>
          </a:p>
          <a:p>
            <a:pPr marL="285750" indent="-285750">
              <a:buFont typeface="Arial"/>
              <a:buChar char="•"/>
            </a:pPr>
            <a:r>
              <a:rPr lang="de-DE" sz="1600" b="1" dirty="0">
                <a:solidFill>
                  <a:schemeClr val="accent1">
                    <a:lumMod val="76000"/>
                  </a:schemeClr>
                </a:solidFill>
                <a:latin typeface="Corbel"/>
              </a:rPr>
              <a:t>Warten aufeinander, solange ein Vertrag nicht steht</a:t>
            </a:r>
          </a:p>
          <a:p>
            <a:pPr marL="285750" indent="-285750">
              <a:buFont typeface="Arial"/>
              <a:buChar char="•"/>
            </a:pPr>
            <a:endParaRPr lang="de-DE" sz="1600" b="1" dirty="0">
              <a:solidFill>
                <a:schemeClr val="accent1">
                  <a:lumMod val="76000"/>
                </a:schemeClr>
              </a:solidFill>
              <a:latin typeface="Corbel"/>
            </a:endParaRPr>
          </a:p>
          <a:p>
            <a:pPr marL="285750" indent="-285750">
              <a:buFont typeface="Arial"/>
              <a:buChar char="•"/>
            </a:pPr>
            <a:r>
              <a:rPr lang="de-DE" sz="1600" b="1" dirty="0">
                <a:solidFill>
                  <a:schemeClr val="accent1">
                    <a:lumMod val="76000"/>
                  </a:schemeClr>
                </a:solidFill>
                <a:latin typeface="Corbel"/>
              </a:rPr>
              <a:t>→ Schnittstellen sind Verträge: erst festlegen, dann kann jeder unabhängig bauen</a:t>
            </a:r>
          </a:p>
        </p:txBody>
      </p:sp>
      <p:sp>
        <p:nvSpPr>
          <p:cNvPr id="13" name="Rechteck: abgerundete Ecken 12">
            <a:extLst>
              <a:ext uri="{FF2B5EF4-FFF2-40B4-BE49-F238E27FC236}">
                <a16:creationId xmlns:a16="http://schemas.microsoft.com/office/drawing/2014/main" id="{D5B62382-9147-DC06-938B-52C8FF9C9FB7}"/>
              </a:ext>
            </a:extLst>
          </p:cNvPr>
          <p:cNvSpPr/>
          <p:nvPr/>
        </p:nvSpPr>
        <p:spPr>
          <a:xfrm>
            <a:off x="1146321" y="1568494"/>
            <a:ext cx="2852855" cy="56198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de-DE" sz="2000" b="1">
                <a:solidFill>
                  <a:schemeClr val="accent1">
                    <a:lumMod val="76000"/>
                  </a:schemeClr>
                </a:solidFill>
              </a:rPr>
              <a:t>Schnittstellen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asis">
  <a:themeElements>
    <a:clrScheme name="Benutzerdefiniert 1">
      <a:dk1>
        <a:srgbClr val="000000"/>
      </a:dk1>
      <a:lt1>
        <a:srgbClr val="FFFFFF"/>
      </a:lt1>
      <a:dk2>
        <a:srgbClr val="565349"/>
      </a:dk2>
      <a:lt2>
        <a:srgbClr val="DDDDDD"/>
      </a:lt2>
      <a:accent1>
        <a:srgbClr val="355E3B"/>
      </a:accent1>
      <a:accent2>
        <a:srgbClr val="E8985E"/>
      </a:accent2>
      <a:accent3>
        <a:srgbClr val="EEF3E8"/>
      </a:accent3>
      <a:accent4>
        <a:srgbClr val="FDF8F3"/>
      </a:accent4>
      <a:accent5>
        <a:srgbClr val="B4503C"/>
      </a:accent5>
      <a:accent6>
        <a:srgbClr val="818183"/>
      </a:accent6>
      <a:hlink>
        <a:srgbClr val="92D050"/>
      </a:hlink>
      <a:folHlink>
        <a:srgbClr val="B2B2B2"/>
      </a:folHlink>
    </a:clrScheme>
    <a:fontScheme name="Basis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sis">
      <a:fillStyleLst>
        <a:solidFill>
          <a:schemeClr val="phClr"/>
        </a:solidFill>
        <a:solidFill>
          <a:schemeClr val="phClr">
            <a:tint val="55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is" id="{5665723A-49BA-4B57-8411-A56F8F207965}" vid="{90E45F77-AEFC-46EF-A7C1-5B338C297B02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TM03457444[[fn=Basis]]</Template>
  <TotalTime>0</TotalTime>
  <Words>3209</Words>
  <Application>Microsoft Office PowerPoint</Application>
  <PresentationFormat>Breitbild</PresentationFormat>
  <Paragraphs>716</Paragraphs>
  <Slides>52</Slides>
  <Notes>12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9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52</vt:i4>
      </vt:variant>
    </vt:vector>
  </HeadingPairs>
  <TitlesOfParts>
    <vt:vector size="62" baseType="lpstr">
      <vt:lpstr>Aptos</vt:lpstr>
      <vt:lpstr>Arial</vt:lpstr>
      <vt:lpstr>Calibri</vt:lpstr>
      <vt:lpstr>Consolas</vt:lpstr>
      <vt:lpstr>Corbel</vt:lpstr>
      <vt:lpstr>Courier New</vt:lpstr>
      <vt:lpstr>Segoe UI</vt:lpstr>
      <vt:lpstr>-webkit-standard</vt:lpstr>
      <vt:lpstr>Wingdings</vt:lpstr>
      <vt:lpstr>Basis</vt:lpstr>
      <vt:lpstr>Web-Engineering</vt:lpstr>
      <vt:lpstr>Agenda</vt:lpstr>
      <vt:lpstr>WebShop</vt:lpstr>
      <vt:lpstr>Aufgabenstellung - Frontend</vt:lpstr>
      <vt:lpstr>Aufgabenstellung - Services</vt:lpstr>
      <vt:lpstr>Vorgehen</vt:lpstr>
      <vt:lpstr>PowerPoint-Präsentation</vt:lpstr>
      <vt:lpstr>PowerPoint-Präsentation</vt:lpstr>
      <vt:lpstr>PowerPoint-Präsentation</vt:lpstr>
      <vt:lpstr>PowerPoint-Präsentation</vt:lpstr>
      <vt:lpstr>Architektur</vt:lpstr>
      <vt:lpstr>Microservices</vt:lpstr>
      <vt:lpstr>PowerPoint-Präsentation</vt:lpstr>
      <vt:lpstr>Ordner-Struktur</vt:lpstr>
      <vt:lpstr>Auth-Service</vt:lpstr>
      <vt:lpstr>auth-service</vt:lpstr>
      <vt:lpstr>auth-service · Endpoints und Funktionen</vt:lpstr>
      <vt:lpstr>JSON Web Token (JWT)</vt:lpstr>
      <vt:lpstr>auth-service · Sicherheitsüberlegungen</vt:lpstr>
      <vt:lpstr>Autorisierung</vt:lpstr>
      <vt:lpstr>authorization-service</vt:lpstr>
      <vt:lpstr>authorization-service</vt:lpstr>
      <vt:lpstr>Funktionsplan: Login</vt:lpstr>
      <vt:lpstr>Funktionsplan: Interaktion</vt:lpstr>
      <vt:lpstr>Funktionsplan: Logout</vt:lpstr>
      <vt:lpstr>Grundregeln</vt:lpstr>
      <vt:lpstr>Custom Permissions</vt:lpstr>
      <vt:lpstr>User-Management</vt:lpstr>
      <vt:lpstr>PowerPoint-Präsentation</vt:lpstr>
      <vt:lpstr>PowerPoint-Präsentation</vt:lpstr>
      <vt:lpstr>Inventar / Warenkorb</vt:lpstr>
      <vt:lpstr>Systemarchitektur – Inventar/Warenkorb</vt:lpstr>
      <vt:lpstr>PowerPoint-Präsentation</vt:lpstr>
      <vt:lpstr>PowerPoint-Präsentation</vt:lpstr>
      <vt:lpstr>Wishlist</vt:lpstr>
      <vt:lpstr>Systemarchitektur – Wishlist</vt:lpstr>
      <vt:lpstr>PowerPoint-Präsentation</vt:lpstr>
      <vt:lpstr>Datenbank</vt:lpstr>
      <vt:lpstr>Eine Datenbank - fünf Services</vt:lpstr>
      <vt:lpstr>PowerPoint-Präsentation</vt:lpstr>
      <vt:lpstr>Zugehörigkeiten der Tabellen</vt:lpstr>
      <vt:lpstr>Datenintegrität durch Constraints</vt:lpstr>
      <vt:lpstr>Datenlebenszyklen Was passiert mit den Daten, wenn ein User gelöscht wird?</vt:lpstr>
      <vt:lpstr>Docker</vt:lpstr>
      <vt:lpstr>Warum Docker?</vt:lpstr>
      <vt:lpstr>Unsere Container-Landschaft</vt:lpstr>
      <vt:lpstr>Dockerfile – Entstehung eines Images</vt:lpstr>
      <vt:lpstr>Live-Demo</vt:lpstr>
      <vt:lpstr>Learned lessons</vt:lpstr>
      <vt:lpstr>Rückblick - Was gut lief</vt:lpstr>
      <vt:lpstr>Rückblick - Zusammenarbeit im Team</vt:lpstr>
      <vt:lpstr>Rückblick - Hürden in der Entwicklung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Alexander List</dc:creator>
  <cp:lastModifiedBy>Murat Gede</cp:lastModifiedBy>
  <cp:revision>434</cp:revision>
  <dcterms:created xsi:type="dcterms:W3CDTF">2026-06-27T18:08:22Z</dcterms:created>
  <dcterms:modified xsi:type="dcterms:W3CDTF">2026-07-15T16:09:26Z</dcterms:modified>
</cp:coreProperties>
</file>